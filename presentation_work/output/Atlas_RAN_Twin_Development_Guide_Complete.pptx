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13883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Audience assumption: new contributors. Delivery assumption: an English, self-paced technical reference with a worked extension example. Source inspection and local validation support the guide.
Source snapshot: 2 October 2026. Repository: /Users/parkjangwon/Project/UI_UX_Mockup_Typescript. Base commit 46c34d9 with uncommitted and untracked development changes. Source files and cited spans describe the working tree rather than a released version.
Source: README.md:1-15
Source: AGENTS.md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Repository design-review capture, retained without presenting it as a fresh runtime screenshot. It shows the project planning UI and geographic context. The optional local solver produces uncalibrated path results. Connected RAN execution, UE execution, calibrated acceptance verdicts and hardware discovery remain outside the implemented scope.
Source snapshot: 2 October 2026. Repository: /Users/parkjangwon/Project/UI_UX_Mockup_Typescript. Base commit 46c34d9 with uncommitted and untracked development changes. Source files and cited spans describe the working tree rather than a released version.
Source: README.md:1-15
Source: docs/design-review/planner-commercial/gangnam-3d-desktop.png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snapshot: 2 October 2026. Repository: /Users/parkjangwon/Project/UI_UX_Mockup_Typescript. Base commit 46c34d9 with uncommitted and untracked development changes. Source files and cited spans describe the working tree rather than a released version.
Source: src/app/workflowNavigation.ts
Source: src/app/routeRegistry.ts:1-47
Source: README.md:5-13</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snapshot: 2 October 2026. Repository: /Users/parkjangwon/Project/UI_UX_Mockup_Typescript. Base commit 46c34d9 with uncommitted and untracked development changes. Source files and cited spans describe the working tree rather than a released version.
Source: src/main.tsx
Source: src/app/App.tsx
Source: src/legacy/ActivityPreview.tsx:1-100
Source: src/app/AppController.ts:51-179
Source: serve.py:221-384
Source: storage.py:27-92</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snapshot: 2 October 2026. Repository: /Users/parkjangwon/Project/UI_UX_Mockup_Typescript. Base commit 46c34d9 with uncommitted and untracked development changes. Source files and cited spans describe the working tree rather than a released version.
Source: src/main.tsx
Source: src/app/App.tsx
Source: src/legacy/ActivityPreview.tsx:1-100
Source: src/api/workspaceApi.ts:34-50
Source: scripts/atlas.mjs:22-52
Source: serve.py:341-357
Source: storage.py:181-218</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Versions come from the checked-in package declarations in the inspected working tree. They describe this project, not the latest versions available from vendors. npm run setup uses npm ci with development and optional dependencies.
Source snapshot: 2 October 2026. Repository: /Users/parkjangwon/Project/UI_UX_Mockup_Typescript. Base commit 46c34d9 with uncommitted and untracked development changes. Source files and cited spans describe the working tree rather than a released version.
Source: package.json:1-50
Source: package-lock.json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 observed tools on 2 October 2026: Node v26.10.0, npm 12.1.0, Python 3.14.7, Graft 0.21.1. CI configuration uses Node 24 and Python 3.13. This guide does not claim that the remote CI workflow ran or that Windows execution was independently verified. Graft is a separately installed CLI, not a package.json dependency.
Source snapshot: 2 October 2026. Repository: /Users/parkjangwon/Project/UI_UX_Mockup_Typescript. Base commit 46c34d9 with uncommitted and untracked development changes. Source files and cited spans describe the working tree rather than a released version.
Source: package.json:5-8
Source: scripts/runtime.mjs:15-34
Source: .github/workflows/cross-platform.yml
Source: README.md:17-46</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snapshot: 2 October 2026. Repository: /Users/parkjangwon/Project/UI_UX_Mockup_Typescript. Base commit 46c34d9 with uncommitted and untracked development changes. Source files and cited spans describe the working tree rather than a released version.
Source: package.json:10-25
Source: scripts/atlas.mjs:22-83
Source: README.md:17-72</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snapshot: 2 October 2026. Repository: /Users/parkjangwon/Project/UI_UX_Mockup_Typescript. Base commit 46c34d9 with uncommitted and untracked development changes. Source files and cited spans describe the working tree rather than a released version.
Source: vite.config.ts:1-30
Source: scripts/runtime.mjs:106-114
Source: README.md:41-62
Source: playwright.config.ts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repository AGENTS.md requires graph context before source searches or reads. The installed CLI is @nanonets/graft 0.21.1. Deterministic graft build and the listed structural commands need no LLM API key. An optional deep build uses an external model and is a separate workflow. The graph is local generated context and does not replace code validation or tests.
Source snapshot: 2 October 2026. Repository: /Users/parkjangwon/Project/UI_UX_Mockup_Typescript. Base commit 46c34d9 with uncommitted and untracked development changes. Source files and cited spans describe the working tree rather than a released version.
Source: AGENTS.md
Source: graft/INDEX.md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 were queried in this task. commitDriveImport has outgoing calls to retainMeasurementDataset, dispatch, appendWorkspaceLog and updateWorkspaceProject. Graft ranked ask results are top-N, so they cannot establish exhaustive occurrence coverage. graft grep is exhaustive over indexed files. Open exact returned spans when truncated. Use raw rg only for genuinely unindexed files. Rebuild graph context after substantial code changes and use graft check to check freshness.
Source snapshot: 2 October 2026. Repository: /Users/parkjangwon/Project/UI_UX_Mockup_Typescript. Base commit 46c34d9 with uncommitted and untracked development changes. Source files and cited spans describe the working tree rather than a released version.
Source: AGENTS.md
Source: src/features/drive/driveImportCommands.ts:9-22
Source: src/app/AppController.ts:142-179
Source: storage.py:181-218</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ActivityPreview.tsx lives under legacy/ but coordinates the production React workspace. Its imports and route switch are the active integration surface. Do not infer that it is unused from its directory name. /frontend-preview.html remains a test fixture with a launcher. The root path serves the production React shell.
Source snapshot: 2 October 2026. Repository: /Users/parkjangwon/Project/UI_UX_Mockup_Typescript. Base commit 46c34d9 with uncommitted and untracked development changes. Source files and cited spans describe the working tree rather than a released version.
Source: src/main.tsx
Source: src/app/App.tsx
Source: src/legacy/ActivityPreview.tsx:1-100
Source: src/app/routeRegistry.ts:1-47
Source: src/app/PreviewWorkspaceShell.tsx:15-74
Source: src/app/workflowNavigation.ts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snapshot: 2 October 2026. Repository: /Users/parkjangwon/Project/UI_UX_Mockup_Typescript. Base commit 46c34d9 with uncommitted and untracked development changes. Source files and cited spans describe the working tree rather than a released version.
Source: src/app/AppController.ts:111-179
Source: src/features/city-map/ProjectMapSession.ts:9-49
Source: src/features/drive/DriveSession.ts
Source: storage.py:163-218</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snapshot: 2 October 2026. Repository: /Users/parkjangwon/Project/UI_UX_Mockup_Typescript. Base commit 46c34d9 with uncommitted and untracked development changes. Source files and cited spans describe the working tree rather than a released version.
Source: src/app/AppController.ts:142-179
Source: src/api/workspaceApi.ts:34-50
Source: serve.py:341-357
Source: storage.py:181-218</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Default location: state/atlas-ran-twin.sqlite3, created by ProjectStore. ATLAS_DB_PATH can select another location. Foreign keys enforce cascades. WAL supports the local workload. The startup migration checks task_runs columns before adding retry_of and cancel_requested_at. Measurement libraries and studies live within projects.project_json, not in separate named SQL tables.
Source snapshot: 2 October 2026. Repository: /Users/parkjangwon/Project/UI_UX_Mockup_Typescript. Base commit 46c34d9 with uncommitted and untracked development changes. Source files and cited spans describe the working tree rather than a released version.
Source: storage.py:27-92
Source: storage.py:181-218
Source: serve.py:224</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shell commands only. They do not read or copy the user database while this deck is created. Unix example: ATLAS_DB_PATH=/absolute/path/dev.sqlite3 npm run api. PowerShell: $env:ATLAS_DB_PATH = "C:\Atlas Data\dev.sqlite3" then npm.cmd run api. If using Python to inspect, open sqlite3.connect("file:/absolute/path/dev.sqlite3?mode=ro", uri=True). For a live WAL database, use the SQLite backup API or SQLite CLI .backup rather than copying only the main database file. Verify a restored copy before schema experiments. Schema evolution needs an explicit, tested migration and backward compatibility for retained evidence.
Source snapshot: 2 October 2026. Repository: /Users/parkjangwon/Project/UI_UX_Mockup_Typescript. Base commit 46c34d9 with uncommitted and untracked development changes. Source files and cited spans describe the working tree rather than a released version.
Source: storage.py:27-92
Source: serve.py:224
Source: README.md:91-97</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snapshot: 2 October 2026. Repository: /Users/parkjangwon/Project/UI_UX_Mockup_Typescript. Base commit 46c34d9 with uncommitted and untracked development changes. Source files and cited spans describe the working tree rather than a released version.
Source: serve.py:249-265
Source: serve.py:267-318
Source: serve.py:341-384
Source: src/api/schemas.ts:1-86</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Existing repository design-review capture. Pipeline: column/unit mapping and source declaration, normalized preview, retained measurement snapshot, working selection and shared map views. Source CSV, SHA-256 and mapping evidence stay attached. Browser and Python validation enforce retained evidence and replay consistency. A declared field-measured origin does not independently certify calibration. The library permits at most 20 versions / 2 MB within the project snapshot limit, rejecting exceeded bounds instead of pruning evidence.
Source snapshot: 2 October 2026. Repository: /Users/parkjangwon/Project/UI_UX_Mockup_Typescript. Base commit 46c34d9 with uncommitted and untracked development changes. Source files and cited spans describe the working tree rather than a released version.
Source: src/features/drive/DriveImportReview.tsx:7-100
Source: src/features/drive/driveImportCommands.ts:9-70
Source: measurement-library.mjs:17-87
Source: drive_storage.py:47-152
Source: measurement_storage.py:36-81
Source: docs/design-review/measurement-library/library-desktop.png</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Existing repository design-review capture. Study definitions are versioned. CaptureBaseline retains engineering inputs and a digest, and candidate revisions retain explicit deltas. resolveRunInputs chooses the working network, baseline or a retained candidate revision. JS and Python transition validators preserve prior definitions/baselines/revisions. The isotropic local path model currently rejects unsupported antenna/cell changes in candidate run preparation and enforces changes that the selected-transmitter model can actually represent. SHA-256 describes input identity, not physical truth.
Source snapshot: 2 October 2026. Repository: /Users/parkjangwon/Project/UI_UX_Mockup_Typescript. Base commit 46c34d9 with uncommitted and untracked development changes. Source files and cited spans describe the working tree rather than a released version.
Source: study.mjs:50-142
Source: study.mjs:150-205
Source: study-run.mjs:6-44
Source: study_storage.py:34-141
Source: docs/design-review/ran-study/candidate-desktop.png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Existing repository design-review capture. The server persists queued, running, cancelling, cancelled, complete, failed and interrupted states. Only one worker occupies the active slot. Cancelling retains the slot until worker exit. Startup transitions queued/running/cancelling runs to interrupted. Exact retry applies only to failed/interrupted/cancelled retained path runs with compatible frozen inputs and records retry_of. Terminal evidence remains immutable. Planned delivery tasks are a separate persisted planning object without an executor.
Source snapshot: 2 October 2026. Repository: /Users/parkjangwon/Project/UI_UX_Mockup_Typescript. Base commit 46c34d9 with uncommitted and untracked development changes. Source files and cited spans describe the working tree rather than a released version.
Source: serve.py:51-218
Source: storage.py:256-364
Source: study_run.py:67-142
Source: src/features/artifacts/RunRecoveryActions.tsx
Source: docs/design-review/ran-runs/recovery-desktop.png</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snapshot: 2 October 2026. Repository: /Users/parkjangwon/Project/UI_UX_Mockup_Typescript. Base commit 46c34d9 with uncommitted and untracked development changes. Source files and cited spans describe the working tree rather than a released version.
Source: scripts/atlas.mjs:53-70
Source: scripts/runtime.mjs:35-61
Source: rt-job.mjs:3-32
Source: rt_worker.py:152-224
Source: README.md:103-125</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snapshot: 2 October 2026. Repository: /Users/parkjangwon/Project/UI_UX_Mockup_Typescript. Base commit 46c34d9 with uncommitted and untracked development changes. Source files and cited spans describe the working tree rather than a released version.
Source: src/features/site-planner/sitePlannerCommands.ts:25-75
Source: src/features/drive/driveImportCommands.ts:9-70
Source: study.mjs
Source: study-run.mjs
Source: src/features/artifacts/artifactCommands.ts:6-26
Source: src/features/ray-tracing/RayTracingPreviewLeaf.tsx</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image is a browser-test capture from the preceding KPI enhancement in this conversation. The development example uses the actual shared scale helper. DM_METRICS supplies metric/category/unit/threshold metadata. dmTrendScale provides common bounds, ticks, positions and the final sampled observation. Both React and the template presenter depend on it. CSS removes centered letterboxing and preserves a readable scrollable chart on mobile. Missing-value and filtered-sample gaps remain visible.
Source snapshot: 2 October 2026. Repository: /Users/parkjangwon/Project/UI_UX_Mockup_Typescript. Base commit 46c34d9 with uncommitted and untracked development changes. Source files and cited spans describe the working tree rather than a released version.
Source: dm.mjs:2-8
Source: dm-trend.mjs:2-20
Source: dm-ui.mjs:28-44
Source: src/features/drive/DrivePreviewLeaf.tsx:203-308
Source: dm.css
Source: dm-trend.test.mjs
Source: tests/e2e/drive-kpi-trend.spec.ts
Source: docs/design-review/kpi-trend/rsrp-wide.png</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snapshot: 2 October 2026. Repository: /Users/parkjangwon/Project/UI_UX_Mockup_Typescript. Base commit 46c34d9 with uncommitted and untracked development changes. Source files and cited spans describe the working tree rather than a released version.
Source: src/app/AppController.ts:142-179
Source: src/api/schemas.ts:1-86
Source: model.mjs
Source: workspaces.mjs:209-233
Source: src/api/workspaceApi.ts:34-50
Source: storage.py:95-218</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 snapshot: 2 October 2026. Repository: /Users/parkjangwon/Project/UI_UX_Mockup_Typescript. Base commit 46c34d9 with uncommitted and untracked development changes. Source files and cited spans describe the working tree rather than a released version.
Source: scripts/atlas.mjs:9-19
Source: scripts/atlas.mjs:34-71
Source: vitest.config.ts
Source: playwright.config.ts
Source: .github/workflows/cross-platform.yml</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smallest relevant behavior test first. Then run the full local gate. Browser tests and the real optional RT smoke test are separate from npm run check. Browser testing installs Chromium with npm exec --no -- playwright install chromium. A different PLAYWRIGHT_PORT avoids occupying an existing development port. Shell environment-variable syntax differs between Unix and PowerShell.
Source snapshot: 2 October 2026. Repository: /Users/parkjangwon/Project/UI_UX_Mockup_Typescript. Base commit 46c34d9 with uncommitted and untracked development changes. Source files and cited spans describe the working tree rather than a released version.
Source: package.json:10-25
Source: scripts/atlas.mjs:9-19
Source: playwright.config.ts
Source: tests/e2e/drive-kpi-trend.spec.ts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comes from the fresh make check run while preparing this guide. 124 Node tests and 38 Python tests passed. The gate then stopped at TypeScript with six diagnostics: TS2554 at SiteInspector.tsx(30,103) and TS2339/TS2353 on prop on Omit&lt;RadioField,"siteId"&gt; at lines 42,45,72,73. This is a working-tree snapshot amid concurrent development, not a release status. Component, frontend integration/build and subsequent Make syntax checks were not reached in that run. The full browser suite and real RT smoke test were not invoked as part of this deck task. The prior KPI turn passed its focused two browser tests and a prior full gate, but that older result is not relabeled as current.
Source snapshot: 2 October 2026. Repository: /Users/parkjangwon/Project/UI_UX_Mockup_Typescript. Base commit 46c34d9 with uncommitted and untracked development changes. Source files and cited spans describe the working tree rather than a released version.
Source: Makefile:35-66
Source: src/features/site-planner/SiteInspector.tsx:26-73
Source: src/features/radio/radioCommands.ts
Source: /private/tmp/atlas-development-guide-check.log</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inspected workflow configures Windows and Ubuntu jobs with Node 24 and Python 3.13. It checks out into atlas workspace, including a space in the path, installs development and optional dependencies, runs npm run check, installs Chromium with OS dependencies, then runs browser workflows. No remote CI run was queried. The slide describes configured behavior, not a verified remote pass.
Source snapshot: 2 October 2026. Repository: /Users/parkjangwon/Project/UI_UX_Mockup_Typescript. Base commit 46c34d9 with uncommitted and untracked development changes. Source files and cited spans describe the working tree rather than a released version.
Source: .github/workflows/cross-platform.yml:1-45
Source: scripts/runtime.mjs:15-34
Source: README.md:41-62</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Guidance focuses on concrete failure paths. A stale-revision draft requires comparison and controlled reconciliation rather than forced overwrite. If a Rolldown platform binding is missing, first confirm Node architecture and exact lockfile binding. Reinstall the declared optional dependencies on the target platform, and use only the matching locked package if a targeted repair is needed. Development servers use current source, while the Python server serves the built dist bundle. API errors should be diagnosed before browser backup recovery.
Source snapshot: 2 October 2026. Repository: /Users/parkjangwon/Project/UI_UX_Mockup_Typescript. Base commit 46c34d9 with uncommitted and untracked development changes. Source files and cited spans describe the working tree rather than a released version.
Source: README.md:41-77
Source: scripts/runtime.mjs:15-34
Source: scripts/runtime.mjs:106-114
Source: src/app/AppController.ts:111-179
Source: serve.py:446-490
Source: package.json:10-25</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recommended development areas, not implemented capabilities. A radio-model extension needs accurate antenna/reference-signal semantics, compatible retained request contracts, calibration evidence and tests. A connected observation adapter needs authenticated read access, timestamped collector provenance and explicit freshness handling. Controlled network changes require a separately reviewed adapter, approval and rollback implementation. This deck is a development reference and does not authorize external network actions or source-file transfer.
Source snapshot: 2 October 2026. Repository: /Users/parkjangwon/Project/UI_UX_Mockup_Typescript. Base commit 46c34d9 with uncommitted and untracked development changes. Source files and cited spans describe the working tree rather than a released version.
Source: docs/ran-digital-twin-enhancement-plan.md
Source: docs/ran-enhancement-implementation.md
Source: src/features/mission-control/studyReadiness.ts:12-38
Source: AGENTS.md</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3B31"/>
        </a:solidFill>
        <a:effectLst/>
      </p:bgPr>
    </p:bg>
    <p:spTree>
      <p:nvGrpSpPr>
        <p:cNvPr id="1" name=""/>
        <p:cNvGrpSpPr/>
        <p:nvPr/>
      </p:nvGrpSpPr>
      <p:grpSpPr>
        <a:xfrm>
          <a:off x="0" y="0"/>
          <a:ext cx="0" cy="0"/>
          <a:chOff x="0" y="0"/>
          <a:chExt cx="0" cy="0"/>
        </a:xfrm>
      </p:grpSpPr>
      <p:sp>
        <p:nvSpPr>
          <p:cNvPr id="2" name="Text 0"/>
          <p:cNvSpPr/>
          <p:nvPr/>
        </p:nvSpPr>
        <p:spPr>
          <a:xfrm>
            <a:off x="502920" y="393192"/>
            <a:ext cx="11109960" cy="768096"/>
          </a:xfrm>
          <a:prstGeom prst="rect">
            <a:avLst/>
          </a:prstGeom>
          <a:noFill/>
          <a:ln/>
        </p:spPr>
        <p:txBody>
          <a:bodyPr wrap="square" lIns="0" tIns="0" rIns="0" bIns="0" rtlCol="0" anchor="t"/>
          <a:lstStyle/>
          <a:p>
            <a:pPr marL="0" indent="0">
              <a:buNone/>
            </a:pPr>
            <a:r>
              <a:rPr lang="en-US" sz="3400" b="1" dirty="0">
                <a:solidFill>
                  <a:srgbClr val="FFFFFF"/>
                </a:solidFill>
                <a:latin typeface="Arial" pitchFamily="34" charset="0"/>
                <a:ea typeface="Arial" pitchFamily="34" charset="-122"/>
                <a:cs typeface="Arial" pitchFamily="34" charset="-120"/>
              </a:rPr>
              <a:t>Atlas RAN Twin</a:t>
            </a:r>
            <a:endParaRPr lang="en-US" sz="3400" dirty="0"/>
          </a:p>
        </p:txBody>
      </p:sp>
      <p:sp>
        <p:nvSpPr>
          <p:cNvPr id="3" name="Text 1"/>
          <p:cNvSpPr/>
          <p:nvPr/>
        </p:nvSpPr>
        <p:spPr>
          <a:xfrm>
            <a:off x="11265408" y="6519672"/>
            <a:ext cx="411480" cy="164592"/>
          </a:xfrm>
          <a:prstGeom prst="rect">
            <a:avLst/>
          </a:prstGeom>
          <a:noFill/>
          <a:ln/>
        </p:spPr>
        <p:txBody>
          <a:bodyPr wrap="square" lIns="0" tIns="0" rIns="0" bIns="0" rtlCol="0" anchor="t"/>
          <a:lstStyle/>
          <a:p>
            <a:pPr marL="0" indent="0" algn="r">
              <a:buNone/>
            </a:pPr>
            <a:r>
              <a:rPr lang="en-US" sz="1100" dirty="0">
                <a:solidFill>
                  <a:srgbClr val="64766B"/>
                </a:solidFill>
                <a:latin typeface="Arial" pitchFamily="34" charset="0"/>
                <a:ea typeface="Arial" pitchFamily="34" charset="-122"/>
                <a:cs typeface="Arial" pitchFamily="34" charset="-120"/>
              </a:rPr>
              <a:t>1</a:t>
            </a:r>
            <a:endParaRPr lang="en-US" sz="1100" dirty="0"/>
          </a:p>
        </p:txBody>
      </p:sp>
      <p:sp>
        <p:nvSpPr>
          <p:cNvPr id="4" name="Text 2"/>
          <p:cNvSpPr/>
          <p:nvPr/>
        </p:nvSpPr>
        <p:spPr>
          <a:xfrm>
            <a:off x="521208" y="2148840"/>
            <a:ext cx="9875520" cy="932688"/>
          </a:xfrm>
          <a:prstGeom prst="rect">
            <a:avLst/>
          </a:prstGeom>
          <a:noFill/>
          <a:ln/>
        </p:spPr>
        <p:txBody>
          <a:bodyPr wrap="square" lIns="0" tIns="0" rIns="0" bIns="0" rtlCol="0" anchor="t"/>
          <a:lstStyle/>
          <a:p>
            <a:pPr marL="0" indent="0">
              <a:buNone/>
            </a:pPr>
            <a:r>
              <a:rPr lang="en-US" sz="4800" b="1" dirty="0">
                <a:solidFill>
                  <a:srgbClr val="FFFFFF"/>
                </a:solidFill>
                <a:latin typeface="Arial" pitchFamily="34" charset="0"/>
                <a:ea typeface="Arial" pitchFamily="34" charset="-122"/>
                <a:cs typeface="Arial" pitchFamily="34" charset="-120"/>
              </a:rPr>
              <a:t>Development guide</a:t>
            </a:r>
            <a:endParaRPr lang="en-US" sz="4800" dirty="0"/>
          </a:p>
        </p:txBody>
      </p:sp>
      <p:sp>
        <p:nvSpPr>
          <p:cNvPr id="5" name="Text 3"/>
          <p:cNvSpPr/>
          <p:nvPr/>
        </p:nvSpPr>
        <p:spPr>
          <a:xfrm>
            <a:off x="548640" y="3474720"/>
            <a:ext cx="9966960" cy="969264"/>
          </a:xfrm>
          <a:prstGeom prst="rect">
            <a:avLst/>
          </a:prstGeom>
          <a:noFill/>
          <a:ln/>
        </p:spPr>
        <p:txBody>
          <a:bodyPr wrap="square" lIns="0" tIns="0" rIns="0" bIns="0" rtlCol="0" anchor="t"/>
          <a:lstStyle/>
          <a:p>
            <a:pPr marL="0" indent="0">
              <a:buNone/>
            </a:pPr>
            <a:r>
              <a:rPr lang="en-US" sz="2500" dirty="0">
                <a:solidFill>
                  <a:srgbClr val="C3DACC"/>
                </a:solidFill>
                <a:latin typeface="Arial" pitchFamily="34" charset="0"/>
                <a:ea typeface="Arial" pitchFamily="34" charset="-122"/>
                <a:cs typeface="Arial" pitchFamily="34" charset="-120"/>
              </a:rPr>
              <a:t>Code dependencies, Graft, SQLite and the developer workflow</a:t>
            </a:r>
            <a:endParaRPr lang="en-US" sz="2500" dirty="0"/>
          </a:p>
        </p:txBody>
      </p:sp>
      <p:sp>
        <p:nvSpPr>
          <p:cNvPr id="6" name="Text 4"/>
          <p:cNvSpPr/>
          <p:nvPr/>
        </p:nvSpPr>
        <p:spPr>
          <a:xfrm>
            <a:off x="548640" y="5715000"/>
            <a:ext cx="9144000" cy="548640"/>
          </a:xfrm>
          <a:prstGeom prst="rect">
            <a:avLst/>
          </a:prstGeom>
          <a:noFill/>
          <a:ln/>
        </p:spPr>
        <p:txBody>
          <a:bodyPr wrap="square" lIns="0" tIns="0" rIns="0" bIns="0" rtlCol="0" anchor="t"/>
          <a:lstStyle/>
          <a:p>
            <a:pPr marL="0" indent="0">
              <a:buNone/>
            </a:pPr>
            <a:r>
              <a:rPr lang="en-US" sz="1800" dirty="0">
                <a:solidFill>
                  <a:srgbClr val="C3DACC"/>
                </a:solidFill>
                <a:latin typeface="Arial" pitchFamily="34" charset="0"/>
                <a:ea typeface="Arial" pitchFamily="34" charset="-122"/>
                <a:cs typeface="Arial" pitchFamily="34" charset="-120"/>
              </a:rPr>
              <a:t>Repository working-tree snapshot</a:t>
            </a:r>
            <a:endParaRPr lang="en-US" sz="1800" dirty="0"/>
          </a:p>
          <a:p>
            <a:pPr marL="0" indent="0">
              <a:buNone/>
            </a:pPr>
            <a:r>
              <a:rPr lang="en-US" sz="1800" dirty="0">
                <a:solidFill>
                  <a:srgbClr val="C3DACC"/>
                </a:solidFill>
                <a:latin typeface="Arial" pitchFamily="34" charset="0"/>
                <a:ea typeface="Arial" pitchFamily="34" charset="-122"/>
                <a:cs typeface="Arial" pitchFamily="34" charset="-120"/>
              </a:rPr>
              <a:t>2 October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CFA"/>
        </a:solidFill>
        <a:effectLst/>
      </p:bgPr>
    </p:bg>
    <p:spTree>
      <p:nvGrpSpPr>
        <p:cNvPr id="1" name=""/>
        <p:cNvGrpSpPr/>
        <p:nvPr/>
      </p:nvGrpSpPr>
      <p:grpSpPr>
        <a:xfrm>
          <a:off x="0" y="0"/>
          <a:ext cx="0" cy="0"/>
          <a:chOff x="0" y="0"/>
          <a:chExt cx="0" cy="0"/>
        </a:xfrm>
      </p:grpSpPr>
      <p:sp>
        <p:nvSpPr>
          <p:cNvPr id="2" name="Text 0"/>
          <p:cNvSpPr/>
          <p:nvPr/>
        </p:nvSpPr>
        <p:spPr>
          <a:xfrm>
            <a:off x="502920" y="393192"/>
            <a:ext cx="11109960" cy="768096"/>
          </a:xfrm>
          <a:prstGeom prst="rect">
            <a:avLst/>
          </a:prstGeom>
          <a:noFill/>
          <a:ln/>
        </p:spPr>
        <p:txBody>
          <a:bodyPr wrap="square" lIns="0" tIns="0" rIns="0" bIns="0" rtlCol="0" anchor="t"/>
          <a:lstStyle/>
          <a:p>
            <a:pPr marL="0" indent="0">
              <a:buNone/>
            </a:pPr>
            <a:r>
              <a:rPr lang="en-US" sz="3400" b="1" dirty="0">
                <a:solidFill>
                  <a:srgbClr val="183B31"/>
                </a:solidFill>
                <a:latin typeface="Arial" pitchFamily="34" charset="0"/>
                <a:ea typeface="Arial" pitchFamily="34" charset="-122"/>
                <a:cs typeface="Arial" pitchFamily="34" charset="-120"/>
              </a:rPr>
              <a:t>Project scope</a:t>
            </a:r>
            <a:endParaRPr lang="en-US" sz="3400" dirty="0"/>
          </a:p>
        </p:txBody>
      </p:sp>
      <p:sp>
        <p:nvSpPr>
          <p:cNvPr id="3" name="Text 1"/>
          <p:cNvSpPr/>
          <p:nvPr/>
        </p:nvSpPr>
        <p:spPr>
          <a:xfrm>
            <a:off x="11265408" y="6519672"/>
            <a:ext cx="411480" cy="164592"/>
          </a:xfrm>
          <a:prstGeom prst="rect">
            <a:avLst/>
          </a:prstGeom>
          <a:noFill/>
          <a:ln/>
        </p:spPr>
        <p:txBody>
          <a:bodyPr wrap="square" lIns="0" tIns="0" rIns="0" bIns="0" rtlCol="0" anchor="t"/>
          <a:lstStyle/>
          <a:p>
            <a:pPr marL="0" indent="0" algn="r">
              <a:buNone/>
            </a:pPr>
            <a:r>
              <a:rPr lang="en-US" sz="1100" dirty="0">
                <a:solidFill>
                  <a:srgbClr val="64766B"/>
                </a:solidFill>
                <a:latin typeface="Arial" pitchFamily="34" charset="0"/>
                <a:ea typeface="Arial" pitchFamily="34" charset="-122"/>
                <a:cs typeface="Arial" pitchFamily="34" charset="-120"/>
              </a:rPr>
              <a:t>2</a:t>
            </a:r>
            <a:endParaRPr lang="en-US" sz="1100" dirty="0"/>
          </a:p>
        </p:txBody>
      </p:sp>
      <p:pic>
        <p:nvPicPr>
          <p:cNvPr id="4" name="Image 0" descr="/Users/parkjangwon/Project/UI_UX_Mockup_Typescript/docs/design-review/planner-commercial/gangnam-3d-desktop.png"/>
          <p:cNvPicPr>
            <a:picLocks noChangeAspect="1"/>
          </p:cNvPicPr>
          <p:nvPr/>
        </p:nvPicPr>
        <p:blipFill>
          <a:blip r:embed="rId3"/>
          <a:stretch>
            <a:fillRect/>
          </a:stretch>
        </p:blipFill>
        <p:spPr>
          <a:xfrm>
            <a:off x="1088577" y="1298448"/>
            <a:ext cx="4443103" cy="5074920"/>
          </a:xfrm>
          <a:prstGeom prst="rect">
            <a:avLst/>
          </a:prstGeom>
        </p:spPr>
      </p:pic>
      <p:sp>
        <p:nvSpPr>
          <p:cNvPr id="5" name="Text 2"/>
          <p:cNvSpPr/>
          <p:nvPr/>
        </p:nvSpPr>
        <p:spPr>
          <a:xfrm>
            <a:off x="6473952" y="1490472"/>
            <a:ext cx="5166360" cy="310896"/>
          </a:xfrm>
          <a:prstGeom prst="rect">
            <a:avLst/>
          </a:prstGeom>
          <a:noFill/>
          <a:ln/>
        </p:spPr>
        <p:txBody>
          <a:bodyPr wrap="square" lIns="0" tIns="0" rIns="0" bIns="0" rtlCol="0" anchor="t"/>
          <a:lstStyle/>
          <a:p>
            <a:pPr marL="0" indent="0">
              <a:buNone/>
            </a:pPr>
            <a:r>
              <a:rPr lang="en-US" sz="2200" b="1" dirty="0">
                <a:solidFill>
                  <a:srgbClr val="183B31"/>
                </a:solidFill>
                <a:latin typeface="Arial" pitchFamily="34" charset="0"/>
                <a:ea typeface="Arial" pitchFamily="34" charset="-122"/>
                <a:cs typeface="Arial" pitchFamily="34" charset="-120"/>
              </a:rPr>
              <a:t>Implemented locally</a:t>
            </a:r>
            <a:endParaRPr lang="en-US" sz="2200" dirty="0"/>
          </a:p>
        </p:txBody>
      </p:sp>
      <p:sp>
        <p:nvSpPr>
          <p:cNvPr id="6" name="Text 3"/>
          <p:cNvSpPr/>
          <p:nvPr/>
        </p:nvSpPr>
        <p:spPr>
          <a:xfrm>
            <a:off x="6473952" y="1883664"/>
            <a:ext cx="5166360" cy="1143000"/>
          </a:xfrm>
          <a:prstGeom prst="rect">
            <a:avLst/>
          </a:prstGeom>
          <a:noFill/>
          <a:ln/>
        </p:spPr>
        <p:txBody>
          <a:bodyPr wrap="square" lIns="0" tIns="0" rIns="0" bIns="0" rtlCol="0" anchor="t"/>
          <a:lstStyle/>
          <a:p>
            <a:pPr marL="0" indent="0">
              <a:buNone/>
            </a:pPr>
            <a:r>
              <a:rPr lang="en-US" sz="2100" dirty="0">
                <a:solidFill>
                  <a:srgbClr val="64766B"/>
                </a:solidFill>
                <a:latin typeface="Arial" pitchFamily="34" charset="0"/>
                <a:ea typeface="Arial" pitchFamily="34" charset="-122"/>
                <a:cs typeface="Arial" pitchFamily="34" charset="-120"/>
              </a:rPr>
              <a:t>React workspaces, WGS84 scenes, measurement evidence, SQLite and retained studies.</a:t>
            </a:r>
            <a:endParaRPr lang="en-US" sz="2100" dirty="0"/>
          </a:p>
        </p:txBody>
      </p:sp>
      <p:sp>
        <p:nvSpPr>
          <p:cNvPr id="7" name="Text 4"/>
          <p:cNvSpPr/>
          <p:nvPr/>
        </p:nvSpPr>
        <p:spPr>
          <a:xfrm>
            <a:off x="6473952" y="3044952"/>
            <a:ext cx="5166360" cy="310896"/>
          </a:xfrm>
          <a:prstGeom prst="rect">
            <a:avLst/>
          </a:prstGeom>
          <a:noFill/>
          <a:ln/>
        </p:spPr>
        <p:txBody>
          <a:bodyPr wrap="square" lIns="0" tIns="0" rIns="0" bIns="0" rtlCol="0" anchor="t"/>
          <a:lstStyle/>
          <a:p>
            <a:pPr marL="0" indent="0">
              <a:buNone/>
            </a:pPr>
            <a:r>
              <a:rPr lang="en-US" sz="2200" b="1" dirty="0">
                <a:solidFill>
                  <a:srgbClr val="183B31"/>
                </a:solidFill>
                <a:latin typeface="Arial" pitchFamily="34" charset="0"/>
                <a:ea typeface="Arial" pitchFamily="34" charset="-122"/>
                <a:cs typeface="Arial" pitchFamily="34" charset="-120"/>
              </a:rPr>
              <a:t>Optional execution</a:t>
            </a:r>
            <a:endParaRPr lang="en-US" sz="2200" dirty="0"/>
          </a:p>
        </p:txBody>
      </p:sp>
      <p:sp>
        <p:nvSpPr>
          <p:cNvPr id="8" name="Text 5"/>
          <p:cNvSpPr/>
          <p:nvPr/>
        </p:nvSpPr>
        <p:spPr>
          <a:xfrm>
            <a:off x="6473952" y="3438144"/>
            <a:ext cx="5166360" cy="1143000"/>
          </a:xfrm>
          <a:prstGeom prst="rect">
            <a:avLst/>
          </a:prstGeom>
          <a:noFill/>
          <a:ln/>
        </p:spPr>
        <p:txBody>
          <a:bodyPr wrap="square" lIns="0" tIns="0" rIns="0" bIns="0" rtlCol="0" anchor="t"/>
          <a:lstStyle/>
          <a:p>
            <a:pPr marL="0" indent="0">
              <a:buNone/>
            </a:pPr>
            <a:r>
              <a:rPr lang="en-US" sz="2100" dirty="0">
                <a:solidFill>
                  <a:srgbClr val="64766B"/>
                </a:solidFill>
                <a:latin typeface="Arial" pitchFamily="34" charset="0"/>
                <a:ea typeface="Arial" pitchFamily="34" charset="-122"/>
                <a:cs typeface="Arial" pitchFamily="34" charset="-120"/>
              </a:rPr>
              <a:t>A bounded Sionna-RT path worker runs in a separate Python environment.</a:t>
            </a:r>
            <a:endParaRPr lang="en-US" sz="2100" dirty="0"/>
          </a:p>
        </p:txBody>
      </p:sp>
      <p:sp>
        <p:nvSpPr>
          <p:cNvPr id="9" name="Text 6"/>
          <p:cNvSpPr/>
          <p:nvPr/>
        </p:nvSpPr>
        <p:spPr>
          <a:xfrm>
            <a:off x="6473952" y="4599432"/>
            <a:ext cx="5166360" cy="310896"/>
          </a:xfrm>
          <a:prstGeom prst="rect">
            <a:avLst/>
          </a:prstGeom>
          <a:noFill/>
          <a:ln/>
        </p:spPr>
        <p:txBody>
          <a:bodyPr wrap="square" lIns="0" tIns="0" rIns="0" bIns="0" rtlCol="0" anchor="t"/>
          <a:lstStyle/>
          <a:p>
            <a:pPr marL="0" indent="0">
              <a:buNone/>
            </a:pPr>
            <a:r>
              <a:rPr lang="en-US" sz="2200" b="1" dirty="0">
                <a:solidFill>
                  <a:srgbClr val="183B31"/>
                </a:solidFill>
                <a:latin typeface="Arial" pitchFamily="34" charset="0"/>
                <a:ea typeface="Arial" pitchFamily="34" charset="-122"/>
                <a:cs typeface="Arial" pitchFamily="34" charset="-120"/>
              </a:rPr>
              <a:t>Further integration</a:t>
            </a:r>
            <a:endParaRPr lang="en-US" sz="2200" dirty="0"/>
          </a:p>
        </p:txBody>
      </p:sp>
      <p:sp>
        <p:nvSpPr>
          <p:cNvPr id="10" name="Text 7"/>
          <p:cNvSpPr/>
          <p:nvPr/>
        </p:nvSpPr>
        <p:spPr>
          <a:xfrm>
            <a:off x="6473952" y="4992624"/>
            <a:ext cx="5166360" cy="1143000"/>
          </a:xfrm>
          <a:prstGeom prst="rect">
            <a:avLst/>
          </a:prstGeom>
          <a:noFill/>
          <a:ln/>
        </p:spPr>
        <p:txBody>
          <a:bodyPr wrap="square" lIns="0" tIns="0" rIns="0" bIns="0" rtlCol="0" anchor="t"/>
          <a:lstStyle/>
          <a:p>
            <a:pPr marL="0" indent="0">
              <a:buNone/>
            </a:pPr>
            <a:r>
              <a:rPr lang="en-US" sz="2100" dirty="0">
                <a:solidFill>
                  <a:srgbClr val="64766B"/>
                </a:solidFill>
                <a:latin typeface="Arial" pitchFamily="34" charset="0"/>
                <a:ea typeface="Arial" pitchFamily="34" charset="-122"/>
                <a:cs typeface="Arial" pitchFamily="34" charset="-120"/>
              </a:rPr>
              <a:t>Live RAN adapters, RF calibration and GH200 resource control need additional implementation.</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CFA"/>
        </a:solidFill>
        <a:effectLst/>
      </p:bgPr>
    </p:bg>
    <p:spTree>
      <p:nvGrpSpPr>
        <p:cNvPr id="1" name=""/>
        <p:cNvGrpSpPr/>
        <p:nvPr/>
      </p:nvGrpSpPr>
      <p:grpSpPr>
        <a:xfrm>
          <a:off x="0" y="0"/>
          <a:ext cx="0" cy="0"/>
          <a:chOff x="0" y="0"/>
          <a:chExt cx="0" cy="0"/>
        </a:xfrm>
      </p:grpSpPr>
      <p:sp>
        <p:nvSpPr>
          <p:cNvPr id="2" name="Text 0"/>
          <p:cNvSpPr/>
          <p:nvPr/>
        </p:nvSpPr>
        <p:spPr>
          <a:xfrm>
            <a:off x="502920" y="393192"/>
            <a:ext cx="11109960" cy="768096"/>
          </a:xfrm>
          <a:prstGeom prst="rect">
            <a:avLst/>
          </a:prstGeom>
          <a:noFill/>
          <a:ln/>
        </p:spPr>
        <p:txBody>
          <a:bodyPr wrap="square" lIns="0" tIns="0" rIns="0" bIns="0" rtlCol="0" anchor="t"/>
          <a:lstStyle/>
          <a:p>
            <a:pPr marL="0" indent="0">
              <a:buNone/>
            </a:pPr>
            <a:r>
              <a:rPr lang="en-US" sz="3400" b="1" dirty="0">
                <a:solidFill>
                  <a:srgbClr val="183B31"/>
                </a:solidFill>
                <a:latin typeface="Arial" pitchFamily="34" charset="0"/>
                <a:ea typeface="Arial" pitchFamily="34" charset="-122"/>
                <a:cs typeface="Arial" pitchFamily="34" charset="-120"/>
              </a:rPr>
              <a:t>Engineering workflow</a:t>
            </a:r>
            <a:endParaRPr lang="en-US" sz="3400" dirty="0"/>
          </a:p>
        </p:txBody>
      </p:sp>
      <p:sp>
        <p:nvSpPr>
          <p:cNvPr id="3" name="Text 1"/>
          <p:cNvSpPr/>
          <p:nvPr/>
        </p:nvSpPr>
        <p:spPr>
          <a:xfrm>
            <a:off x="11265408" y="6519672"/>
            <a:ext cx="411480" cy="164592"/>
          </a:xfrm>
          <a:prstGeom prst="rect">
            <a:avLst/>
          </a:prstGeom>
          <a:noFill/>
          <a:ln/>
        </p:spPr>
        <p:txBody>
          <a:bodyPr wrap="square" lIns="0" tIns="0" rIns="0" bIns="0" rtlCol="0" anchor="t"/>
          <a:lstStyle/>
          <a:p>
            <a:pPr marL="0" indent="0" algn="r">
              <a:buNone/>
            </a:pPr>
            <a:r>
              <a:rPr lang="en-US" sz="1100" dirty="0">
                <a:solidFill>
                  <a:srgbClr val="64766B"/>
                </a:solidFill>
                <a:latin typeface="Arial" pitchFamily="34" charset="0"/>
                <a:ea typeface="Arial" pitchFamily="34" charset="-122"/>
                <a:cs typeface="Arial" pitchFamily="34" charset="-120"/>
              </a:rPr>
              <a:t>3</a:t>
            </a:r>
            <a:endParaRPr lang="en-US" sz="1100" dirty="0"/>
          </a:p>
        </p:txBody>
      </p:sp>
      <p:sp>
        <p:nvSpPr>
          <p:cNvPr id="4" name="Text 2"/>
          <p:cNvSpPr/>
          <p:nvPr/>
        </p:nvSpPr>
        <p:spPr>
          <a:xfrm>
            <a:off x="521208" y="1207008"/>
            <a:ext cx="11064240" cy="557784"/>
          </a:xfrm>
          <a:prstGeom prst="rect">
            <a:avLst/>
          </a:prstGeom>
          <a:noFill/>
          <a:ln/>
        </p:spPr>
        <p:txBody>
          <a:bodyPr wrap="square" lIns="0" tIns="0" rIns="0" bIns="0" rtlCol="0" anchor="t"/>
          <a:lstStyle/>
          <a:p>
            <a:pPr marL="0" indent="0">
              <a:buNone/>
            </a:pPr>
            <a:r>
              <a:rPr lang="en-US" sz="1900" dirty="0">
                <a:solidFill>
                  <a:srgbClr val="64766B"/>
                </a:solidFill>
                <a:latin typeface="Arial" pitchFamily="34" charset="0"/>
                <a:ea typeface="Arial" pitchFamily="34" charset="-122"/>
                <a:cs typeface="Arial" pitchFamily="34" charset="-120"/>
              </a:rPr>
              <a:t>The navigation follows the engineering task. Projects provide the shared scope</a:t>
            </a:r>
            <a:endParaRPr lang="en-US" sz="1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21208" y="1856232"/>
          <a:ext cx="11128248" cy="4315968"/>
        </p:xfrm>
        <a:graphic>
          <a:graphicData uri="http://schemas.openxmlformats.org/drawingml/2006/table">
            <a:tbl>
              <a:tblPr/>
              <a:tblGrid>
                <a:gridCol w="283464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4818888">
                  <a:extLst>
                    <a:ext uri="{9D8B030D-6E8A-4147-A177-3AD203B41FA5}">
                      <a16:colId xmlns:a16="http://schemas.microsoft.com/office/drawing/2014/main" val="20002"/>
                    </a:ext>
                  </a:extLst>
                </a:gridCol>
              </a:tblGrid>
              <a:tr h="616567">
                <a:tc>
                  <a:txBody>
                    <a:bodyPr/>
                    <a:lstStyle/>
                    <a:p>
                      <a:pPr marL="0" indent="0">
                        <a:buNone/>
                      </a:pPr>
                      <a:r>
                        <a:rPr lang="en-US" sz="1700" b="1" dirty="0">
                          <a:solidFill>
                            <a:srgbClr val="FFFFFF"/>
                          </a:solidFill>
                          <a:latin typeface="Arial" pitchFamily="34" charset="0"/>
                          <a:ea typeface="Arial" pitchFamily="34" charset="-122"/>
                          <a:cs typeface="Arial" pitchFamily="34" charset="-120"/>
                        </a:rPr>
                        <a:t>Workspace section</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tc>
                  <a:txBody>
                    <a:bodyPr/>
                    <a:lstStyle/>
                    <a:p>
                      <a:pPr marL="0" indent="0">
                        <a:buNone/>
                      </a:pPr>
                      <a:r>
                        <a:rPr lang="en-US" sz="1700" b="1" dirty="0">
                          <a:solidFill>
                            <a:srgbClr val="FFFFFF"/>
                          </a:solidFill>
                          <a:latin typeface="Arial" pitchFamily="34" charset="0"/>
                          <a:ea typeface="Arial" pitchFamily="34" charset="-122"/>
                          <a:cs typeface="Arial" pitchFamily="34" charset="-120"/>
                        </a:rPr>
                        <a:t>Main routes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tc>
                  <a:txBody>
                    <a:bodyPr/>
                    <a:lstStyle/>
                    <a:p>
                      <a:pPr marL="0" indent="0">
                        <a:buNone/>
                      </a:pPr>
                      <a:r>
                        <a:rPr lang="en-US" sz="1700" b="1" dirty="0">
                          <a:solidFill>
                            <a:srgbClr val="FFFFFF"/>
                          </a:solidFill>
                          <a:latin typeface="Arial" pitchFamily="34" charset="0"/>
                          <a:ea typeface="Arial" pitchFamily="34" charset="-122"/>
                          <a:cs typeface="Arial" pitchFamily="34" charset="-120"/>
                        </a:rPr>
                        <a:t>Development concern</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extLst>
                  <a:ext uri="{0D108BD9-81ED-4DB2-BD59-A6C34878D82A}">
                    <a16:rowId xmlns:a16="http://schemas.microsoft.com/office/drawing/2014/main" val="10000"/>
                  </a:ext>
                </a:extLst>
              </a:tr>
              <a:tr h="616567">
                <a:tc>
                  <a:txBody>
                    <a:bodyPr/>
                    <a:lstStyle/>
                    <a:p>
                      <a:pPr marL="0" indent="0">
                        <a:buNone/>
                      </a:pPr>
                      <a:r>
                        <a:rPr lang="en-US" sz="1700" dirty="0">
                          <a:solidFill>
                            <a:srgbClr val="183B31"/>
                          </a:solidFill>
                          <a:latin typeface="Arial" pitchFamily="34" charset="0"/>
                          <a:ea typeface="Arial" pitchFamily="34" charset="-122"/>
                          <a:cs typeface="Arial" pitchFamily="34" charset="-120"/>
                        </a:rPr>
                        <a:t>Overview</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overview</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Context, readiness and source status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16567">
                <a:tc>
                  <a:txBody>
                    <a:bodyPr/>
                    <a:lstStyle/>
                    <a:p>
                      <a:pPr marL="0" indent="0">
                        <a:buNone/>
                      </a:pPr>
                      <a:r>
                        <a:rPr lang="en-US" sz="1700" dirty="0">
                          <a:solidFill>
                            <a:srgbClr val="183B31"/>
                          </a:solidFill>
                          <a:latin typeface="Arial" pitchFamily="34" charset="0"/>
                          <a:ea typeface="Arial" pitchFamily="34" charset="-122"/>
                          <a:cs typeface="Arial" pitchFamily="34" charset="-120"/>
                        </a:rPr>
                        <a:t>Data and Twin Setup</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study, measurements, map</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Definitions, evidence and geometry</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2"/>
                  </a:ext>
                </a:extLst>
              </a:tr>
              <a:tr h="616567">
                <a:tc>
                  <a:txBody>
                    <a:bodyPr/>
                    <a:lstStyle/>
                    <a:p>
                      <a:pPr marL="0" indent="0">
                        <a:buNone/>
                      </a:pPr>
                      <a:r>
                        <a:rPr lang="en-US" sz="1700" dirty="0">
                          <a:solidFill>
                            <a:srgbClr val="183B31"/>
                          </a:solidFill>
                          <a:latin typeface="Arial" pitchFamily="34" charset="0"/>
                          <a:ea typeface="Arial" pitchFamily="34" charset="-122"/>
                          <a:cs typeface="Arial" pitchFamily="34" charset="-120"/>
                        </a:rPr>
                        <a:t>Network Design</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planner, radio, scenarios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Site/cell edits and retained alternatives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16567">
                <a:tc>
                  <a:txBody>
                    <a:bodyPr/>
                    <a:lstStyle/>
                    <a:p>
                      <a:pPr marL="0" indent="0">
                        <a:buNone/>
                      </a:pPr>
                      <a:r>
                        <a:rPr lang="en-US" sz="1700" dirty="0">
                          <a:solidFill>
                            <a:srgbClr val="183B31"/>
                          </a:solidFill>
                          <a:latin typeface="Arial" pitchFamily="34" charset="0"/>
                          <a:ea typeface="Arial" pitchFamily="34" charset="-122"/>
                          <a:cs typeface="Arial" pitchFamily="34" charset="-120"/>
                        </a:rPr>
                        <a:t>Simulation and Experiments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ray, ab, data</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Captured inputs and execution boundaries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4"/>
                  </a:ext>
                </a:extLst>
              </a:tr>
              <a:tr h="616567">
                <a:tc>
                  <a:txBody>
                    <a:bodyPr/>
                    <a:lstStyle/>
                    <a:p>
                      <a:pPr marL="0" indent="0">
                        <a:buNone/>
                      </a:pPr>
                      <a:r>
                        <a:rPr lang="en-US" sz="1700" dirty="0">
                          <a:solidFill>
                            <a:srgbClr val="183B31"/>
                          </a:solidFill>
                          <a:latin typeface="Arial" pitchFamily="34" charset="0"/>
                          <a:ea typeface="Arial" pitchFamily="34" charset="-122"/>
                          <a:cs typeface="Arial" pitchFamily="34" charset="-120"/>
                        </a:rPr>
                        <a:t>Validation and Optimization</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drive</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KPI availability, sample analysis and provenance</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16567">
                <a:tc>
                  <a:txBody>
                    <a:bodyPr/>
                    <a:lstStyle/>
                    <a:p>
                      <a:pPr marL="0" indent="0">
                        <a:buNone/>
                      </a:pPr>
                      <a:r>
                        <a:rPr lang="en-US" sz="1700" dirty="0">
                          <a:solidFill>
                            <a:srgbClr val="183B31"/>
                          </a:solidFill>
                          <a:latin typeface="Arial" pitchFamily="34" charset="0"/>
                          <a:ea typeface="Arial" pitchFamily="34" charset="-122"/>
                          <a:cs typeface="Arial" pitchFamily="34" charset="-120"/>
                        </a:rPr>
                        <a:t>Operations and Reports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runs, artifacts, tasks, schedule</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Run history, exports and planned work</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CFA"/>
        </a:solidFill>
        <a:effectLst/>
      </p:bgPr>
    </p:bg>
    <p:spTree>
      <p:nvGrpSpPr>
        <p:cNvPr id="1" name=""/>
        <p:cNvGrpSpPr/>
        <p:nvPr/>
      </p:nvGrpSpPr>
      <p:grpSpPr>
        <a:xfrm>
          <a:off x="0" y="0"/>
          <a:ext cx="0" cy="0"/>
          <a:chOff x="0" y="0"/>
          <a:chExt cx="0" cy="0"/>
        </a:xfrm>
      </p:grpSpPr>
      <p:sp>
        <p:nvSpPr>
          <p:cNvPr id="2" name="Text 0"/>
          <p:cNvSpPr/>
          <p:nvPr/>
        </p:nvSpPr>
        <p:spPr>
          <a:xfrm>
            <a:off x="502920" y="393192"/>
            <a:ext cx="11109960" cy="768096"/>
          </a:xfrm>
          <a:prstGeom prst="rect">
            <a:avLst/>
          </a:prstGeom>
          <a:noFill/>
          <a:ln/>
        </p:spPr>
        <p:txBody>
          <a:bodyPr wrap="square" lIns="0" tIns="0" rIns="0" bIns="0" rtlCol="0" anchor="t"/>
          <a:lstStyle/>
          <a:p>
            <a:pPr marL="0" indent="0">
              <a:buNone/>
            </a:pPr>
            <a:r>
              <a:rPr lang="en-US" sz="3400" b="1" dirty="0">
                <a:solidFill>
                  <a:srgbClr val="183B31"/>
                </a:solidFill>
                <a:latin typeface="Arial" pitchFamily="34" charset="0"/>
                <a:ea typeface="Arial" pitchFamily="34" charset="-122"/>
                <a:cs typeface="Arial" pitchFamily="34" charset="-120"/>
              </a:rPr>
              <a:t>Code ownership by layer</a:t>
            </a:r>
            <a:endParaRPr lang="en-US" sz="3400" dirty="0"/>
          </a:p>
        </p:txBody>
      </p:sp>
      <p:sp>
        <p:nvSpPr>
          <p:cNvPr id="3" name="Text 1"/>
          <p:cNvSpPr/>
          <p:nvPr/>
        </p:nvSpPr>
        <p:spPr>
          <a:xfrm>
            <a:off x="11265408" y="6519672"/>
            <a:ext cx="411480" cy="164592"/>
          </a:xfrm>
          <a:prstGeom prst="rect">
            <a:avLst/>
          </a:prstGeom>
          <a:noFill/>
          <a:ln/>
        </p:spPr>
        <p:txBody>
          <a:bodyPr wrap="square" lIns="0" tIns="0" rIns="0" bIns="0" rtlCol="0" anchor="t"/>
          <a:lstStyle/>
          <a:p>
            <a:pPr marL="0" indent="0" algn="r">
              <a:buNone/>
            </a:pPr>
            <a:r>
              <a:rPr lang="en-US" sz="1100" dirty="0">
                <a:solidFill>
                  <a:srgbClr val="64766B"/>
                </a:solidFill>
                <a:latin typeface="Arial" pitchFamily="34" charset="0"/>
                <a:ea typeface="Arial" pitchFamily="34" charset="-122"/>
                <a:cs typeface="Arial" pitchFamily="34" charset="-120"/>
              </a:rPr>
              <a:t>4</a:t>
            </a:r>
            <a:endParaRPr lang="en-US" sz="1100" dirty="0"/>
          </a:p>
        </p:txBody>
      </p:sp>
      <p:sp>
        <p:nvSpPr>
          <p:cNvPr id="4" name="Text 2"/>
          <p:cNvSpPr/>
          <p:nvPr/>
        </p:nvSpPr>
        <p:spPr>
          <a:xfrm>
            <a:off x="521208" y="1207008"/>
            <a:ext cx="11064240" cy="557784"/>
          </a:xfrm>
          <a:prstGeom prst="rect">
            <a:avLst/>
          </a:prstGeom>
          <a:noFill/>
          <a:ln/>
        </p:spPr>
        <p:txBody>
          <a:bodyPr wrap="square" lIns="0" tIns="0" rIns="0" bIns="0" rtlCol="0" anchor="t"/>
          <a:lstStyle/>
          <a:p>
            <a:pPr marL="0" indent="0">
              <a:buNone/>
            </a:pPr>
            <a:r>
              <a:rPr lang="en-US" sz="1900" dirty="0">
                <a:solidFill>
                  <a:srgbClr val="64766B"/>
                </a:solidFill>
                <a:latin typeface="Arial" pitchFamily="34" charset="0"/>
                <a:ea typeface="Arial" pitchFamily="34" charset="-122"/>
                <a:cs typeface="Arial" pitchFamily="34" charset="-120"/>
              </a:rPr>
              <a:t>Start in the layer that owns the behavior, then trace its callers with Graft</a:t>
            </a:r>
            <a:endParaRPr lang="en-US" sz="1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21208" y="1856232"/>
          <a:ext cx="11128248" cy="3840480"/>
        </p:xfrm>
        <a:graphic>
          <a:graphicData uri="http://schemas.openxmlformats.org/drawingml/2006/table">
            <a:tbl>
              <a:tblPr/>
              <a:tblGrid>
                <a:gridCol w="1965960">
                  <a:extLst>
                    <a:ext uri="{9D8B030D-6E8A-4147-A177-3AD203B41FA5}">
                      <a16:colId xmlns:a16="http://schemas.microsoft.com/office/drawing/2014/main" val="20000"/>
                    </a:ext>
                  </a:extLst>
                </a:gridCol>
                <a:gridCol w="4617720">
                  <a:extLst>
                    <a:ext uri="{9D8B030D-6E8A-4147-A177-3AD203B41FA5}">
                      <a16:colId xmlns:a16="http://schemas.microsoft.com/office/drawing/2014/main" val="20001"/>
                    </a:ext>
                  </a:extLst>
                </a:gridCol>
                <a:gridCol w="4544568">
                  <a:extLst>
                    <a:ext uri="{9D8B030D-6E8A-4147-A177-3AD203B41FA5}">
                      <a16:colId xmlns:a16="http://schemas.microsoft.com/office/drawing/2014/main" val="20002"/>
                    </a:ext>
                  </a:extLst>
                </a:gridCol>
              </a:tblGrid>
              <a:tr h="640080">
                <a:tc>
                  <a:txBody>
                    <a:bodyPr/>
                    <a:lstStyle/>
                    <a:p>
                      <a:pPr marL="0" indent="0">
                        <a:buNone/>
                      </a:pPr>
                      <a:r>
                        <a:rPr lang="en-US" sz="1700" b="1" dirty="0">
                          <a:solidFill>
                            <a:srgbClr val="FFFFFF"/>
                          </a:solidFill>
                          <a:latin typeface="Arial" pitchFamily="34" charset="0"/>
                          <a:ea typeface="Arial" pitchFamily="34" charset="-122"/>
                          <a:cs typeface="Arial" pitchFamily="34" charset="-120"/>
                        </a:rPr>
                        <a:t>Layer</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tc>
                  <a:txBody>
                    <a:bodyPr/>
                    <a:lstStyle/>
                    <a:p>
                      <a:pPr marL="0" indent="0">
                        <a:buNone/>
                      </a:pPr>
                      <a:r>
                        <a:rPr lang="en-US" sz="1700" b="1" dirty="0">
                          <a:solidFill>
                            <a:srgbClr val="FFFFFF"/>
                          </a:solidFill>
                          <a:latin typeface="Arial" pitchFamily="34" charset="0"/>
                          <a:ea typeface="Arial" pitchFamily="34" charset="-122"/>
                          <a:cs typeface="Arial" pitchFamily="34" charset="-120"/>
                        </a:rPr>
                        <a:t>Starting files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tc>
                  <a:txBody>
                    <a:bodyPr/>
                    <a:lstStyle/>
                    <a:p>
                      <a:pPr marL="0" indent="0">
                        <a:buNone/>
                      </a:pPr>
                      <a:r>
                        <a:rPr lang="en-US" sz="1700" b="1" dirty="0">
                          <a:solidFill>
                            <a:srgbClr val="FFFFFF"/>
                          </a:solidFill>
                          <a:latin typeface="Arial" pitchFamily="34" charset="0"/>
                          <a:ea typeface="Arial" pitchFamily="34" charset="-122"/>
                          <a:cs typeface="Arial" pitchFamily="34" charset="-120"/>
                        </a:rPr>
                        <a:t>Responsibility</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extLst>
                  <a:ext uri="{0D108BD9-81ED-4DB2-BD59-A6C34878D82A}">
                    <a16:rowId xmlns:a16="http://schemas.microsoft.com/office/drawing/2014/main" val="10000"/>
                  </a:ext>
                </a:extLst>
              </a:tr>
              <a:tr h="640080">
                <a:tc>
                  <a:txBody>
                    <a:bodyPr/>
                    <a:lstStyle/>
                    <a:p>
                      <a:pPr marL="0" indent="0">
                        <a:buNone/>
                      </a:pPr>
                      <a:r>
                        <a:rPr lang="en-US" sz="1700" dirty="0">
                          <a:solidFill>
                            <a:srgbClr val="183B31"/>
                          </a:solidFill>
                          <a:latin typeface="Arial" pitchFamily="34" charset="0"/>
                          <a:ea typeface="Arial" pitchFamily="34" charset="-122"/>
                          <a:cs typeface="Arial" pitchFamily="34" charset="-120"/>
                        </a:rPr>
                        <a:t>React shell</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src/main.tsx</a:t>
                      </a:r>
                      <a:endParaRPr lang="en-US" sz="1700" dirty="0">
                        <a:latin typeface="Arial" charset="0"/>
                        <a:ea typeface="Arial" charset="0"/>
                        <a:cs typeface="Arial" charset="0"/>
                      </a:endParaRPr>
                    </a:p>
                    <a:p>
                      <a:pPr marL="0" indent="0">
                        <a:buNone/>
                      </a:pPr>
                      <a:r>
                        <a:rPr lang="en-US" sz="1700" dirty="0">
                          <a:solidFill>
                            <a:srgbClr val="183B31"/>
                          </a:solidFill>
                          <a:latin typeface="Arial" pitchFamily="34" charset="0"/>
                          <a:ea typeface="Arial" pitchFamily="34" charset="-122"/>
                          <a:cs typeface="Arial" pitchFamily="34" charset="-120"/>
                        </a:rPr>
                        <a:t>src/app/ and src/legacy/ActivityPreview.tsx</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Entry, routing, layout and global project context</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buNone/>
                      </a:pPr>
                      <a:r>
                        <a:rPr lang="en-US" sz="1700" dirty="0">
                          <a:solidFill>
                            <a:srgbClr val="183B31"/>
                          </a:solidFill>
                          <a:latin typeface="Arial" pitchFamily="34" charset="0"/>
                          <a:ea typeface="Arial" pitchFamily="34" charset="-122"/>
                          <a:cs typeface="Arial" pitchFamily="34" charset="-120"/>
                        </a:rPr>
                        <a:t>Feature workspaces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src/features/&lt;area&gt;/</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Rendering, local sessions and command adapters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2"/>
                  </a:ext>
                </a:extLst>
              </a:tr>
              <a:tr h="640080">
                <a:tc>
                  <a:txBody>
                    <a:bodyPr/>
                    <a:lstStyle/>
                    <a:p>
                      <a:pPr marL="0" indent="0">
                        <a:buNone/>
                      </a:pPr>
                      <a:r>
                        <a:rPr lang="en-US" sz="1700" dirty="0">
                          <a:solidFill>
                            <a:srgbClr val="183B31"/>
                          </a:solidFill>
                          <a:latin typeface="Arial" pitchFamily="34" charset="0"/>
                          <a:ea typeface="Arial" pitchFamily="34" charset="-122"/>
                          <a:cs typeface="Arial" pitchFamily="34" charset="-120"/>
                        </a:rPr>
                        <a:t>Domain rules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model.mjs, workspaces.mjs</a:t>
                      </a:r>
                      <a:endParaRPr lang="en-US" sz="1700" dirty="0">
                        <a:latin typeface="Arial" charset="0"/>
                        <a:ea typeface="Arial" charset="0"/>
                        <a:cs typeface="Arial" charset="0"/>
                      </a:endParaRPr>
                    </a:p>
                    <a:p>
                      <a:pPr marL="0" indent="0">
                        <a:buNone/>
                      </a:pPr>
                      <a:r>
                        <a:rPr lang="en-US" sz="1700" dirty="0">
                          <a:solidFill>
                            <a:srgbClr val="183B31"/>
                          </a:solidFill>
                          <a:latin typeface="Arial" pitchFamily="34" charset="0"/>
                          <a:ea typeface="Arial" pitchFamily="34" charset="-122"/>
                          <a:cs typeface="Arial" pitchFamily="34" charset="-120"/>
                        </a:rPr>
                        <a:t>dm.mjs, study.mjs, measurement library</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Pure transformations, validation and evidence identity</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0080">
                <a:tc>
                  <a:txBody>
                    <a:bodyPr/>
                    <a:lstStyle/>
                    <a:p>
                      <a:pPr marL="0" indent="0">
                        <a:buNone/>
                      </a:pPr>
                      <a:r>
                        <a:rPr lang="en-US" sz="1700" dirty="0">
                          <a:solidFill>
                            <a:srgbClr val="183B31"/>
                          </a:solidFill>
                          <a:latin typeface="Arial" pitchFamily="34" charset="0"/>
                          <a:ea typeface="Arial" pitchFamily="34" charset="-122"/>
                          <a:cs typeface="Arial" pitchFamily="34" charset="-120"/>
                        </a:rPr>
                        <a:t>Transport</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src/api/</a:t>
                      </a:r>
                      <a:endParaRPr lang="en-US" sz="1700" dirty="0">
                        <a:latin typeface="Arial" charset="0"/>
                        <a:ea typeface="Arial" charset="0"/>
                        <a:cs typeface="Arial" charset="0"/>
                      </a:endParaRPr>
                    </a:p>
                    <a:p>
                      <a:pPr marL="0" indent="0">
                        <a:buNone/>
                      </a:pPr>
                      <a:r>
                        <a:rPr lang="en-US" sz="1700" dirty="0">
                          <a:solidFill>
                            <a:srgbClr val="183B31"/>
                          </a:solidFill>
                          <a:latin typeface="Arial" pitchFamily="34" charset="0"/>
                          <a:ea typeface="Arial" pitchFamily="34" charset="-122"/>
                          <a:cs typeface="Arial" pitchFamily="34" charset="-120"/>
                        </a:rPr>
                        <a:t>serve.py</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JSON contracts, HTTP boundaries and job orchestration</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4"/>
                  </a:ext>
                </a:extLst>
              </a:tr>
              <a:tr h="640080">
                <a:tc>
                  <a:txBody>
                    <a:bodyPr/>
                    <a:lstStyle/>
                    <a:p>
                      <a:pPr marL="0" indent="0">
                        <a:buNone/>
                      </a:pPr>
                      <a:r>
                        <a:rPr lang="en-US" sz="1700" dirty="0">
                          <a:solidFill>
                            <a:srgbClr val="183B31"/>
                          </a:solidFill>
                          <a:latin typeface="Arial" pitchFamily="34" charset="0"/>
                          <a:ea typeface="Arial" pitchFamily="34" charset="-122"/>
                          <a:cs typeface="Arial" pitchFamily="34" charset="-120"/>
                        </a:rPr>
                        <a:t>Persistence and worker</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storage.py, *_storage.py</a:t>
                      </a:r>
                      <a:endParaRPr lang="en-US" sz="1700" dirty="0">
                        <a:latin typeface="Arial" charset="0"/>
                        <a:ea typeface="Arial" charset="0"/>
                        <a:cs typeface="Arial" charset="0"/>
                      </a:endParaRPr>
                    </a:p>
                    <a:p>
                      <a:pPr marL="0" indent="0">
                        <a:buNone/>
                      </a:pPr>
                      <a:r>
                        <a:rPr lang="en-US" sz="1700" dirty="0">
                          <a:solidFill>
                            <a:srgbClr val="183B31"/>
                          </a:solidFill>
                          <a:latin typeface="Arial" pitchFamily="34" charset="0"/>
                          <a:ea typeface="Arial" pitchFamily="34" charset="-122"/>
                          <a:cs typeface="Arial" pitchFamily="34" charset="-120"/>
                        </a:rPr>
                        <a:t>rt_worker.py</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SQLite transactions, retained records and local solving</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CFA"/>
        </a:solidFill>
        <a:effectLst/>
      </p:bgPr>
    </p:bg>
    <p:spTree>
      <p:nvGrpSpPr>
        <p:cNvPr id="1" name=""/>
        <p:cNvGrpSpPr/>
        <p:nvPr/>
      </p:nvGrpSpPr>
      <p:grpSpPr>
        <a:xfrm>
          <a:off x="0" y="0"/>
          <a:ext cx="0" cy="0"/>
          <a:chOff x="0" y="0"/>
          <a:chExt cx="0" cy="0"/>
        </a:xfrm>
      </p:grpSpPr>
      <p:sp>
        <p:nvSpPr>
          <p:cNvPr id="2" name="Text 0"/>
          <p:cNvSpPr/>
          <p:nvPr/>
        </p:nvSpPr>
        <p:spPr>
          <a:xfrm>
            <a:off x="502920" y="393192"/>
            <a:ext cx="11109960" cy="768096"/>
          </a:xfrm>
          <a:prstGeom prst="rect">
            <a:avLst/>
          </a:prstGeom>
          <a:noFill/>
          <a:ln/>
        </p:spPr>
        <p:txBody>
          <a:bodyPr wrap="square" lIns="0" tIns="0" rIns="0" bIns="0" rtlCol="0" anchor="t"/>
          <a:lstStyle/>
          <a:p>
            <a:pPr marL="0" indent="0">
              <a:buNone/>
            </a:pPr>
            <a:r>
              <a:rPr lang="en-US" sz="3400" b="1" dirty="0">
                <a:solidFill>
                  <a:srgbClr val="183B31"/>
                </a:solidFill>
                <a:latin typeface="Arial" pitchFamily="34" charset="0"/>
                <a:ea typeface="Arial" pitchFamily="34" charset="-122"/>
                <a:cs typeface="Arial" pitchFamily="34" charset="-120"/>
              </a:rPr>
              <a:t>Runtime dependency chain</a:t>
            </a:r>
            <a:endParaRPr lang="en-US" sz="3400" dirty="0"/>
          </a:p>
        </p:txBody>
      </p:sp>
      <p:sp>
        <p:nvSpPr>
          <p:cNvPr id="3" name="Text 1"/>
          <p:cNvSpPr/>
          <p:nvPr/>
        </p:nvSpPr>
        <p:spPr>
          <a:xfrm>
            <a:off x="11265408" y="6519672"/>
            <a:ext cx="411480" cy="164592"/>
          </a:xfrm>
          <a:prstGeom prst="rect">
            <a:avLst/>
          </a:prstGeom>
          <a:noFill/>
          <a:ln/>
        </p:spPr>
        <p:txBody>
          <a:bodyPr wrap="square" lIns="0" tIns="0" rIns="0" bIns="0" rtlCol="0" anchor="t"/>
          <a:lstStyle/>
          <a:p>
            <a:pPr marL="0" indent="0" algn="r">
              <a:buNone/>
            </a:pPr>
            <a:r>
              <a:rPr lang="en-US" sz="1100" dirty="0">
                <a:solidFill>
                  <a:srgbClr val="64766B"/>
                </a:solidFill>
                <a:latin typeface="Arial" pitchFamily="34" charset="0"/>
                <a:ea typeface="Arial" pitchFamily="34" charset="-122"/>
                <a:cs typeface="Arial" pitchFamily="34" charset="-120"/>
              </a:rPr>
              <a:t>5</a:t>
            </a:r>
            <a:endParaRPr lang="en-US" sz="1100" dirty="0"/>
          </a:p>
        </p:txBody>
      </p:sp>
      <p:sp>
        <p:nvSpPr>
          <p:cNvPr id="4" name="Text 2"/>
          <p:cNvSpPr/>
          <p:nvPr/>
        </p:nvSpPr>
        <p:spPr>
          <a:xfrm>
            <a:off x="521208" y="1207008"/>
            <a:ext cx="11064240" cy="557784"/>
          </a:xfrm>
          <a:prstGeom prst="rect">
            <a:avLst/>
          </a:prstGeom>
          <a:noFill/>
          <a:ln/>
        </p:spPr>
        <p:txBody>
          <a:bodyPr wrap="square" lIns="0" tIns="0" rIns="0" bIns="0" rtlCol="0" anchor="t"/>
          <a:lstStyle/>
          <a:p>
            <a:pPr marL="0" indent="0">
              <a:buNone/>
            </a:pPr>
            <a:r>
              <a:rPr lang="en-US" sz="1900" dirty="0">
                <a:solidFill>
                  <a:srgbClr val="64766B"/>
                </a:solidFill>
                <a:latin typeface="Arial" pitchFamily="34" charset="0"/>
                <a:ea typeface="Arial" pitchFamily="34" charset="-122"/>
                <a:cs typeface="Arial" pitchFamily="34" charset="-120"/>
              </a:rPr>
              <a:t>A persisted feature change crosses these interfaces in order</a:t>
            </a:r>
            <a:endParaRPr lang="en-US" sz="1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21208" y="1856232"/>
          <a:ext cx="11128248" cy="4315968"/>
        </p:xfrm>
        <a:graphic>
          <a:graphicData uri="http://schemas.openxmlformats.org/drawingml/2006/table">
            <a:tbl>
              <a:tblPr/>
              <a:tblGrid>
                <a:gridCol w="320040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087368">
                  <a:extLst>
                    <a:ext uri="{9D8B030D-6E8A-4147-A177-3AD203B41FA5}">
                      <a16:colId xmlns:a16="http://schemas.microsoft.com/office/drawing/2014/main" val="20002"/>
                    </a:ext>
                  </a:extLst>
                </a:gridCol>
              </a:tblGrid>
              <a:tr h="616567">
                <a:tc>
                  <a:txBody>
                    <a:bodyPr/>
                    <a:lstStyle/>
                    <a:p>
                      <a:pPr marL="0" indent="0">
                        <a:buNone/>
                      </a:pPr>
                      <a:r>
                        <a:rPr lang="en-US" sz="1700" b="1" dirty="0">
                          <a:solidFill>
                            <a:srgbClr val="FFFFFF"/>
                          </a:solidFill>
                          <a:latin typeface="Arial" pitchFamily="34" charset="0"/>
                          <a:ea typeface="Arial" pitchFamily="34" charset="-122"/>
                          <a:cs typeface="Arial" pitchFamily="34" charset="-120"/>
                        </a:rPr>
                        <a:t>Owner</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tc>
                  <a:txBody>
                    <a:bodyPr/>
                    <a:lstStyle/>
                    <a:p>
                      <a:pPr marL="0" indent="0">
                        <a:buNone/>
                      </a:pPr>
                      <a:r>
                        <a:rPr lang="en-US" sz="1700" b="1" dirty="0">
                          <a:solidFill>
                            <a:srgbClr val="FFFFFF"/>
                          </a:solidFill>
                          <a:latin typeface="Arial" pitchFamily="34" charset="0"/>
                          <a:ea typeface="Arial" pitchFamily="34" charset="-122"/>
                          <a:cs typeface="Arial" pitchFamily="34" charset="-120"/>
                        </a:rPr>
                        <a:t>Depends on</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tc>
                  <a:txBody>
                    <a:bodyPr/>
                    <a:lstStyle/>
                    <a:p>
                      <a:pPr marL="0" indent="0">
                        <a:buNone/>
                      </a:pPr>
                      <a:r>
                        <a:rPr lang="en-US" sz="1700" b="1" dirty="0">
                          <a:solidFill>
                            <a:srgbClr val="FFFFFF"/>
                          </a:solidFill>
                          <a:latin typeface="Arial" pitchFamily="34" charset="0"/>
                          <a:ea typeface="Arial" pitchFamily="34" charset="-122"/>
                          <a:cs typeface="Arial" pitchFamily="34" charset="-120"/>
                        </a:rPr>
                        <a:t>Contract at the boundary</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extLst>
                  <a:ext uri="{0D108BD9-81ED-4DB2-BD59-A6C34878D82A}">
                    <a16:rowId xmlns:a16="http://schemas.microsoft.com/office/drawing/2014/main" val="10000"/>
                  </a:ext>
                </a:extLst>
              </a:tr>
              <a:tr h="616567">
                <a:tc>
                  <a:txBody>
                    <a:bodyPr/>
                    <a:lstStyle/>
                    <a:p>
                      <a:pPr marL="0" indent="0">
                        <a:buNone/>
                      </a:pPr>
                      <a:r>
                        <a:rPr lang="en-US" sz="1700" dirty="0">
                          <a:solidFill>
                            <a:srgbClr val="183B31"/>
                          </a:solidFill>
                          <a:latin typeface="Arial" pitchFamily="34" charset="0"/>
                          <a:ea typeface="Arial" pitchFamily="34" charset="-122"/>
                          <a:cs typeface="Arial" pitchFamily="34" charset="-120"/>
                        </a:rPr>
                        <a:t>React feature</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Feature command + local session</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Validated user intent and project ID</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16567">
                <a:tc>
                  <a:txBody>
                    <a:bodyPr/>
                    <a:lstStyle/>
                    <a:p>
                      <a:pPr marL="0" indent="0">
                        <a:buNone/>
                      </a:pPr>
                      <a:r>
                        <a:rPr lang="en-US" sz="1700" dirty="0">
                          <a:solidFill>
                            <a:srgbClr val="183B31"/>
                          </a:solidFill>
                          <a:latin typeface="Arial" pitchFamily="34" charset="0"/>
                          <a:ea typeface="Arial" pitchFamily="34" charset="-122"/>
                          <a:cs typeface="Arial" pitchFamily="34" charset="-120"/>
                        </a:rPr>
                        <a:t>AppController.dispatch</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Domain helpers + workspaceSchema</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Immutable workspace snapshot</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2"/>
                  </a:ext>
                </a:extLst>
              </a:tr>
              <a:tr h="616567">
                <a:tc>
                  <a:txBody>
                    <a:bodyPr/>
                    <a:lstStyle/>
                    <a:p>
                      <a:pPr marL="0" indent="0">
                        <a:buNone/>
                      </a:pPr>
                      <a:r>
                        <a:rPr lang="en-US" sz="1700" dirty="0">
                          <a:solidFill>
                            <a:srgbClr val="183B31"/>
                          </a:solidFill>
                          <a:latin typeface="Arial" pitchFamily="34" charset="0"/>
                          <a:ea typeface="Arial" pitchFamily="34" charset="-122"/>
                          <a:cs typeface="Arial" pitchFamily="34" charset="-120"/>
                        </a:rPr>
                        <a:t>workspaceApi.writeWorkspace</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Artifact index + fetch + schemas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PUT { revision, workspace, artifacts }</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16567">
                <a:tc>
                  <a:txBody>
                    <a:bodyPr/>
                    <a:lstStyle/>
                    <a:p>
                      <a:pPr marL="0" indent="0">
                        <a:buNone/>
                      </a:pPr>
                      <a:r>
                        <a:rPr lang="en-US" sz="1700" dirty="0">
                          <a:solidFill>
                            <a:srgbClr val="183B31"/>
                          </a:solidFill>
                          <a:latin typeface="Arial" pitchFamily="34" charset="0"/>
                          <a:ea typeface="Arial" pitchFamily="34" charset="-122"/>
                          <a:cs typeface="Arial" pitchFamily="34" charset="-120"/>
                        </a:rPr>
                        <a:t>serve.py handler</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ProjectStore</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HTTP 200, 400 or 409 result</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4"/>
                  </a:ext>
                </a:extLst>
              </a:tr>
              <a:tr h="616567">
                <a:tc>
                  <a:txBody>
                    <a:bodyPr/>
                    <a:lstStyle/>
                    <a:p>
                      <a:pPr marL="0" indent="0">
                        <a:buNone/>
                      </a:pPr>
                      <a:r>
                        <a:rPr lang="en-US" sz="1700" dirty="0">
                          <a:solidFill>
                            <a:srgbClr val="183B31"/>
                          </a:solidFill>
                          <a:latin typeface="Arial" pitchFamily="34" charset="0"/>
                          <a:ea typeface="Arial" pitchFamily="34" charset="-122"/>
                          <a:cs typeface="Arial" pitchFamily="34" charset="-120"/>
                        </a:rPr>
                        <a:t>storage.py</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sqlite3 + evidence validators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Atomic revisioned transaction</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16567">
                <a:tc>
                  <a:txBody>
                    <a:bodyPr/>
                    <a:lstStyle/>
                    <a:p>
                      <a:pPr marL="0" indent="0">
                        <a:buNone/>
                      </a:pPr>
                      <a:r>
                        <a:rPr lang="en-US" sz="1700" dirty="0">
                          <a:solidFill>
                            <a:srgbClr val="183B31"/>
                          </a:solidFill>
                          <a:latin typeface="Arial" pitchFamily="34" charset="0"/>
                          <a:ea typeface="Arial" pitchFamily="34" charset="-122"/>
                          <a:cs typeface="Arial" pitchFamily="34" charset="-120"/>
                        </a:rPr>
                        <a:t>Optional path execution</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JobManager + rt_worker.py</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Frozen request and retained run evidence</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CFA"/>
        </a:solidFill>
        <a:effectLst/>
      </p:bgPr>
    </p:bg>
    <p:spTree>
      <p:nvGrpSpPr>
        <p:cNvPr id="1" name=""/>
        <p:cNvGrpSpPr/>
        <p:nvPr/>
      </p:nvGrpSpPr>
      <p:grpSpPr>
        <a:xfrm>
          <a:off x="0" y="0"/>
          <a:ext cx="0" cy="0"/>
          <a:chOff x="0" y="0"/>
          <a:chExt cx="0" cy="0"/>
        </a:xfrm>
      </p:grpSpPr>
      <p:sp>
        <p:nvSpPr>
          <p:cNvPr id="2" name="Text 0"/>
          <p:cNvSpPr/>
          <p:nvPr/>
        </p:nvSpPr>
        <p:spPr>
          <a:xfrm>
            <a:off x="502920" y="393192"/>
            <a:ext cx="11109960" cy="768096"/>
          </a:xfrm>
          <a:prstGeom prst="rect">
            <a:avLst/>
          </a:prstGeom>
          <a:noFill/>
          <a:ln/>
        </p:spPr>
        <p:txBody>
          <a:bodyPr wrap="square" lIns="0" tIns="0" rIns="0" bIns="0" rtlCol="0" anchor="t"/>
          <a:lstStyle/>
          <a:p>
            <a:pPr marL="0" indent="0">
              <a:buNone/>
            </a:pPr>
            <a:r>
              <a:rPr lang="en-US" sz="3400" b="1" dirty="0">
                <a:solidFill>
                  <a:srgbClr val="183B31"/>
                </a:solidFill>
                <a:latin typeface="Arial" pitchFamily="34" charset="0"/>
                <a:ea typeface="Arial" pitchFamily="34" charset="-122"/>
                <a:cs typeface="Arial" pitchFamily="34" charset="-120"/>
              </a:rPr>
              <a:t>Pinned package dependencies</a:t>
            </a:r>
            <a:endParaRPr lang="en-US" sz="3400" dirty="0"/>
          </a:p>
        </p:txBody>
      </p:sp>
      <p:sp>
        <p:nvSpPr>
          <p:cNvPr id="3" name="Text 1"/>
          <p:cNvSpPr/>
          <p:nvPr/>
        </p:nvSpPr>
        <p:spPr>
          <a:xfrm>
            <a:off x="11265408" y="6519672"/>
            <a:ext cx="411480" cy="164592"/>
          </a:xfrm>
          <a:prstGeom prst="rect">
            <a:avLst/>
          </a:prstGeom>
          <a:noFill/>
          <a:ln/>
        </p:spPr>
        <p:txBody>
          <a:bodyPr wrap="square" lIns="0" tIns="0" rIns="0" bIns="0" rtlCol="0" anchor="t"/>
          <a:lstStyle/>
          <a:p>
            <a:pPr marL="0" indent="0" algn="r">
              <a:buNone/>
            </a:pPr>
            <a:r>
              <a:rPr lang="en-US" sz="1100" dirty="0">
                <a:solidFill>
                  <a:srgbClr val="64766B"/>
                </a:solidFill>
                <a:latin typeface="Arial" pitchFamily="34" charset="0"/>
                <a:ea typeface="Arial" pitchFamily="34" charset="-122"/>
                <a:cs typeface="Arial" pitchFamily="34" charset="-120"/>
              </a:rPr>
              <a:t>6</a:t>
            </a:r>
            <a:endParaRPr lang="en-US" sz="1100" dirty="0"/>
          </a:p>
        </p:txBody>
      </p:sp>
      <p:sp>
        <p:nvSpPr>
          <p:cNvPr id="4" name="Text 2"/>
          <p:cNvSpPr/>
          <p:nvPr/>
        </p:nvSpPr>
        <p:spPr>
          <a:xfrm>
            <a:off x="521208" y="1207008"/>
            <a:ext cx="11064240" cy="557784"/>
          </a:xfrm>
          <a:prstGeom prst="rect">
            <a:avLst/>
          </a:prstGeom>
          <a:noFill/>
          <a:ln/>
        </p:spPr>
        <p:txBody>
          <a:bodyPr wrap="square" lIns="0" tIns="0" rIns="0" bIns="0" rtlCol="0" anchor="t"/>
          <a:lstStyle/>
          <a:p>
            <a:pPr marL="0" indent="0">
              <a:buNone/>
            </a:pPr>
            <a:r>
              <a:rPr lang="en-US" sz="1900" dirty="0">
                <a:solidFill>
                  <a:srgbClr val="64766B"/>
                </a:solidFill>
                <a:latin typeface="Arial" pitchFamily="34" charset="0"/>
                <a:ea typeface="Arial" pitchFamily="34" charset="-122"/>
                <a:cs typeface="Arial" pitchFamily="34" charset="-120"/>
              </a:rPr>
              <a:t>The lockfile defines the install. The launcher resolves the project-local tools</a:t>
            </a:r>
            <a:endParaRPr lang="en-US" sz="1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21208" y="1856232"/>
          <a:ext cx="11128248" cy="4315968"/>
        </p:xfrm>
        <a:graphic>
          <a:graphicData uri="http://schemas.openxmlformats.org/drawingml/2006/table">
            <a:tbl>
              <a:tblPr/>
              <a:tblGrid>
                <a:gridCol w="365760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gridCol w="5047488">
                  <a:extLst>
                    <a:ext uri="{9D8B030D-6E8A-4147-A177-3AD203B41FA5}">
                      <a16:colId xmlns:a16="http://schemas.microsoft.com/office/drawing/2014/main" val="20002"/>
                    </a:ext>
                  </a:extLst>
                </a:gridCol>
              </a:tblGrid>
              <a:tr h="539496">
                <a:tc>
                  <a:txBody>
                    <a:bodyPr/>
                    <a:lstStyle/>
                    <a:p>
                      <a:pPr marL="0" indent="0">
                        <a:buNone/>
                      </a:pPr>
                      <a:r>
                        <a:rPr lang="en-US" sz="1700" b="1" dirty="0">
                          <a:solidFill>
                            <a:srgbClr val="FFFFFF"/>
                          </a:solidFill>
                          <a:latin typeface="Arial" pitchFamily="34" charset="0"/>
                          <a:ea typeface="Arial" pitchFamily="34" charset="-122"/>
                          <a:cs typeface="Arial" pitchFamily="34" charset="-120"/>
                        </a:rPr>
                        <a:t>Package</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tc>
                  <a:txBody>
                    <a:bodyPr/>
                    <a:lstStyle/>
                    <a:p>
                      <a:pPr marL="0" indent="0">
                        <a:buNone/>
                      </a:pPr>
                      <a:r>
                        <a:rPr lang="en-US" sz="1700" b="1" dirty="0">
                          <a:solidFill>
                            <a:srgbClr val="FFFFFF"/>
                          </a:solidFill>
                          <a:latin typeface="Arial" pitchFamily="34" charset="0"/>
                          <a:ea typeface="Arial" pitchFamily="34" charset="-122"/>
                          <a:cs typeface="Arial" pitchFamily="34" charset="-120"/>
                        </a:rPr>
                        <a:t>Declared version</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tc>
                  <a:txBody>
                    <a:bodyPr/>
                    <a:lstStyle/>
                    <a:p>
                      <a:pPr marL="0" indent="0">
                        <a:buNone/>
                      </a:pPr>
                      <a:r>
                        <a:rPr lang="en-US" sz="1700" b="1" dirty="0">
                          <a:solidFill>
                            <a:srgbClr val="FFFFFF"/>
                          </a:solidFill>
                          <a:latin typeface="Arial" pitchFamily="34" charset="0"/>
                          <a:ea typeface="Arial" pitchFamily="34" charset="-122"/>
                          <a:cs typeface="Arial" pitchFamily="34" charset="-120"/>
                        </a:rPr>
                        <a:t>Purpose</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extLst>
                  <a:ext uri="{0D108BD9-81ED-4DB2-BD59-A6C34878D82A}">
                    <a16:rowId xmlns:a16="http://schemas.microsoft.com/office/drawing/2014/main" val="10000"/>
                  </a:ext>
                </a:extLst>
              </a:tr>
              <a:tr h="539496">
                <a:tc>
                  <a:txBody>
                    <a:bodyPr/>
                    <a:lstStyle/>
                    <a:p>
                      <a:pPr marL="0" indent="0">
                        <a:buNone/>
                      </a:pPr>
                      <a:r>
                        <a:rPr lang="en-US" sz="1700" dirty="0">
                          <a:solidFill>
                            <a:srgbClr val="183B31"/>
                          </a:solidFill>
                          <a:latin typeface="Arial" pitchFamily="34" charset="0"/>
                          <a:ea typeface="Arial" pitchFamily="34" charset="-122"/>
                          <a:cs typeface="Arial" pitchFamily="34" charset="-120"/>
                        </a:rPr>
                        <a:t>React / React DOM</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19.3.0 / 19.3.0</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Rendering and subscriptions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9496">
                <a:tc>
                  <a:txBody>
                    <a:bodyPr/>
                    <a:lstStyle/>
                    <a:p>
                      <a:pPr marL="0" indent="0">
                        <a:buNone/>
                      </a:pPr>
                      <a:r>
                        <a:rPr lang="en-US" sz="1700" dirty="0">
                          <a:solidFill>
                            <a:srgbClr val="183B31"/>
                          </a:solidFill>
                          <a:latin typeface="Arial" pitchFamily="34" charset="0"/>
                          <a:ea typeface="Arial" pitchFamily="34" charset="-122"/>
                          <a:cs typeface="Arial" pitchFamily="34" charset="-120"/>
                        </a:rPr>
                        <a:t>MapLibre GL</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5.23.0</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Open 2D/3D geographic context</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2"/>
                  </a:ext>
                </a:extLst>
              </a:tr>
              <a:tr h="539496">
                <a:tc>
                  <a:txBody>
                    <a:bodyPr/>
                    <a:lstStyle/>
                    <a:p>
                      <a:pPr marL="0" indent="0">
                        <a:buNone/>
                      </a:pPr>
                      <a:r>
                        <a:rPr lang="en-US" sz="1700" dirty="0">
                          <a:solidFill>
                            <a:srgbClr val="183B31"/>
                          </a:solidFill>
                          <a:latin typeface="Arial" pitchFamily="34" charset="0"/>
                          <a:ea typeface="Arial" pitchFamily="34" charset="-122"/>
                          <a:cs typeface="Arial" pitchFamily="34" charset="-120"/>
                        </a:rPr>
                        <a:t>Zod</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4.6.5</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Runtime transport parsing</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9496">
                <a:tc>
                  <a:txBody>
                    <a:bodyPr/>
                    <a:lstStyle/>
                    <a:p>
                      <a:pPr marL="0" indent="0">
                        <a:buNone/>
                      </a:pPr>
                      <a:r>
                        <a:rPr lang="en-US" sz="1700" dirty="0">
                          <a:solidFill>
                            <a:srgbClr val="183B31"/>
                          </a:solidFill>
                          <a:latin typeface="Arial" pitchFamily="34" charset="0"/>
                          <a:ea typeface="Arial" pitchFamily="34" charset="-122"/>
                          <a:cs typeface="Arial" pitchFamily="34" charset="-120"/>
                        </a:rPr>
                        <a:t>TypeScript</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5.9.3</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Strict frontend type checks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4"/>
                  </a:ext>
                </a:extLst>
              </a:tr>
              <a:tr h="539496">
                <a:tc>
                  <a:txBody>
                    <a:bodyPr/>
                    <a:lstStyle/>
                    <a:p>
                      <a:pPr marL="0" indent="0">
                        <a:buNone/>
                      </a:pPr>
                      <a:r>
                        <a:rPr lang="en-US" sz="1700" dirty="0">
                          <a:solidFill>
                            <a:srgbClr val="183B31"/>
                          </a:solidFill>
                          <a:latin typeface="Arial" pitchFamily="34" charset="0"/>
                          <a:ea typeface="Arial" pitchFamily="34" charset="-122"/>
                          <a:cs typeface="Arial" pitchFamily="34" charset="-120"/>
                        </a:rPr>
                        <a:t>Vite / React plugin</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8.3.1 / 6.1.1</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Development proxy and production build</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9496">
                <a:tc>
                  <a:txBody>
                    <a:bodyPr/>
                    <a:lstStyle/>
                    <a:p>
                      <a:pPr marL="0" indent="0">
                        <a:buNone/>
                      </a:pPr>
                      <a:r>
                        <a:rPr lang="en-US" sz="1700" dirty="0">
                          <a:solidFill>
                            <a:srgbClr val="183B31"/>
                          </a:solidFill>
                          <a:latin typeface="Arial" pitchFamily="34" charset="0"/>
                          <a:ea typeface="Arial" pitchFamily="34" charset="-122"/>
                          <a:cs typeface="Arial" pitchFamily="34" charset="-120"/>
                        </a:rPr>
                        <a:t>Vitest / jsdom</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4.1.11 / 27.2.0</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Component and API tests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6"/>
                  </a:ext>
                </a:extLst>
              </a:tr>
              <a:tr h="539496">
                <a:tc>
                  <a:txBody>
                    <a:bodyPr/>
                    <a:lstStyle/>
                    <a:p>
                      <a:pPr marL="0" indent="0">
                        <a:buNone/>
                      </a:pPr>
                      <a:r>
                        <a:rPr lang="en-US" sz="1700" dirty="0">
                          <a:solidFill>
                            <a:srgbClr val="183B31"/>
                          </a:solidFill>
                          <a:latin typeface="Arial" pitchFamily="34" charset="0"/>
                          <a:ea typeface="Arial" pitchFamily="34" charset="-122"/>
                          <a:cs typeface="Arial" pitchFamily="34" charset="-120"/>
                        </a:rPr>
                        <a:t>Playwright</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1.63.0</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Chromium workflow tests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CFA"/>
        </a:solidFill>
        <a:effectLst/>
      </p:bgPr>
    </p:bg>
    <p:spTree>
      <p:nvGrpSpPr>
        <p:cNvPr id="1" name=""/>
        <p:cNvGrpSpPr/>
        <p:nvPr/>
      </p:nvGrpSpPr>
      <p:grpSpPr>
        <a:xfrm>
          <a:off x="0" y="0"/>
          <a:ext cx="0" cy="0"/>
          <a:chOff x="0" y="0"/>
          <a:chExt cx="0" cy="0"/>
        </a:xfrm>
      </p:grpSpPr>
      <p:sp>
        <p:nvSpPr>
          <p:cNvPr id="2" name="Text 0"/>
          <p:cNvSpPr/>
          <p:nvPr/>
        </p:nvSpPr>
        <p:spPr>
          <a:xfrm>
            <a:off x="502920" y="393192"/>
            <a:ext cx="11109960" cy="768096"/>
          </a:xfrm>
          <a:prstGeom prst="rect">
            <a:avLst/>
          </a:prstGeom>
          <a:noFill/>
          <a:ln/>
        </p:spPr>
        <p:txBody>
          <a:bodyPr wrap="square" lIns="0" tIns="0" rIns="0" bIns="0" rtlCol="0" anchor="t"/>
          <a:lstStyle/>
          <a:p>
            <a:pPr marL="0" indent="0">
              <a:buNone/>
            </a:pPr>
            <a:r>
              <a:rPr lang="en-US" sz="3400" b="1" dirty="0">
                <a:solidFill>
                  <a:srgbClr val="183B31"/>
                </a:solidFill>
                <a:latin typeface="Arial" pitchFamily="34" charset="0"/>
                <a:ea typeface="Arial" pitchFamily="34" charset="-122"/>
                <a:cs typeface="Arial" pitchFamily="34" charset="-120"/>
              </a:rPr>
              <a:t>Development environment</a:t>
            </a:r>
            <a:endParaRPr lang="en-US" sz="3400" dirty="0"/>
          </a:p>
        </p:txBody>
      </p:sp>
      <p:sp>
        <p:nvSpPr>
          <p:cNvPr id="3" name="Text 1"/>
          <p:cNvSpPr/>
          <p:nvPr/>
        </p:nvSpPr>
        <p:spPr>
          <a:xfrm>
            <a:off x="11265408" y="6519672"/>
            <a:ext cx="411480" cy="164592"/>
          </a:xfrm>
          <a:prstGeom prst="rect">
            <a:avLst/>
          </a:prstGeom>
          <a:noFill/>
          <a:ln/>
        </p:spPr>
        <p:txBody>
          <a:bodyPr wrap="square" lIns="0" tIns="0" rIns="0" bIns="0" rtlCol="0" anchor="t"/>
          <a:lstStyle/>
          <a:p>
            <a:pPr marL="0" indent="0" algn="r">
              <a:buNone/>
            </a:pPr>
            <a:r>
              <a:rPr lang="en-US" sz="1100" dirty="0">
                <a:solidFill>
                  <a:srgbClr val="64766B"/>
                </a:solidFill>
                <a:latin typeface="Arial" pitchFamily="34" charset="0"/>
                <a:ea typeface="Arial" pitchFamily="34" charset="-122"/>
                <a:cs typeface="Arial" pitchFamily="34" charset="-120"/>
              </a:rPr>
              <a:t>7</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21208" y="1463040"/>
          <a:ext cx="11128248" cy="4709160"/>
        </p:xfrm>
        <a:graphic>
          <a:graphicData uri="http://schemas.openxmlformats.org/drawingml/2006/table">
            <a:tbl>
              <a:tblPr/>
              <a:tblGrid>
                <a:gridCol w="219456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gridCol w="3218688">
                  <a:extLst>
                    <a:ext uri="{9D8B030D-6E8A-4147-A177-3AD203B41FA5}">
                      <a16:colId xmlns:a16="http://schemas.microsoft.com/office/drawing/2014/main" val="20002"/>
                    </a:ext>
                  </a:extLst>
                </a:gridCol>
              </a:tblGrid>
              <a:tr h="784860">
                <a:tc>
                  <a:txBody>
                    <a:bodyPr/>
                    <a:lstStyle/>
                    <a:p>
                      <a:pPr marL="0" indent="0">
                        <a:buNone/>
                      </a:pPr>
                      <a:r>
                        <a:rPr lang="en-US" sz="1700" b="1" dirty="0">
                          <a:solidFill>
                            <a:srgbClr val="FFFFFF"/>
                          </a:solidFill>
                          <a:latin typeface="Arial" pitchFamily="34" charset="0"/>
                          <a:ea typeface="Arial" pitchFamily="34" charset="-122"/>
                          <a:cs typeface="Arial" pitchFamily="34" charset="-120"/>
                        </a:rPr>
                        <a:t>Tool</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tc>
                  <a:txBody>
                    <a:bodyPr/>
                    <a:lstStyle/>
                    <a:p>
                      <a:pPr marL="0" indent="0">
                        <a:buNone/>
                      </a:pPr>
                      <a:r>
                        <a:rPr lang="en-US" sz="1700" b="1" dirty="0">
                          <a:solidFill>
                            <a:srgbClr val="FFFFFF"/>
                          </a:solidFill>
                          <a:latin typeface="Arial" pitchFamily="34" charset="0"/>
                          <a:ea typeface="Arial" pitchFamily="34" charset="-122"/>
                          <a:cs typeface="Arial" pitchFamily="34" charset="-120"/>
                        </a:rPr>
                        <a:t>Repository requirement / configuration</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tc>
                  <a:txBody>
                    <a:bodyPr/>
                    <a:lstStyle/>
                    <a:p>
                      <a:pPr marL="0" indent="0">
                        <a:buNone/>
                      </a:pPr>
                      <a:r>
                        <a:rPr lang="en-US" sz="1700" b="1" dirty="0">
                          <a:solidFill>
                            <a:srgbClr val="FFFFFF"/>
                          </a:solidFill>
                          <a:latin typeface="Arial" pitchFamily="34" charset="0"/>
                          <a:ea typeface="Arial" pitchFamily="34" charset="-122"/>
                          <a:cs typeface="Arial" pitchFamily="34" charset="-120"/>
                        </a:rPr>
                        <a:t>Observed locally</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extLst>
                  <a:ext uri="{0D108BD9-81ED-4DB2-BD59-A6C34878D82A}">
                    <a16:rowId xmlns:a16="http://schemas.microsoft.com/office/drawing/2014/main" val="10000"/>
                  </a:ext>
                </a:extLst>
              </a:tr>
              <a:tr h="784860">
                <a:tc>
                  <a:txBody>
                    <a:bodyPr/>
                    <a:lstStyle/>
                    <a:p>
                      <a:pPr marL="0" indent="0">
                        <a:buNone/>
                      </a:pPr>
                      <a:r>
                        <a:rPr lang="en-US" sz="1700" dirty="0">
                          <a:solidFill>
                            <a:srgbClr val="183B31"/>
                          </a:solidFill>
                          <a:latin typeface="Arial" pitchFamily="34" charset="0"/>
                          <a:ea typeface="Arial" pitchFamily="34" charset="-122"/>
                          <a:cs typeface="Arial" pitchFamily="34" charset="-120"/>
                        </a:rPr>
                        <a:t>Node.js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^22.12.0 or &gt;=24.0.0</a:t>
                      </a:r>
                      <a:endParaRPr lang="en-US" sz="1700" dirty="0">
                        <a:latin typeface="Arial" charset="0"/>
                        <a:ea typeface="Arial" charset="0"/>
                        <a:cs typeface="Arial" charset="0"/>
                      </a:endParaRPr>
                    </a:p>
                    <a:p>
                      <a:pPr marL="0" indent="0">
                        <a:buNone/>
                      </a:pPr>
                      <a:r>
                        <a:rPr lang="en-US" sz="1700" dirty="0">
                          <a:solidFill>
                            <a:srgbClr val="183B31"/>
                          </a:solidFill>
                          <a:latin typeface="Arial" pitchFamily="34" charset="0"/>
                          <a:ea typeface="Arial" pitchFamily="34" charset="-122"/>
                          <a:cs typeface="Arial" pitchFamily="34" charset="-120"/>
                        </a:rPr>
                        <a:t>CI uses Node 24</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26.10.0</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84860">
                <a:tc>
                  <a:txBody>
                    <a:bodyPr/>
                    <a:lstStyle/>
                    <a:p>
                      <a:pPr marL="0" indent="0">
                        <a:buNone/>
                      </a:pPr>
                      <a:r>
                        <a:rPr lang="en-US" sz="1700" dirty="0">
                          <a:solidFill>
                            <a:srgbClr val="183B31"/>
                          </a:solidFill>
                          <a:latin typeface="Arial" pitchFamily="34" charset="0"/>
                          <a:ea typeface="Arial" pitchFamily="34" charset="-122"/>
                          <a:cs typeface="Arial" pitchFamily="34" charset="-120"/>
                        </a:rPr>
                        <a:t>Python + SQLite</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Python 3.10+ with stdlib sqlite3</a:t>
                      </a:r>
                      <a:endParaRPr lang="en-US" sz="1700" dirty="0">
                        <a:latin typeface="Arial" charset="0"/>
                        <a:ea typeface="Arial" charset="0"/>
                        <a:cs typeface="Arial" charset="0"/>
                      </a:endParaRPr>
                    </a:p>
                    <a:p>
                      <a:pPr marL="0" indent="0">
                        <a:buNone/>
                      </a:pPr>
                      <a:r>
                        <a:rPr lang="en-US" sz="1700" dirty="0">
                          <a:solidFill>
                            <a:srgbClr val="183B31"/>
                          </a:solidFill>
                          <a:latin typeface="Arial" pitchFamily="34" charset="0"/>
                          <a:ea typeface="Arial" pitchFamily="34" charset="-122"/>
                          <a:cs typeface="Arial" pitchFamily="34" charset="-120"/>
                        </a:rPr>
                        <a:t>CI uses Python 3.13</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Python 3.14.7</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2"/>
                  </a:ext>
                </a:extLst>
              </a:tr>
              <a:tr h="784860">
                <a:tc>
                  <a:txBody>
                    <a:bodyPr/>
                    <a:lstStyle/>
                    <a:p>
                      <a:pPr marL="0" indent="0">
                        <a:buNone/>
                      </a:pPr>
                      <a:r>
                        <a:rPr lang="en-US" sz="1700" dirty="0">
                          <a:solidFill>
                            <a:srgbClr val="183B31"/>
                          </a:solidFill>
                          <a:latin typeface="Arial" pitchFamily="34" charset="0"/>
                          <a:ea typeface="Arial" pitchFamily="34" charset="-122"/>
                          <a:cs typeface="Arial" pitchFamily="34" charset="-120"/>
                        </a:rPr>
                        <a:t>npm</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Use the checked-in package-lock.json</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12.1.0</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84860">
                <a:tc>
                  <a:txBody>
                    <a:bodyPr/>
                    <a:lstStyle/>
                    <a:p>
                      <a:pPr marL="0" indent="0">
                        <a:buNone/>
                      </a:pPr>
                      <a:r>
                        <a:rPr lang="en-US" sz="1700" dirty="0">
                          <a:solidFill>
                            <a:srgbClr val="183B31"/>
                          </a:solidFill>
                          <a:latin typeface="Arial" pitchFamily="34" charset="0"/>
                          <a:ea typeface="Arial" pitchFamily="34" charset="-122"/>
                          <a:cs typeface="Arial" pitchFamily="34" charset="-120"/>
                        </a:rPr>
                        <a:t>Graft CLI</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Separate installation on PATH</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0.21.1</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4"/>
                  </a:ext>
                </a:extLst>
              </a:tr>
              <a:tr h="784860">
                <a:tc>
                  <a:txBody>
                    <a:bodyPr/>
                    <a:lstStyle/>
                    <a:p>
                      <a:pPr marL="0" indent="0">
                        <a:buNone/>
                      </a:pPr>
                      <a:r>
                        <a:rPr lang="en-US" sz="1700" dirty="0">
                          <a:solidFill>
                            <a:srgbClr val="183B31"/>
                          </a:solidFill>
                          <a:latin typeface="Arial" pitchFamily="34" charset="0"/>
                          <a:ea typeface="Arial" pitchFamily="34" charset="-122"/>
                          <a:cs typeface="Arial" pitchFamily="34" charset="-120"/>
                        </a:rPr>
                        <a:t>Optional RT</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uv + Python 3.13 + Sionna-RT 2.1.0</a:t>
                      </a:r>
                      <a:endParaRPr lang="en-US" sz="1700" dirty="0">
                        <a:latin typeface="Arial" charset="0"/>
                        <a:ea typeface="Arial" charset="0"/>
                        <a:cs typeface="Arial" charset="0"/>
                      </a:endParaRPr>
                    </a:p>
                    <a:p>
                      <a:pPr marL="0" indent="0">
                        <a:buNone/>
                      </a:pPr>
                      <a:r>
                        <a:rPr lang="en-US" sz="1700" dirty="0">
                          <a:solidFill>
                            <a:srgbClr val="183B31"/>
                          </a:solidFill>
                          <a:latin typeface="Arial" pitchFamily="34" charset="0"/>
                          <a:ea typeface="Arial" pitchFamily="34" charset="-122"/>
                          <a:cs typeface="Arial" pitchFamily="34" charset="-120"/>
                        </a:rPr>
                        <a:t>Compatible native backend required</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Check separately with test:rt</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CFA"/>
        </a:solidFill>
        <a:effectLst/>
      </p:bgPr>
    </p:bg>
    <p:spTree>
      <p:nvGrpSpPr>
        <p:cNvPr id="1" name=""/>
        <p:cNvGrpSpPr/>
        <p:nvPr/>
      </p:nvGrpSpPr>
      <p:grpSpPr>
        <a:xfrm>
          <a:off x="0" y="0"/>
          <a:ext cx="0" cy="0"/>
          <a:chOff x="0" y="0"/>
          <a:chExt cx="0" cy="0"/>
        </a:xfrm>
      </p:grpSpPr>
      <p:sp>
        <p:nvSpPr>
          <p:cNvPr id="2" name="Text 0"/>
          <p:cNvSpPr/>
          <p:nvPr/>
        </p:nvSpPr>
        <p:spPr>
          <a:xfrm>
            <a:off x="502920" y="393192"/>
            <a:ext cx="11109960" cy="768096"/>
          </a:xfrm>
          <a:prstGeom prst="rect">
            <a:avLst/>
          </a:prstGeom>
          <a:noFill/>
          <a:ln/>
        </p:spPr>
        <p:txBody>
          <a:bodyPr wrap="square" lIns="0" tIns="0" rIns="0" bIns="0" rtlCol="0" anchor="t"/>
          <a:lstStyle/>
          <a:p>
            <a:pPr marL="0" indent="0">
              <a:buNone/>
            </a:pPr>
            <a:r>
              <a:rPr lang="en-US" sz="3400" b="1" dirty="0">
                <a:solidFill>
                  <a:srgbClr val="183B31"/>
                </a:solidFill>
                <a:latin typeface="Arial" pitchFamily="34" charset="0"/>
                <a:ea typeface="Arial" pitchFamily="34" charset="-122"/>
                <a:cs typeface="Arial" pitchFamily="34" charset="-120"/>
              </a:rPr>
              <a:t>First local run</a:t>
            </a:r>
            <a:endParaRPr lang="en-US" sz="3400" dirty="0"/>
          </a:p>
        </p:txBody>
      </p:sp>
      <p:sp>
        <p:nvSpPr>
          <p:cNvPr id="3" name="Text 1"/>
          <p:cNvSpPr/>
          <p:nvPr/>
        </p:nvSpPr>
        <p:spPr>
          <a:xfrm>
            <a:off x="11265408" y="6519672"/>
            <a:ext cx="411480" cy="164592"/>
          </a:xfrm>
          <a:prstGeom prst="rect">
            <a:avLst/>
          </a:prstGeom>
          <a:noFill/>
          <a:ln/>
        </p:spPr>
        <p:txBody>
          <a:bodyPr wrap="square" lIns="0" tIns="0" rIns="0" bIns="0" rtlCol="0" anchor="t"/>
          <a:lstStyle/>
          <a:p>
            <a:pPr marL="0" indent="0" algn="r">
              <a:buNone/>
            </a:pPr>
            <a:r>
              <a:rPr lang="en-US" sz="1100" dirty="0">
                <a:solidFill>
                  <a:srgbClr val="64766B"/>
                </a:solidFill>
                <a:latin typeface="Arial" pitchFamily="34" charset="0"/>
                <a:ea typeface="Arial" pitchFamily="34" charset="-122"/>
                <a:cs typeface="Arial" pitchFamily="34" charset="-120"/>
              </a:rPr>
              <a:t>8</a:t>
            </a:r>
            <a:endParaRPr lang="en-US" sz="1100" dirty="0"/>
          </a:p>
        </p:txBody>
      </p:sp>
      <p:sp>
        <p:nvSpPr>
          <p:cNvPr id="4" name="Text 2"/>
          <p:cNvSpPr/>
          <p:nvPr/>
        </p:nvSpPr>
        <p:spPr>
          <a:xfrm>
            <a:off x="521208" y="1207008"/>
            <a:ext cx="11064240" cy="557784"/>
          </a:xfrm>
          <a:prstGeom prst="rect">
            <a:avLst/>
          </a:prstGeom>
          <a:noFill/>
          <a:ln/>
        </p:spPr>
        <p:txBody>
          <a:bodyPr wrap="square" lIns="0" tIns="0" rIns="0" bIns="0" rtlCol="0" anchor="t"/>
          <a:lstStyle/>
          <a:p>
            <a:pPr marL="0" indent="0">
              <a:buNone/>
            </a:pPr>
            <a:r>
              <a:rPr lang="en-US" sz="1900" dirty="0">
                <a:solidFill>
                  <a:srgbClr val="64766B"/>
                </a:solidFill>
                <a:latin typeface="Arial" pitchFamily="34" charset="0"/>
                <a:ea typeface="Arial" pitchFamily="34" charset="-122"/>
                <a:cs typeface="Arial" pitchFamily="34" charset="-120"/>
              </a:rPr>
              <a:t>Run these commands from the checkout root on macOS, Linux or Windows</a:t>
            </a:r>
            <a:endParaRPr lang="en-US" sz="1900" dirty="0"/>
          </a:p>
        </p:txBody>
      </p:sp>
      <p:sp>
        <p:nvSpPr>
          <p:cNvPr id="5" name="Text 3"/>
          <p:cNvSpPr/>
          <p:nvPr/>
        </p:nvSpPr>
        <p:spPr>
          <a:xfrm>
            <a:off x="521208" y="1847088"/>
            <a:ext cx="5760720" cy="310896"/>
          </a:xfrm>
          <a:prstGeom prst="rect">
            <a:avLst/>
          </a:prstGeom>
          <a:noFill/>
          <a:ln/>
        </p:spPr>
        <p:txBody>
          <a:bodyPr wrap="square" lIns="0" tIns="0" rIns="0" bIns="0" rtlCol="0" anchor="t"/>
          <a:lstStyle/>
          <a:p>
            <a:pPr marL="0" indent="0">
              <a:buNone/>
            </a:pPr>
            <a:r>
              <a:rPr lang="en-US" sz="2200" b="1" dirty="0">
                <a:solidFill>
                  <a:srgbClr val="183B31"/>
                </a:solidFill>
                <a:latin typeface="Arial" pitchFamily="34" charset="0"/>
                <a:ea typeface="Arial" pitchFamily="34" charset="-122"/>
                <a:cs typeface="Arial" pitchFamily="34" charset="-120"/>
              </a:rPr>
              <a:t>1. Install the pinned dependencies</a:t>
            </a:r>
            <a:endParaRPr lang="en-US" sz="2200" dirty="0"/>
          </a:p>
        </p:txBody>
      </p:sp>
      <p:sp>
        <p:nvSpPr>
          <p:cNvPr id="6" name="Text 4"/>
          <p:cNvSpPr/>
          <p:nvPr/>
        </p:nvSpPr>
        <p:spPr>
          <a:xfrm>
            <a:off x="521208" y="2240280"/>
            <a:ext cx="5760720" cy="886968"/>
          </a:xfrm>
          <a:prstGeom prst="rect">
            <a:avLst/>
          </a:prstGeom>
          <a:noFill/>
          <a:ln/>
        </p:spPr>
        <p:txBody>
          <a:bodyPr wrap="square" lIns="0" tIns="0" rIns="0" bIns="0" rtlCol="0" anchor="t"/>
          <a:lstStyle/>
          <a:p>
            <a:pPr marL="0" indent="0">
              <a:buNone/>
            </a:pPr>
            <a:r>
              <a:rPr lang="en-US" sz="2100" dirty="0">
                <a:solidFill>
                  <a:srgbClr val="64766B"/>
                </a:solidFill>
                <a:latin typeface="Arial" pitchFamily="34" charset="0"/>
                <a:ea typeface="Arial" pitchFamily="34" charset="-122"/>
                <a:cs typeface="Arial" pitchFamily="34" charset="-120"/>
              </a:rPr>
              <a:t>Include the optional native bindings required by the current platform.</a:t>
            </a:r>
            <a:endParaRPr lang="en-US" sz="2100" dirty="0"/>
          </a:p>
        </p:txBody>
      </p:sp>
      <p:sp>
        <p:nvSpPr>
          <p:cNvPr id="7" name="Text 5"/>
          <p:cNvSpPr/>
          <p:nvPr/>
        </p:nvSpPr>
        <p:spPr>
          <a:xfrm>
            <a:off x="521208" y="3145536"/>
            <a:ext cx="5760720" cy="310896"/>
          </a:xfrm>
          <a:prstGeom prst="rect">
            <a:avLst/>
          </a:prstGeom>
          <a:noFill/>
          <a:ln/>
        </p:spPr>
        <p:txBody>
          <a:bodyPr wrap="square" lIns="0" tIns="0" rIns="0" bIns="0" rtlCol="0" anchor="t"/>
          <a:lstStyle/>
          <a:p>
            <a:pPr marL="0" indent="0">
              <a:buNone/>
            </a:pPr>
            <a:r>
              <a:rPr lang="en-US" sz="2200" b="1" dirty="0">
                <a:solidFill>
                  <a:srgbClr val="183B31"/>
                </a:solidFill>
                <a:latin typeface="Arial" pitchFamily="34" charset="0"/>
                <a:ea typeface="Arial" pitchFamily="34" charset="-122"/>
                <a:cs typeface="Arial" pitchFamily="34" charset="-120"/>
              </a:rPr>
              <a:t>2. Build and start the application</a:t>
            </a:r>
            <a:endParaRPr lang="en-US" sz="2200" dirty="0"/>
          </a:p>
        </p:txBody>
      </p:sp>
      <p:sp>
        <p:nvSpPr>
          <p:cNvPr id="8" name="Text 6"/>
          <p:cNvSpPr/>
          <p:nvPr/>
        </p:nvSpPr>
        <p:spPr>
          <a:xfrm>
            <a:off x="521208" y="3538728"/>
            <a:ext cx="5760720" cy="886968"/>
          </a:xfrm>
          <a:prstGeom prst="rect">
            <a:avLst/>
          </a:prstGeom>
          <a:noFill/>
          <a:ln/>
        </p:spPr>
        <p:txBody>
          <a:bodyPr wrap="square" lIns="0" tIns="0" rIns="0" bIns="0" rtlCol="0" anchor="t"/>
          <a:lstStyle/>
          <a:p>
            <a:pPr marL="0" indent="0">
              <a:buNone/>
            </a:pPr>
            <a:r>
              <a:rPr lang="en-US" sz="2100" dirty="0">
                <a:solidFill>
                  <a:srgbClr val="64766B"/>
                </a:solidFill>
                <a:latin typeface="Arial" pitchFamily="34" charset="0"/>
                <a:ea typeface="Arial" pitchFamily="34" charset="-122"/>
                <a:cs typeface="Arial" pitchFamily="34" charset="-120"/>
              </a:rPr>
              <a:t>The launcher serves the React bundle and Python/SQLite API together.</a:t>
            </a:r>
            <a:endParaRPr lang="en-US" sz="2100" dirty="0"/>
          </a:p>
        </p:txBody>
      </p:sp>
      <p:sp>
        <p:nvSpPr>
          <p:cNvPr id="9" name="Text 7"/>
          <p:cNvSpPr/>
          <p:nvPr/>
        </p:nvSpPr>
        <p:spPr>
          <a:xfrm>
            <a:off x="521208" y="4443984"/>
            <a:ext cx="5760720" cy="310896"/>
          </a:xfrm>
          <a:prstGeom prst="rect">
            <a:avLst/>
          </a:prstGeom>
          <a:noFill/>
          <a:ln/>
        </p:spPr>
        <p:txBody>
          <a:bodyPr wrap="square" lIns="0" tIns="0" rIns="0" bIns="0" rtlCol="0" anchor="t"/>
          <a:lstStyle/>
          <a:p>
            <a:pPr marL="0" indent="0">
              <a:buNone/>
            </a:pPr>
            <a:r>
              <a:rPr lang="en-US" sz="2200" b="1" dirty="0">
                <a:solidFill>
                  <a:srgbClr val="183B31"/>
                </a:solidFill>
                <a:latin typeface="Arial" pitchFamily="34" charset="0"/>
                <a:ea typeface="Arial" pitchFamily="34" charset="-122"/>
                <a:cs typeface="Arial" pitchFamily="34" charset="-120"/>
              </a:rPr>
              <a:t>3. Use the server’s printed URL</a:t>
            </a:r>
            <a:endParaRPr lang="en-US" sz="2200" dirty="0"/>
          </a:p>
        </p:txBody>
      </p:sp>
      <p:sp>
        <p:nvSpPr>
          <p:cNvPr id="10" name="Text 8"/>
          <p:cNvSpPr/>
          <p:nvPr/>
        </p:nvSpPr>
        <p:spPr>
          <a:xfrm>
            <a:off x="521208" y="4837176"/>
            <a:ext cx="5760720" cy="886968"/>
          </a:xfrm>
          <a:prstGeom prst="rect">
            <a:avLst/>
          </a:prstGeom>
          <a:noFill/>
          <a:ln/>
        </p:spPr>
        <p:txBody>
          <a:bodyPr wrap="square" lIns="0" tIns="0" rIns="0" bIns="0" rtlCol="0" anchor="t"/>
          <a:lstStyle/>
          <a:p>
            <a:pPr marL="0" indent="0">
              <a:buNone/>
            </a:pPr>
            <a:r>
              <a:rPr lang="en-US" sz="2100" dirty="0">
                <a:solidFill>
                  <a:srgbClr val="64766B"/>
                </a:solidFill>
                <a:latin typeface="Arial" pitchFamily="34" charset="0"/>
                <a:ea typeface="Arial" pitchFamily="34" charset="-122"/>
                <a:cs typeface="Arial" pitchFamily="34" charset="-120"/>
              </a:rPr>
              <a:t>The normal address is http://127.0.0.1:8765/. Automatic fallback can select another port.</a:t>
            </a:r>
            <a:endParaRPr lang="en-US" sz="2100" dirty="0"/>
          </a:p>
        </p:txBody>
      </p:sp>
      <p:sp>
        <p:nvSpPr>
          <p:cNvPr id="11" name="Text 9"/>
          <p:cNvSpPr/>
          <p:nvPr/>
        </p:nvSpPr>
        <p:spPr>
          <a:xfrm>
            <a:off x="6620256" y="1847088"/>
            <a:ext cx="5029200" cy="3200400"/>
          </a:xfrm>
          <a:prstGeom prst="rect">
            <a:avLst/>
          </a:prstGeom>
          <a:noFill/>
          <a:ln/>
        </p:spPr>
        <p:txBody>
          <a:bodyPr wrap="square" lIns="0" tIns="0" rIns="0" bIns="0" rtlCol="0" anchor="t"/>
          <a:lstStyle/>
          <a:p>
            <a:pPr marL="0" indent="0">
              <a:buNone/>
            </a:pPr>
            <a:r>
              <a:rPr lang="en-US" sz="2500" dirty="0">
                <a:solidFill>
                  <a:srgbClr val="087E68"/>
                </a:solidFill>
                <a:latin typeface="Arial" pitchFamily="34" charset="0"/>
                <a:ea typeface="Arial" pitchFamily="34" charset="-122"/>
                <a:cs typeface="Arial" pitchFamily="34" charset="-120"/>
              </a:rPr>
              <a:t>npm run setup</a:t>
            </a:r>
            <a:endParaRPr lang="en-US" sz="2500" dirty="0"/>
          </a:p>
          <a:p>
            <a:pPr marL="0" indent="0">
              <a:buNone/>
            </a:pPr>
            <a:endParaRPr lang="en-US" sz="2500" dirty="0"/>
          </a:p>
          <a:p>
            <a:pPr marL="0" indent="0">
              <a:buNone/>
            </a:pPr>
            <a:r>
              <a:rPr lang="en-US" sz="2500" dirty="0">
                <a:solidFill>
                  <a:srgbClr val="087E68"/>
                </a:solidFill>
                <a:latin typeface="Arial" pitchFamily="34" charset="0"/>
                <a:ea typeface="Arial" pitchFamily="34" charset="-122"/>
                <a:cs typeface="Arial" pitchFamily="34" charset="-120"/>
              </a:rPr>
              <a:t>npm start</a:t>
            </a:r>
            <a:endParaRPr lang="en-US" sz="2500" dirty="0"/>
          </a:p>
          <a:p>
            <a:pPr marL="0" indent="0">
              <a:buNone/>
            </a:pPr>
            <a:endParaRPr lang="en-US" sz="2500" dirty="0"/>
          </a:p>
          <a:p>
            <a:pPr marL="0" indent="0">
              <a:buNone/>
            </a:pPr>
            <a:r>
              <a:rPr lang="en-US" sz="2500" dirty="0">
                <a:solidFill>
                  <a:srgbClr val="087E68"/>
                </a:solidFill>
                <a:latin typeface="Arial" pitchFamily="34" charset="0"/>
                <a:ea typeface="Arial" pitchFamily="34" charset="-122"/>
                <a:cs typeface="Arial" pitchFamily="34" charset="-120"/>
              </a:rPr>
              <a:t>npm run help</a:t>
            </a:r>
            <a:endParaRPr lang="en-US" sz="2500" dirty="0"/>
          </a:p>
        </p:txBody>
      </p:sp>
      <p:sp>
        <p:nvSpPr>
          <p:cNvPr id="12" name="Text 10"/>
          <p:cNvSpPr/>
          <p:nvPr/>
        </p:nvSpPr>
        <p:spPr>
          <a:xfrm>
            <a:off x="521208" y="5989320"/>
            <a:ext cx="11064240" cy="457200"/>
          </a:xfrm>
          <a:prstGeom prst="rect">
            <a:avLst/>
          </a:prstGeom>
          <a:noFill/>
          <a:ln/>
        </p:spPr>
        <p:txBody>
          <a:bodyPr wrap="square" lIns="0" tIns="0" rIns="0" bIns="0" rtlCol="0" anchor="t"/>
          <a:lstStyle/>
          <a:p>
            <a:pPr marL="0" indent="0">
              <a:buNone/>
            </a:pPr>
            <a:r>
              <a:rPr lang="en-US" sz="1700" dirty="0">
                <a:solidFill>
                  <a:srgbClr val="64766B"/>
                </a:solidFill>
                <a:latin typeface="Arial" pitchFamily="34" charset="0"/>
                <a:ea typeface="Arial" pitchFamily="34" charset="-122"/>
                <a:cs typeface="Arial" pitchFamily="34" charset="-120"/>
              </a:rPr>
              <a:t>Windows: npm.cmd works when PowerShell blocks npm.ps1.</a:t>
            </a:r>
            <a:endParaRPr lang="en-US" sz="1700" dirty="0"/>
          </a:p>
          <a:p>
            <a:pPr marL="0" indent="0">
              <a:buNone/>
            </a:pPr>
            <a:r>
              <a:rPr lang="en-US" sz="1700" dirty="0">
                <a:solidFill>
                  <a:srgbClr val="64766B"/>
                </a:solidFill>
                <a:latin typeface="Arial" pitchFamily="34" charset="0"/>
                <a:ea typeface="Arial" pitchFamily="34" charset="-122"/>
                <a:cs typeface="Arial" pitchFamily="34" charset="-120"/>
              </a:rPr>
              <a:t>The base app needs no additional Python packages.</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CFA"/>
        </a:solidFill>
        <a:effectLst/>
      </p:bgPr>
    </p:bg>
    <p:spTree>
      <p:nvGrpSpPr>
        <p:cNvPr id="1" name=""/>
        <p:cNvGrpSpPr/>
        <p:nvPr/>
      </p:nvGrpSpPr>
      <p:grpSpPr>
        <a:xfrm>
          <a:off x="0" y="0"/>
          <a:ext cx="0" cy="0"/>
          <a:chOff x="0" y="0"/>
          <a:chExt cx="0" cy="0"/>
        </a:xfrm>
      </p:grpSpPr>
      <p:sp>
        <p:nvSpPr>
          <p:cNvPr id="2" name="Text 0"/>
          <p:cNvSpPr/>
          <p:nvPr/>
        </p:nvSpPr>
        <p:spPr>
          <a:xfrm>
            <a:off x="502920" y="393192"/>
            <a:ext cx="11109960" cy="768096"/>
          </a:xfrm>
          <a:prstGeom prst="rect">
            <a:avLst/>
          </a:prstGeom>
          <a:noFill/>
          <a:ln/>
        </p:spPr>
        <p:txBody>
          <a:bodyPr wrap="square" lIns="0" tIns="0" rIns="0" bIns="0" rtlCol="0" anchor="t"/>
          <a:lstStyle/>
          <a:p>
            <a:pPr marL="0" indent="0">
              <a:buNone/>
            </a:pPr>
            <a:r>
              <a:rPr lang="en-US" sz="3400" b="1" dirty="0">
                <a:solidFill>
                  <a:srgbClr val="183B31"/>
                </a:solidFill>
                <a:latin typeface="Arial" pitchFamily="34" charset="0"/>
                <a:ea typeface="Arial" pitchFamily="34" charset="-122"/>
                <a:cs typeface="Arial" pitchFamily="34" charset="-120"/>
              </a:rPr>
              <a:t>Frontend development and local API</a:t>
            </a:r>
            <a:endParaRPr lang="en-US" sz="3400" dirty="0"/>
          </a:p>
        </p:txBody>
      </p:sp>
      <p:sp>
        <p:nvSpPr>
          <p:cNvPr id="3" name="Text 1"/>
          <p:cNvSpPr/>
          <p:nvPr/>
        </p:nvSpPr>
        <p:spPr>
          <a:xfrm>
            <a:off x="11265408" y="6519672"/>
            <a:ext cx="411480" cy="164592"/>
          </a:xfrm>
          <a:prstGeom prst="rect">
            <a:avLst/>
          </a:prstGeom>
          <a:noFill/>
          <a:ln/>
        </p:spPr>
        <p:txBody>
          <a:bodyPr wrap="square" lIns="0" tIns="0" rIns="0" bIns="0" rtlCol="0" anchor="t"/>
          <a:lstStyle/>
          <a:p>
            <a:pPr marL="0" indent="0" algn="r">
              <a:buNone/>
            </a:pPr>
            <a:r>
              <a:rPr lang="en-US" sz="1100" dirty="0">
                <a:solidFill>
                  <a:srgbClr val="64766B"/>
                </a:solidFill>
                <a:latin typeface="Arial" pitchFamily="34" charset="0"/>
                <a:ea typeface="Arial" pitchFamily="34" charset="-122"/>
                <a:cs typeface="Arial" pitchFamily="34" charset="-120"/>
              </a:rPr>
              <a:t>9</a:t>
            </a:r>
            <a:endParaRPr lang="en-US" sz="1100" dirty="0"/>
          </a:p>
        </p:txBody>
      </p:sp>
      <p:sp>
        <p:nvSpPr>
          <p:cNvPr id="4" name="Text 2"/>
          <p:cNvSpPr/>
          <p:nvPr/>
        </p:nvSpPr>
        <p:spPr>
          <a:xfrm>
            <a:off x="521208" y="1554480"/>
            <a:ext cx="5486400" cy="457200"/>
          </a:xfrm>
          <a:prstGeom prst="rect">
            <a:avLst/>
          </a:prstGeom>
          <a:noFill/>
          <a:ln/>
        </p:spPr>
        <p:txBody>
          <a:bodyPr wrap="square" lIns="0" tIns="0" rIns="0" bIns="0" rtlCol="0" anchor="t"/>
          <a:lstStyle/>
          <a:p>
            <a:pPr marL="0" indent="0">
              <a:buNone/>
            </a:pPr>
            <a:r>
              <a:rPr lang="en-US" sz="2300" b="1" dirty="0">
                <a:solidFill>
                  <a:srgbClr val="183B31"/>
                </a:solidFill>
                <a:latin typeface="Arial" pitchFamily="34" charset="0"/>
                <a:ea typeface="Arial" pitchFamily="34" charset="-122"/>
                <a:cs typeface="Arial" pitchFamily="34" charset="-120"/>
              </a:rPr>
              <a:t>Terminal A: Python/SQLite API</a:t>
            </a:r>
            <a:endParaRPr lang="en-US" sz="2300" dirty="0"/>
          </a:p>
        </p:txBody>
      </p:sp>
      <p:sp>
        <p:nvSpPr>
          <p:cNvPr id="5" name="Text 3"/>
          <p:cNvSpPr/>
          <p:nvPr/>
        </p:nvSpPr>
        <p:spPr>
          <a:xfrm>
            <a:off x="521208" y="2240280"/>
            <a:ext cx="5486400" cy="457200"/>
          </a:xfrm>
          <a:prstGeom prst="rect">
            <a:avLst/>
          </a:prstGeom>
          <a:noFill/>
          <a:ln/>
        </p:spPr>
        <p:txBody>
          <a:bodyPr wrap="square" lIns="0" tIns="0" rIns="0" bIns="0" rtlCol="0" anchor="t"/>
          <a:lstStyle/>
          <a:p>
            <a:pPr marL="0" indent="0">
              <a:buNone/>
            </a:pPr>
            <a:r>
              <a:rPr lang="en-US" sz="2600" dirty="0">
                <a:solidFill>
                  <a:srgbClr val="087E68"/>
                </a:solidFill>
                <a:latin typeface="Arial" pitchFamily="34" charset="0"/>
                <a:ea typeface="Arial" pitchFamily="34" charset="-122"/>
                <a:cs typeface="Arial" pitchFamily="34" charset="-120"/>
              </a:rPr>
              <a:t>npm run api</a:t>
            </a:r>
            <a:endParaRPr lang="en-US" sz="2600" dirty="0"/>
          </a:p>
        </p:txBody>
      </p:sp>
      <p:sp>
        <p:nvSpPr>
          <p:cNvPr id="6" name="Text 4"/>
          <p:cNvSpPr/>
          <p:nvPr/>
        </p:nvSpPr>
        <p:spPr>
          <a:xfrm>
            <a:off x="6473952" y="1554480"/>
            <a:ext cx="5166360" cy="457200"/>
          </a:xfrm>
          <a:prstGeom prst="rect">
            <a:avLst/>
          </a:prstGeom>
          <a:noFill/>
          <a:ln/>
        </p:spPr>
        <p:txBody>
          <a:bodyPr wrap="square" lIns="0" tIns="0" rIns="0" bIns="0" rtlCol="0" anchor="t"/>
          <a:lstStyle/>
          <a:p>
            <a:pPr marL="0" indent="0">
              <a:buNone/>
            </a:pPr>
            <a:r>
              <a:rPr lang="en-US" sz="2300" b="1" dirty="0">
                <a:solidFill>
                  <a:srgbClr val="183B31"/>
                </a:solidFill>
                <a:latin typeface="Arial" pitchFamily="34" charset="0"/>
                <a:ea typeface="Arial" pitchFamily="34" charset="-122"/>
                <a:cs typeface="Arial" pitchFamily="34" charset="-120"/>
              </a:rPr>
              <a:t>Terminal B: Vite frontend</a:t>
            </a:r>
            <a:endParaRPr lang="en-US" sz="2300" dirty="0"/>
          </a:p>
        </p:txBody>
      </p:sp>
      <p:sp>
        <p:nvSpPr>
          <p:cNvPr id="7" name="Text 5"/>
          <p:cNvSpPr/>
          <p:nvPr/>
        </p:nvSpPr>
        <p:spPr>
          <a:xfrm>
            <a:off x="6473952" y="2240280"/>
            <a:ext cx="5166360" cy="457200"/>
          </a:xfrm>
          <a:prstGeom prst="rect">
            <a:avLst/>
          </a:prstGeom>
          <a:noFill/>
          <a:ln/>
        </p:spPr>
        <p:txBody>
          <a:bodyPr wrap="square" lIns="0" tIns="0" rIns="0" bIns="0" rtlCol="0" anchor="t"/>
          <a:lstStyle/>
          <a:p>
            <a:pPr marL="0" indent="0">
              <a:buNone/>
            </a:pPr>
            <a:r>
              <a:rPr lang="en-US" sz="2600" dirty="0">
                <a:solidFill>
                  <a:srgbClr val="087E68"/>
                </a:solidFill>
                <a:latin typeface="Arial" pitchFamily="34" charset="0"/>
                <a:ea typeface="Arial" pitchFamily="34" charset="-122"/>
                <a:cs typeface="Arial" pitchFamily="34" charset="-120"/>
              </a:rPr>
              <a:t>npm run dev</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21208" y="3108960"/>
          <a:ext cx="11128248" cy="3063240"/>
        </p:xfrm>
        <a:graphic>
          <a:graphicData uri="http://schemas.openxmlformats.org/drawingml/2006/table">
            <a:tbl>
              <a:tblPr/>
              <a:tblGrid>
                <a:gridCol w="3108960">
                  <a:extLst>
                    <a:ext uri="{9D8B030D-6E8A-4147-A177-3AD203B41FA5}">
                      <a16:colId xmlns:a16="http://schemas.microsoft.com/office/drawing/2014/main" val="20000"/>
                    </a:ext>
                  </a:extLst>
                </a:gridCol>
                <a:gridCol w="8019288">
                  <a:extLst>
                    <a:ext uri="{9D8B030D-6E8A-4147-A177-3AD203B41FA5}">
                      <a16:colId xmlns:a16="http://schemas.microsoft.com/office/drawing/2014/main" val="20001"/>
                    </a:ext>
                  </a:extLst>
                </a:gridCol>
              </a:tblGrid>
              <a:tr h="612648">
                <a:tc>
                  <a:txBody>
                    <a:bodyPr/>
                    <a:lstStyle/>
                    <a:p>
                      <a:pPr marL="0" indent="0">
                        <a:buNone/>
                      </a:pPr>
                      <a:r>
                        <a:rPr lang="en-US" sz="1700" b="1" dirty="0">
                          <a:solidFill>
                            <a:srgbClr val="FFFFFF"/>
                          </a:solidFill>
                          <a:latin typeface="Arial" pitchFamily="34" charset="0"/>
                          <a:ea typeface="Arial" pitchFamily="34" charset="-122"/>
                          <a:cs typeface="Arial" pitchFamily="34" charset="-120"/>
                        </a:rPr>
                        <a:t>Setting</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tc>
                  <a:txBody>
                    <a:bodyPr/>
                    <a:lstStyle/>
                    <a:p>
                      <a:pPr marL="0" indent="0">
                        <a:buNone/>
                      </a:pPr>
                      <a:r>
                        <a:rPr lang="en-US" sz="1700" b="1" dirty="0">
                          <a:solidFill>
                            <a:srgbClr val="FFFFFF"/>
                          </a:solidFill>
                          <a:latin typeface="Arial" pitchFamily="34" charset="0"/>
                          <a:ea typeface="Arial" pitchFamily="34" charset="-122"/>
                          <a:cs typeface="Arial" pitchFamily="34" charset="-120"/>
                        </a:rPr>
                        <a:t>Meaning</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extLst>
                  <a:ext uri="{0D108BD9-81ED-4DB2-BD59-A6C34878D82A}">
                    <a16:rowId xmlns:a16="http://schemas.microsoft.com/office/drawing/2014/main" val="10000"/>
                  </a:ext>
                </a:extLst>
              </a:tr>
              <a:tr h="612648">
                <a:tc>
                  <a:txBody>
                    <a:bodyPr/>
                    <a:lstStyle/>
                    <a:p>
                      <a:pPr marL="0" indent="0">
                        <a:buNone/>
                      </a:pPr>
                      <a:r>
                        <a:rPr lang="en-US" sz="1700" dirty="0">
                          <a:solidFill>
                            <a:srgbClr val="183B31"/>
                          </a:solidFill>
                          <a:latin typeface="Arial" pitchFamily="34" charset="0"/>
                          <a:ea typeface="Arial" pitchFamily="34" charset="-122"/>
                          <a:cs typeface="Arial" pitchFamily="34" charset="-120"/>
                        </a:rPr>
                        <a:t>ATLAS_API_ORIGIN</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Vite proxy target. Default: http://127.0.0.1:8765</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12648">
                <a:tc>
                  <a:txBody>
                    <a:bodyPr/>
                    <a:lstStyle/>
                    <a:p>
                      <a:pPr marL="0" indent="0">
                        <a:buNone/>
                      </a:pPr>
                      <a:r>
                        <a:rPr lang="en-US" sz="1700" dirty="0">
                          <a:solidFill>
                            <a:srgbClr val="183B31"/>
                          </a:solidFill>
                          <a:latin typeface="Arial" pitchFamily="34" charset="0"/>
                          <a:ea typeface="Arial" pitchFamily="34" charset="-122"/>
                          <a:cs typeface="Arial" pitchFamily="34" charset="-120"/>
                        </a:rPr>
                        <a:t>ATLAS_DB_PATH</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SQLite file location. Use a separate file for development fixtures.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2"/>
                  </a:ext>
                </a:extLst>
              </a:tr>
              <a:tr h="612648">
                <a:tc>
                  <a:txBody>
                    <a:bodyPr/>
                    <a:lstStyle/>
                    <a:p>
                      <a:pPr marL="0" indent="0">
                        <a:buNone/>
                      </a:pPr>
                      <a:r>
                        <a:rPr lang="en-US" sz="1700" dirty="0">
                          <a:solidFill>
                            <a:srgbClr val="183B31"/>
                          </a:solidFill>
                          <a:latin typeface="Arial" pitchFamily="34" charset="0"/>
                          <a:ea typeface="Arial" pitchFamily="34" charset="-122"/>
                          <a:cs typeface="Arial" pitchFamily="34" charset="-120"/>
                        </a:rPr>
                        <a:t>ATLAS_PYTHON</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Python executable path, without additional arguments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12648">
                <a:tc>
                  <a:txBody>
                    <a:bodyPr/>
                    <a:lstStyle/>
                    <a:p>
                      <a:pPr marL="0" indent="0">
                        <a:buNone/>
                      </a:pPr>
                      <a:r>
                        <a:rPr lang="en-US" sz="1700" dirty="0">
                          <a:solidFill>
                            <a:srgbClr val="183B31"/>
                          </a:solidFill>
                          <a:latin typeface="Arial" pitchFamily="34" charset="0"/>
                          <a:ea typeface="Arial" pitchFamily="34" charset="-122"/>
                          <a:cs typeface="Arial" pitchFamily="34" charset="-120"/>
                        </a:rPr>
                        <a:t>PLAYWRIGHT_PORT</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Browser-test Vite port. Default: 5174</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CFA"/>
        </a:solidFill>
        <a:effectLst/>
      </p:bgPr>
    </p:bg>
    <p:spTree>
      <p:nvGrpSpPr>
        <p:cNvPr id="1" name=""/>
        <p:cNvGrpSpPr/>
        <p:nvPr/>
      </p:nvGrpSpPr>
      <p:grpSpPr>
        <a:xfrm>
          <a:off x="0" y="0"/>
          <a:ext cx="0" cy="0"/>
          <a:chOff x="0" y="0"/>
          <a:chExt cx="0" cy="0"/>
        </a:xfrm>
      </p:grpSpPr>
      <p:sp>
        <p:nvSpPr>
          <p:cNvPr id="2" name="Text 0"/>
          <p:cNvSpPr/>
          <p:nvPr/>
        </p:nvSpPr>
        <p:spPr>
          <a:xfrm>
            <a:off x="502920" y="393192"/>
            <a:ext cx="11109960" cy="768096"/>
          </a:xfrm>
          <a:prstGeom prst="rect">
            <a:avLst/>
          </a:prstGeom>
          <a:noFill/>
          <a:ln/>
        </p:spPr>
        <p:txBody>
          <a:bodyPr wrap="square" lIns="0" tIns="0" rIns="0" bIns="0" rtlCol="0" anchor="t"/>
          <a:lstStyle/>
          <a:p>
            <a:pPr marL="0" indent="0">
              <a:buNone/>
            </a:pPr>
            <a:r>
              <a:rPr lang="en-US" sz="3400" b="1" dirty="0">
                <a:solidFill>
                  <a:srgbClr val="183B31"/>
                </a:solidFill>
                <a:latin typeface="Arial" pitchFamily="34" charset="0"/>
                <a:ea typeface="Arial" pitchFamily="34" charset="-122"/>
                <a:cs typeface="Arial" pitchFamily="34" charset="-120"/>
              </a:rPr>
              <a:t>Graft orientation</a:t>
            </a:r>
            <a:endParaRPr lang="en-US" sz="3400" dirty="0"/>
          </a:p>
        </p:txBody>
      </p:sp>
      <p:sp>
        <p:nvSpPr>
          <p:cNvPr id="3" name="Text 1"/>
          <p:cNvSpPr/>
          <p:nvPr/>
        </p:nvSpPr>
        <p:spPr>
          <a:xfrm>
            <a:off x="11265408" y="6519672"/>
            <a:ext cx="411480" cy="164592"/>
          </a:xfrm>
          <a:prstGeom prst="rect">
            <a:avLst/>
          </a:prstGeom>
          <a:noFill/>
          <a:ln/>
        </p:spPr>
        <p:txBody>
          <a:bodyPr wrap="square" lIns="0" tIns="0" rIns="0" bIns="0" rtlCol="0" anchor="t"/>
          <a:lstStyle/>
          <a:p>
            <a:pPr marL="0" indent="0" algn="r">
              <a:buNone/>
            </a:pPr>
            <a:r>
              <a:rPr lang="en-US" sz="1100" dirty="0">
                <a:solidFill>
                  <a:srgbClr val="64766B"/>
                </a:solidFill>
                <a:latin typeface="Arial" pitchFamily="34" charset="0"/>
                <a:ea typeface="Arial" pitchFamily="34" charset="-122"/>
                <a:cs typeface="Arial" pitchFamily="34" charset="-120"/>
              </a:rPr>
              <a:t>10</a:t>
            </a:r>
            <a:endParaRPr lang="en-US" sz="1100" dirty="0"/>
          </a:p>
        </p:txBody>
      </p:sp>
      <p:sp>
        <p:nvSpPr>
          <p:cNvPr id="4" name="Text 2"/>
          <p:cNvSpPr/>
          <p:nvPr/>
        </p:nvSpPr>
        <p:spPr>
          <a:xfrm>
            <a:off x="521208" y="1207008"/>
            <a:ext cx="11064240" cy="557784"/>
          </a:xfrm>
          <a:prstGeom prst="rect">
            <a:avLst/>
          </a:prstGeom>
          <a:noFill/>
          <a:ln/>
        </p:spPr>
        <p:txBody>
          <a:bodyPr wrap="square" lIns="0" tIns="0" rIns="0" bIns="0" rtlCol="0" anchor="t"/>
          <a:lstStyle/>
          <a:p>
            <a:pPr marL="0" indent="0">
              <a:buNone/>
            </a:pPr>
            <a:r>
              <a:rPr lang="en-US" sz="1900" dirty="0">
                <a:solidFill>
                  <a:srgbClr val="64766B"/>
                </a:solidFill>
                <a:latin typeface="Arial" pitchFamily="34" charset="0"/>
                <a:ea typeface="Arial" pitchFamily="34" charset="-122"/>
                <a:cs typeface="Arial" pitchFamily="34" charset="-120"/>
              </a:rPr>
              <a:t>AGENTS.md requires graph context before source searches or edits</a:t>
            </a:r>
            <a:endParaRPr lang="en-US" sz="1900" dirty="0"/>
          </a:p>
        </p:txBody>
      </p:sp>
      <p:sp>
        <p:nvSpPr>
          <p:cNvPr id="5" name="Text 3"/>
          <p:cNvSpPr/>
          <p:nvPr/>
        </p:nvSpPr>
        <p:spPr>
          <a:xfrm>
            <a:off x="521208" y="1847088"/>
            <a:ext cx="10881360" cy="3255264"/>
          </a:xfrm>
          <a:prstGeom prst="rect">
            <a:avLst/>
          </a:prstGeom>
          <a:noFill/>
          <a:ln/>
        </p:spPr>
        <p:txBody>
          <a:bodyPr wrap="square" lIns="0" tIns="0" rIns="0" bIns="0" rtlCol="0" anchor="t"/>
          <a:lstStyle/>
          <a:p>
            <a:pPr marL="0" indent="0">
              <a:buNone/>
            </a:pPr>
            <a:r>
              <a:rPr lang="en-US" sz="2400" dirty="0">
                <a:solidFill>
                  <a:srgbClr val="087E68"/>
                </a:solidFill>
                <a:latin typeface="Arial" pitchFamily="34" charset="0"/>
                <a:ea typeface="Arial" pitchFamily="34" charset="-122"/>
                <a:cs typeface="Arial" pitchFamily="34" charset="-120"/>
              </a:rPr>
              <a:t>graft map</a:t>
            </a:r>
            <a:endParaRPr lang="en-US" sz="2400" dirty="0"/>
          </a:p>
          <a:p>
            <a:pPr marL="0" indent="0">
              <a:buNone/>
            </a:pPr>
            <a:r>
              <a:rPr lang="en-US" sz="2400" dirty="0">
                <a:solidFill>
                  <a:srgbClr val="087E68"/>
                </a:solidFill>
                <a:latin typeface="Arial" pitchFamily="34" charset="0"/>
                <a:ea typeface="Arial" pitchFamily="34" charset="-122"/>
                <a:cs typeface="Arial" pitchFamily="34" charset="-120"/>
              </a:rPr>
              <a:t>graft ask "KPI trend sample sequence" --source</a:t>
            </a:r>
            <a:endParaRPr lang="en-US" sz="2400" dirty="0"/>
          </a:p>
          <a:p>
            <a:pPr marL="0" indent="0">
              <a:buNone/>
            </a:pPr>
            <a:r>
              <a:rPr lang="en-US" sz="2400" dirty="0">
                <a:solidFill>
                  <a:srgbClr val="087E68"/>
                </a:solidFill>
                <a:latin typeface="Arial" pitchFamily="34" charset="0"/>
                <a:ea typeface="Arial" pitchFamily="34" charset="-122"/>
                <a:cs typeface="Arial" pitchFamily="34" charset="-120"/>
              </a:rPr>
              <a:t>graft skeleton src/app/AppController.ts</a:t>
            </a:r>
            <a:endParaRPr lang="en-US" sz="2400" dirty="0"/>
          </a:p>
          <a:p>
            <a:pPr marL="0" indent="0">
              <a:buNone/>
            </a:pPr>
            <a:r>
              <a:rPr lang="en-US" sz="2400" dirty="0">
                <a:solidFill>
                  <a:srgbClr val="087E68"/>
                </a:solidFill>
                <a:latin typeface="Arial" pitchFamily="34" charset="0"/>
                <a:ea typeface="Arial" pitchFamily="34" charset="-122"/>
                <a:cs typeface="Arial" pitchFamily="34" charset="-120"/>
              </a:rPr>
              <a:t>graft callers dispatch</a:t>
            </a:r>
            <a:endParaRPr lang="en-US" sz="2400" dirty="0"/>
          </a:p>
          <a:p>
            <a:pPr marL="0" indent="0">
              <a:buNone/>
            </a:pPr>
            <a:r>
              <a:rPr lang="en-US" sz="2400" dirty="0">
                <a:solidFill>
                  <a:srgbClr val="087E68"/>
                </a:solidFill>
                <a:latin typeface="Arial" pitchFamily="34" charset="0"/>
                <a:ea typeface="Arial" pitchFamily="34" charset="-122"/>
                <a:cs typeface="Arial" pitchFamily="34" charset="-120"/>
              </a:rPr>
              <a:t>graft grep "dm-trend"</a:t>
            </a:r>
            <a:endParaRPr lang="en-US" sz="2400" dirty="0"/>
          </a:p>
        </p:txBody>
      </p:sp>
      <p:sp>
        <p:nvSpPr>
          <p:cNvPr id="6" name="Text 4"/>
          <p:cNvSpPr/>
          <p:nvPr/>
        </p:nvSpPr>
        <p:spPr>
          <a:xfrm>
            <a:off x="521208" y="5504688"/>
            <a:ext cx="11018520" cy="594360"/>
          </a:xfrm>
          <a:prstGeom prst="rect">
            <a:avLst/>
          </a:prstGeom>
          <a:noFill/>
          <a:ln/>
        </p:spPr>
        <p:txBody>
          <a:bodyPr wrap="square" lIns="0" tIns="0" rIns="0" bIns="0" rtlCol="0" anchor="t"/>
          <a:lstStyle/>
          <a:p>
            <a:pPr marL="0" indent="0">
              <a:buNone/>
            </a:pPr>
            <a:r>
              <a:rPr lang="en-US" sz="2000" dirty="0">
                <a:solidFill>
                  <a:srgbClr val="64766B"/>
                </a:solidFill>
                <a:latin typeface="Arial" pitchFamily="34" charset="0"/>
                <a:ea typeface="Arial" pitchFamily="34" charset="-122"/>
                <a:cs typeface="Arial" pitchFamily="34" charset="-120"/>
              </a:rPr>
              <a:t>Install the team’s approved Graft version separately.</a:t>
            </a:r>
            <a:endParaRPr lang="en-US" sz="2000" dirty="0"/>
          </a:p>
          <a:p>
            <a:pPr marL="0" indent="0">
              <a:buNone/>
            </a:pPr>
            <a:r>
              <a:rPr lang="en-US" sz="2000" dirty="0">
                <a:solidFill>
                  <a:srgbClr val="64766B"/>
                </a:solidFill>
                <a:latin typeface="Arial" pitchFamily="34" charset="0"/>
                <a:ea typeface="Arial" pitchFamily="34" charset="-122"/>
                <a:cs typeface="Arial" pitchFamily="34" charset="-120"/>
              </a:rPr>
              <a:t>Observed tool: @nanonets/graft 0.21.1.</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CFA"/>
        </a:solidFill>
        <a:effectLst/>
      </p:bgPr>
    </p:bg>
    <p:spTree>
      <p:nvGrpSpPr>
        <p:cNvPr id="1" name=""/>
        <p:cNvGrpSpPr/>
        <p:nvPr/>
      </p:nvGrpSpPr>
      <p:grpSpPr>
        <a:xfrm>
          <a:off x="0" y="0"/>
          <a:ext cx="0" cy="0"/>
          <a:chOff x="0" y="0"/>
          <a:chExt cx="0" cy="0"/>
        </a:xfrm>
      </p:grpSpPr>
      <p:sp>
        <p:nvSpPr>
          <p:cNvPr id="2" name="Text 0"/>
          <p:cNvSpPr/>
          <p:nvPr/>
        </p:nvSpPr>
        <p:spPr>
          <a:xfrm>
            <a:off x="502920" y="393192"/>
            <a:ext cx="11109960" cy="768096"/>
          </a:xfrm>
          <a:prstGeom prst="rect">
            <a:avLst/>
          </a:prstGeom>
          <a:noFill/>
          <a:ln/>
        </p:spPr>
        <p:txBody>
          <a:bodyPr wrap="square" lIns="0" tIns="0" rIns="0" bIns="0" rtlCol="0" anchor="t"/>
          <a:lstStyle/>
          <a:p>
            <a:pPr marL="0" indent="0">
              <a:buNone/>
            </a:pPr>
            <a:r>
              <a:rPr lang="en-US" sz="3400" b="1" dirty="0">
                <a:solidFill>
                  <a:srgbClr val="183B31"/>
                </a:solidFill>
                <a:latin typeface="Arial" pitchFamily="34" charset="0"/>
                <a:ea typeface="Arial" pitchFamily="34" charset="-122"/>
                <a:cs typeface="Arial" pitchFamily="34" charset="-120"/>
              </a:rPr>
              <a:t>Dependency tracing with Graft</a:t>
            </a:r>
            <a:endParaRPr lang="en-US" sz="3400" dirty="0"/>
          </a:p>
        </p:txBody>
      </p:sp>
      <p:sp>
        <p:nvSpPr>
          <p:cNvPr id="3" name="Text 1"/>
          <p:cNvSpPr/>
          <p:nvPr/>
        </p:nvSpPr>
        <p:spPr>
          <a:xfrm>
            <a:off x="11265408" y="6519672"/>
            <a:ext cx="411480" cy="164592"/>
          </a:xfrm>
          <a:prstGeom prst="rect">
            <a:avLst/>
          </a:prstGeom>
          <a:noFill/>
          <a:ln/>
        </p:spPr>
        <p:txBody>
          <a:bodyPr wrap="square" lIns="0" tIns="0" rIns="0" bIns="0" rtlCol="0" anchor="t"/>
          <a:lstStyle/>
          <a:p>
            <a:pPr marL="0" indent="0" algn="r">
              <a:buNone/>
            </a:pPr>
            <a:r>
              <a:rPr lang="en-US" sz="1100" dirty="0">
                <a:solidFill>
                  <a:srgbClr val="64766B"/>
                </a:solidFill>
                <a:latin typeface="Arial" pitchFamily="34" charset="0"/>
                <a:ea typeface="Arial" pitchFamily="34" charset="-122"/>
                <a:cs typeface="Arial" pitchFamily="34" charset="-120"/>
              </a:rPr>
              <a:t>11</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21208" y="1490472"/>
          <a:ext cx="11128248" cy="4681728"/>
        </p:xfrm>
        <a:graphic>
          <a:graphicData uri="http://schemas.openxmlformats.org/drawingml/2006/table">
            <a:tbl>
              <a:tblPr/>
              <a:tblGrid>
                <a:gridCol w="2743200">
                  <a:extLst>
                    <a:ext uri="{9D8B030D-6E8A-4147-A177-3AD203B41FA5}">
                      <a16:colId xmlns:a16="http://schemas.microsoft.com/office/drawing/2014/main" val="20000"/>
                    </a:ext>
                  </a:extLst>
                </a:gridCol>
                <a:gridCol w="4800600">
                  <a:extLst>
                    <a:ext uri="{9D8B030D-6E8A-4147-A177-3AD203B41FA5}">
                      <a16:colId xmlns:a16="http://schemas.microsoft.com/office/drawing/2014/main" val="20001"/>
                    </a:ext>
                  </a:extLst>
                </a:gridCol>
                <a:gridCol w="3584448">
                  <a:extLst>
                    <a:ext uri="{9D8B030D-6E8A-4147-A177-3AD203B41FA5}">
                      <a16:colId xmlns:a16="http://schemas.microsoft.com/office/drawing/2014/main" val="20002"/>
                    </a:ext>
                  </a:extLst>
                </a:gridCol>
              </a:tblGrid>
              <a:tr h="780288">
                <a:tc>
                  <a:txBody>
                    <a:bodyPr/>
                    <a:lstStyle/>
                    <a:p>
                      <a:pPr marL="0" indent="0">
                        <a:buNone/>
                      </a:pPr>
                      <a:r>
                        <a:rPr lang="en-US" sz="1700" b="1" dirty="0">
                          <a:solidFill>
                            <a:srgbClr val="FFFFFF"/>
                          </a:solidFill>
                          <a:latin typeface="Arial" pitchFamily="34" charset="0"/>
                          <a:ea typeface="Arial" pitchFamily="34" charset="-122"/>
                          <a:cs typeface="Arial" pitchFamily="34" charset="-120"/>
                        </a:rPr>
                        <a:t>Question</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tc>
                  <a:txBody>
                    <a:bodyPr/>
                    <a:lstStyle/>
                    <a:p>
                      <a:pPr marL="0" indent="0">
                        <a:buNone/>
                      </a:pPr>
                      <a:r>
                        <a:rPr lang="en-US" sz="1700" b="1" dirty="0">
                          <a:solidFill>
                            <a:srgbClr val="FFFFFF"/>
                          </a:solidFill>
                          <a:latin typeface="Arial" pitchFamily="34" charset="0"/>
                          <a:ea typeface="Arial" pitchFamily="34" charset="-122"/>
                          <a:cs typeface="Arial" pitchFamily="34" charset="-120"/>
                        </a:rPr>
                        <a:t>Command</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tc>
                  <a:txBody>
                    <a:bodyPr/>
                    <a:lstStyle/>
                    <a:p>
                      <a:pPr marL="0" indent="0">
                        <a:buNone/>
                      </a:pPr>
                      <a:r>
                        <a:rPr lang="en-US" sz="1700" b="1" dirty="0">
                          <a:solidFill>
                            <a:srgbClr val="FFFFFF"/>
                          </a:solidFill>
                          <a:latin typeface="Arial" pitchFamily="34" charset="0"/>
                          <a:ea typeface="Arial" pitchFamily="34" charset="-122"/>
                          <a:cs typeface="Arial" pitchFamily="34" charset="-120"/>
                        </a:rPr>
                        <a:t>Use the result</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extLst>
                  <a:ext uri="{0D108BD9-81ED-4DB2-BD59-A6C34878D82A}">
                    <a16:rowId xmlns:a16="http://schemas.microsoft.com/office/drawing/2014/main" val="10000"/>
                  </a:ext>
                </a:extLst>
              </a:tr>
              <a:tr h="780288">
                <a:tc>
                  <a:txBody>
                    <a:bodyPr/>
                    <a:lstStyle/>
                    <a:p>
                      <a:pPr marL="0" indent="0">
                        <a:buNone/>
                      </a:pPr>
                      <a:r>
                        <a:rPr lang="en-US" sz="1700" dirty="0">
                          <a:solidFill>
                            <a:srgbClr val="183B31"/>
                          </a:solidFill>
                          <a:latin typeface="Arial" pitchFamily="34" charset="0"/>
                          <a:ea typeface="Arial" pitchFamily="34" charset="-122"/>
                          <a:cs typeface="Arial" pitchFamily="34" charset="-120"/>
                        </a:rPr>
                        <a:t>Where is the behavior?</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graft ask "commitDriveImport" --source</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Open only the relevant returned spans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80288">
                <a:tc>
                  <a:txBody>
                    <a:bodyPr/>
                    <a:lstStyle/>
                    <a:p>
                      <a:pPr marL="0" indent="0">
                        <a:buNone/>
                      </a:pPr>
                      <a:r>
                        <a:rPr lang="en-US" sz="1700" dirty="0">
                          <a:solidFill>
                            <a:srgbClr val="183B31"/>
                          </a:solidFill>
                          <a:latin typeface="Arial" pitchFamily="34" charset="0"/>
                          <a:ea typeface="Arial" pitchFamily="34" charset="-122"/>
                          <a:cs typeface="Arial" pitchFamily="34" charset="-120"/>
                        </a:rPr>
                        <a:t>What does it depend on?</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graft callers commitDriveImport --direction out</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Identify the domain and persistence path</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2"/>
                  </a:ext>
                </a:extLst>
              </a:tr>
              <a:tr h="780288">
                <a:tc>
                  <a:txBody>
                    <a:bodyPr/>
                    <a:lstStyle/>
                    <a:p>
                      <a:pPr marL="0" indent="0">
                        <a:buNone/>
                      </a:pPr>
                      <a:r>
                        <a:rPr lang="en-US" sz="1700" dirty="0">
                          <a:solidFill>
                            <a:srgbClr val="183B31"/>
                          </a:solidFill>
                          <a:latin typeface="Arial" pitchFamily="34" charset="0"/>
                          <a:ea typeface="Arial" pitchFamily="34" charset="-122"/>
                          <a:cs typeface="Arial" pitchFamily="34" charset="-120"/>
                        </a:rPr>
                        <a:t>Who will a change affect?</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graft callers dispatch --depth 2</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Review callers and their contracts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80288">
                <a:tc>
                  <a:txBody>
                    <a:bodyPr/>
                    <a:lstStyle/>
                    <a:p>
                      <a:pPr marL="0" indent="0">
                        <a:buNone/>
                      </a:pPr>
                      <a:r>
                        <a:rPr lang="en-US" sz="1700" dirty="0">
                          <a:solidFill>
                            <a:srgbClr val="183B31"/>
                          </a:solidFill>
                          <a:latin typeface="Arial" pitchFamily="34" charset="0"/>
                          <a:ea typeface="Arial" pitchFamily="34" charset="-122"/>
                          <a:cs typeface="Arial" pitchFamily="34" charset="-120"/>
                        </a:rPr>
                        <a:t>Where are all occurrences?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graft grep "dm-trend"</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Search every indexed match</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4"/>
                  </a:ext>
                </a:extLst>
              </a:tr>
              <a:tr h="780288">
                <a:tc>
                  <a:txBody>
                    <a:bodyPr/>
                    <a:lstStyle/>
                    <a:p>
                      <a:pPr marL="0" indent="0">
                        <a:buNone/>
                      </a:pPr>
                      <a:r>
                        <a:rPr lang="en-US" sz="1700" dirty="0">
                          <a:solidFill>
                            <a:srgbClr val="183B31"/>
                          </a:solidFill>
                          <a:latin typeface="Arial" pitchFamily="34" charset="0"/>
                          <a:ea typeface="Arial" pitchFamily="34" charset="-122"/>
                          <a:cs typeface="Arial" pitchFamily="34" charset="-120"/>
                        </a:rPr>
                        <a:t>Is the graph current?</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graft build</a:t>
                      </a:r>
                      <a:endParaRPr lang="en-US" sz="1700" dirty="0">
                        <a:latin typeface="Arial" charset="0"/>
                        <a:ea typeface="Arial" charset="0"/>
                        <a:cs typeface="Arial" charset="0"/>
                      </a:endParaRPr>
                    </a:p>
                    <a:p>
                      <a:pPr marL="0" indent="0">
                        <a:buNone/>
                      </a:pPr>
                      <a:r>
                        <a:rPr lang="en-US" sz="1700" dirty="0">
                          <a:solidFill>
                            <a:srgbClr val="183B31"/>
                          </a:solidFill>
                          <a:latin typeface="Arial" pitchFamily="34" charset="0"/>
                          <a:ea typeface="Arial" pitchFamily="34" charset="-122"/>
                          <a:cs typeface="Arial" pitchFamily="34" charset="-120"/>
                        </a:rPr>
                        <a:t>graft check</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Refresh and verify local context</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CFA"/>
        </a:solidFill>
        <a:effectLst/>
      </p:bgPr>
    </p:bg>
    <p:spTree>
      <p:nvGrpSpPr>
        <p:cNvPr id="1" name=""/>
        <p:cNvGrpSpPr/>
        <p:nvPr/>
      </p:nvGrpSpPr>
      <p:grpSpPr>
        <a:xfrm>
          <a:off x="0" y="0"/>
          <a:ext cx="0" cy="0"/>
          <a:chOff x="0" y="0"/>
          <a:chExt cx="0" cy="0"/>
        </a:xfrm>
      </p:grpSpPr>
      <p:sp>
        <p:nvSpPr>
          <p:cNvPr id="2" name="Text 0"/>
          <p:cNvSpPr/>
          <p:nvPr/>
        </p:nvSpPr>
        <p:spPr>
          <a:xfrm>
            <a:off x="502920" y="393192"/>
            <a:ext cx="11109960" cy="768096"/>
          </a:xfrm>
          <a:prstGeom prst="rect">
            <a:avLst/>
          </a:prstGeom>
          <a:noFill/>
          <a:ln/>
        </p:spPr>
        <p:txBody>
          <a:bodyPr wrap="square" lIns="0" tIns="0" rIns="0" bIns="0" rtlCol="0" anchor="t"/>
          <a:lstStyle/>
          <a:p>
            <a:pPr marL="0" indent="0">
              <a:buNone/>
            </a:pPr>
            <a:r>
              <a:rPr lang="en-US" sz="3400" b="1" dirty="0">
                <a:solidFill>
                  <a:srgbClr val="183B31"/>
                </a:solidFill>
                <a:latin typeface="Arial" pitchFamily="34" charset="0"/>
                <a:ea typeface="Arial" pitchFamily="34" charset="-122"/>
                <a:cs typeface="Arial" pitchFamily="34" charset="-120"/>
              </a:rPr>
              <a:t>React entry points and route wiring</a:t>
            </a:r>
            <a:endParaRPr lang="en-US" sz="3400" dirty="0"/>
          </a:p>
        </p:txBody>
      </p:sp>
      <p:sp>
        <p:nvSpPr>
          <p:cNvPr id="3" name="Text 1"/>
          <p:cNvSpPr/>
          <p:nvPr/>
        </p:nvSpPr>
        <p:spPr>
          <a:xfrm>
            <a:off x="11265408" y="6519672"/>
            <a:ext cx="411480" cy="164592"/>
          </a:xfrm>
          <a:prstGeom prst="rect">
            <a:avLst/>
          </a:prstGeom>
          <a:noFill/>
          <a:ln/>
        </p:spPr>
        <p:txBody>
          <a:bodyPr wrap="square" lIns="0" tIns="0" rIns="0" bIns="0" rtlCol="0" anchor="t"/>
          <a:lstStyle/>
          <a:p>
            <a:pPr marL="0" indent="0" algn="r">
              <a:buNone/>
            </a:pPr>
            <a:r>
              <a:rPr lang="en-US" sz="1100" dirty="0">
                <a:solidFill>
                  <a:srgbClr val="64766B"/>
                </a:solidFill>
                <a:latin typeface="Arial" pitchFamily="34" charset="0"/>
                <a:ea typeface="Arial" pitchFamily="34" charset="-122"/>
                <a:cs typeface="Arial" pitchFamily="34" charset="-120"/>
              </a:rPr>
              <a:t>12</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21208" y="1490472"/>
          <a:ext cx="11128248" cy="4672584"/>
        </p:xfrm>
        <a:graphic>
          <a:graphicData uri="http://schemas.openxmlformats.org/drawingml/2006/table">
            <a:tbl>
              <a:tblPr/>
              <a:tblGrid>
                <a:gridCol w="5166360">
                  <a:extLst>
                    <a:ext uri="{9D8B030D-6E8A-4147-A177-3AD203B41FA5}">
                      <a16:colId xmlns:a16="http://schemas.microsoft.com/office/drawing/2014/main" val="20000"/>
                    </a:ext>
                  </a:extLst>
                </a:gridCol>
                <a:gridCol w="5961888">
                  <a:extLst>
                    <a:ext uri="{9D8B030D-6E8A-4147-A177-3AD203B41FA5}">
                      <a16:colId xmlns:a16="http://schemas.microsoft.com/office/drawing/2014/main" val="20001"/>
                    </a:ext>
                  </a:extLst>
                </a:gridCol>
              </a:tblGrid>
              <a:tr h="667512">
                <a:tc>
                  <a:txBody>
                    <a:bodyPr/>
                    <a:lstStyle/>
                    <a:p>
                      <a:pPr marL="0" indent="0">
                        <a:buNone/>
                      </a:pPr>
                      <a:r>
                        <a:rPr lang="en-US" sz="1700" b="1" dirty="0">
                          <a:solidFill>
                            <a:srgbClr val="FFFFFF"/>
                          </a:solidFill>
                          <a:latin typeface="Arial" pitchFamily="34" charset="0"/>
                          <a:ea typeface="Arial" pitchFamily="34" charset="-122"/>
                          <a:cs typeface="Arial" pitchFamily="34" charset="-120"/>
                        </a:rPr>
                        <a:t>File</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tc>
                  <a:txBody>
                    <a:bodyPr/>
                    <a:lstStyle/>
                    <a:p>
                      <a:pPr marL="0" indent="0">
                        <a:buNone/>
                      </a:pPr>
                      <a:r>
                        <a:rPr lang="en-US" sz="1700" b="1" dirty="0">
                          <a:solidFill>
                            <a:srgbClr val="FFFFFF"/>
                          </a:solidFill>
                          <a:latin typeface="Arial" pitchFamily="34" charset="0"/>
                          <a:ea typeface="Arial" pitchFamily="34" charset="-122"/>
                          <a:cs typeface="Arial" pitchFamily="34" charset="-120"/>
                        </a:rPr>
                        <a:t>Role when adding a workspace</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extLst>
                  <a:ext uri="{0D108BD9-81ED-4DB2-BD59-A6C34878D82A}">
                    <a16:rowId xmlns:a16="http://schemas.microsoft.com/office/drawing/2014/main" val="10000"/>
                  </a:ext>
                </a:extLst>
              </a:tr>
              <a:tr h="667512">
                <a:tc>
                  <a:txBody>
                    <a:bodyPr/>
                    <a:lstStyle/>
                    <a:p>
                      <a:pPr marL="0" indent="0">
                        <a:buNone/>
                      </a:pPr>
                      <a:r>
                        <a:rPr lang="en-US" sz="1700" dirty="0">
                          <a:solidFill>
                            <a:srgbClr val="183B31"/>
                          </a:solidFill>
                          <a:latin typeface="Arial" pitchFamily="34" charset="0"/>
                          <a:ea typeface="Arial" pitchFamily="34" charset="-122"/>
                          <a:cs typeface="Arial" pitchFamily="34" charset="-120"/>
                        </a:rPr>
                        <a:t>src/main.tsx</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Mount App under StrictMode and load shared styles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67512">
                <a:tc>
                  <a:txBody>
                    <a:bodyPr/>
                    <a:lstStyle/>
                    <a:p>
                      <a:pPr marL="0" indent="0">
                        <a:buNone/>
                      </a:pPr>
                      <a:r>
                        <a:rPr lang="en-US" sz="1700" dirty="0">
                          <a:solidFill>
                            <a:srgbClr val="183B31"/>
                          </a:solidFill>
                          <a:latin typeface="Arial" pitchFamily="34" charset="0"/>
                          <a:ea typeface="Arial" pitchFamily="34" charset="-122"/>
                          <a:cs typeface="Arial" pitchFamily="34" charset="-120"/>
                        </a:rPr>
                        <a:t>src/app/App.tsx</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Choose the initial route and preview launcher behavior</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2"/>
                  </a:ext>
                </a:extLst>
              </a:tr>
              <a:tr h="667512">
                <a:tc>
                  <a:txBody>
                    <a:bodyPr/>
                    <a:lstStyle/>
                    <a:p>
                      <a:pPr marL="0" indent="0">
                        <a:buNone/>
                      </a:pPr>
                      <a:r>
                        <a:rPr lang="en-US" sz="1700" dirty="0">
                          <a:solidFill>
                            <a:srgbClr val="183B31"/>
                          </a:solidFill>
                          <a:latin typeface="Arial" pitchFamily="34" charset="0"/>
                          <a:ea typeface="Arial" pitchFamily="34" charset="-122"/>
                          <a:cs typeface="Arial" pitchFamily="34" charset="-120"/>
                        </a:rPr>
                        <a:t>src/legacy/ActivityPreview.tsx</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Own the controller, select the feature route and wire actions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67512">
                <a:tc>
                  <a:txBody>
                    <a:bodyPr/>
                    <a:lstStyle/>
                    <a:p>
                      <a:pPr marL="0" indent="0">
                        <a:buNone/>
                      </a:pPr>
                      <a:r>
                        <a:rPr lang="en-US" sz="1700" dirty="0">
                          <a:solidFill>
                            <a:srgbClr val="183B31"/>
                          </a:solidFill>
                          <a:latin typeface="Arial" pitchFamily="34" charset="0"/>
                          <a:ea typeface="Arial" pitchFamily="34" charset="-122"/>
                          <a:cs typeface="Arial" pitchFamily="34" charset="-120"/>
                        </a:rPr>
                        <a:t>src/app/routeRegistry.ts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Register the stable route ID and URL aliases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4"/>
                  </a:ext>
                </a:extLst>
              </a:tr>
              <a:tr h="667512">
                <a:tc>
                  <a:txBody>
                    <a:bodyPr/>
                    <a:lstStyle/>
                    <a:p>
                      <a:pPr marL="0" indent="0">
                        <a:buNone/>
                      </a:pPr>
                      <a:r>
                        <a:rPr lang="en-US" sz="1700" dirty="0">
                          <a:solidFill>
                            <a:srgbClr val="183B31"/>
                          </a:solidFill>
                          <a:latin typeface="Arial" pitchFamily="34" charset="0"/>
                          <a:ea typeface="Arial" pitchFamily="34" charset="-122"/>
                          <a:cs typeface="Arial" pitchFamily="34" charset="-120"/>
                        </a:rPr>
                        <a:t>src/app/workflowNavigation.ts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Place the workspace in the engineering menu</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67512">
                <a:tc>
                  <a:txBody>
                    <a:bodyPr/>
                    <a:lstStyle/>
                    <a:p>
                      <a:pPr marL="0" indent="0">
                        <a:buNone/>
                      </a:pPr>
                      <a:r>
                        <a:rPr lang="en-US" sz="1700" dirty="0">
                          <a:solidFill>
                            <a:srgbClr val="183B31"/>
                          </a:solidFill>
                          <a:latin typeface="Arial" pitchFamily="34" charset="0"/>
                          <a:ea typeface="Arial" pitchFamily="34" charset="-122"/>
                          <a:cs typeface="Arial" pitchFamily="34" charset="-120"/>
                        </a:rPr>
                        <a:t>src/app/PreviewWorkspaceShell.tsx</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Connect shell layout, context and navigation</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6"/>
                  </a:ext>
                </a:extLst>
              </a:tr>
            </a:tbl>
          </a:graphicData>
        </a:graphic>
      </p:graphicFrame>
      <p:sp>
        <p:nvSpPr>
          <p:cNvPr id="5" name="Text 2"/>
          <p:cNvSpPr/>
          <p:nvPr/>
        </p:nvSpPr>
        <p:spPr>
          <a:xfrm>
            <a:off x="521208" y="6291072"/>
            <a:ext cx="10881360" cy="256032"/>
          </a:xfrm>
          <a:prstGeom prst="rect">
            <a:avLst/>
          </a:prstGeom>
          <a:noFill/>
          <a:ln/>
        </p:spPr>
        <p:txBody>
          <a:bodyPr wrap="square" lIns="0" tIns="0" rIns="0" bIns="0" rtlCol="0" anchor="t"/>
          <a:lstStyle/>
          <a:p>
            <a:pPr marL="0" indent="0">
              <a:buNone/>
            </a:pPr>
            <a:r>
              <a:rPr lang="en-US" sz="1700" dirty="0">
                <a:solidFill>
                  <a:srgbClr val="64766B"/>
                </a:solidFill>
                <a:latin typeface="Arial" pitchFamily="34" charset="0"/>
                <a:ea typeface="Arial" pitchFamily="34" charset="-122"/>
                <a:cs typeface="Arial" pitchFamily="34" charset="-120"/>
              </a:rPr>
              <a:t>Route IDs remain usable through ?workspace=drive and the registered aliases.</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CFA"/>
        </a:solidFill>
        <a:effectLst/>
      </p:bgPr>
    </p:bg>
    <p:spTree>
      <p:nvGrpSpPr>
        <p:cNvPr id="1" name=""/>
        <p:cNvGrpSpPr/>
        <p:nvPr/>
      </p:nvGrpSpPr>
      <p:grpSpPr>
        <a:xfrm>
          <a:off x="0" y="0"/>
          <a:ext cx="0" cy="0"/>
          <a:chOff x="0" y="0"/>
          <a:chExt cx="0" cy="0"/>
        </a:xfrm>
      </p:grpSpPr>
      <p:sp>
        <p:nvSpPr>
          <p:cNvPr id="2" name="Text 0"/>
          <p:cNvSpPr/>
          <p:nvPr/>
        </p:nvSpPr>
        <p:spPr>
          <a:xfrm>
            <a:off x="502920" y="393192"/>
            <a:ext cx="11109960" cy="768096"/>
          </a:xfrm>
          <a:prstGeom prst="rect">
            <a:avLst/>
          </a:prstGeom>
          <a:noFill/>
          <a:ln/>
        </p:spPr>
        <p:txBody>
          <a:bodyPr wrap="square" lIns="0" tIns="0" rIns="0" bIns="0" rtlCol="0" anchor="t"/>
          <a:lstStyle/>
          <a:p>
            <a:pPr marL="0" indent="0">
              <a:buNone/>
            </a:pPr>
            <a:r>
              <a:rPr lang="en-US" sz="3400" b="1" dirty="0">
                <a:solidFill>
                  <a:srgbClr val="183B31"/>
                </a:solidFill>
                <a:latin typeface="Arial" pitchFamily="34" charset="0"/>
                <a:ea typeface="Arial" pitchFamily="34" charset="-122"/>
                <a:cs typeface="Arial" pitchFamily="34" charset="-120"/>
              </a:rPr>
              <a:t>State ownership</a:t>
            </a:r>
            <a:endParaRPr lang="en-US" sz="3400" dirty="0"/>
          </a:p>
        </p:txBody>
      </p:sp>
      <p:sp>
        <p:nvSpPr>
          <p:cNvPr id="3" name="Text 1"/>
          <p:cNvSpPr/>
          <p:nvPr/>
        </p:nvSpPr>
        <p:spPr>
          <a:xfrm>
            <a:off x="11265408" y="6519672"/>
            <a:ext cx="411480" cy="164592"/>
          </a:xfrm>
          <a:prstGeom prst="rect">
            <a:avLst/>
          </a:prstGeom>
          <a:noFill/>
          <a:ln/>
        </p:spPr>
        <p:txBody>
          <a:bodyPr wrap="square" lIns="0" tIns="0" rIns="0" bIns="0" rtlCol="0" anchor="t"/>
          <a:lstStyle/>
          <a:p>
            <a:pPr marL="0" indent="0" algn="r">
              <a:buNone/>
            </a:pPr>
            <a:r>
              <a:rPr lang="en-US" sz="1100" dirty="0">
                <a:solidFill>
                  <a:srgbClr val="64766B"/>
                </a:solidFill>
                <a:latin typeface="Arial" pitchFamily="34" charset="0"/>
                <a:ea typeface="Arial" pitchFamily="34" charset="-122"/>
                <a:cs typeface="Arial" pitchFamily="34" charset="-120"/>
              </a:rPr>
              <a:t>13</a:t>
            </a:r>
            <a:endParaRPr lang="en-US" sz="1100" dirty="0"/>
          </a:p>
        </p:txBody>
      </p:sp>
      <p:sp>
        <p:nvSpPr>
          <p:cNvPr id="4" name="Text 2"/>
          <p:cNvSpPr/>
          <p:nvPr/>
        </p:nvSpPr>
        <p:spPr>
          <a:xfrm>
            <a:off x="521208" y="1207008"/>
            <a:ext cx="11064240" cy="557784"/>
          </a:xfrm>
          <a:prstGeom prst="rect">
            <a:avLst/>
          </a:prstGeom>
          <a:noFill/>
          <a:ln/>
        </p:spPr>
        <p:txBody>
          <a:bodyPr wrap="square" lIns="0" tIns="0" rIns="0" bIns="0" rtlCol="0" anchor="t"/>
          <a:lstStyle/>
          <a:p>
            <a:pPr marL="0" indent="0">
              <a:buNone/>
            </a:pPr>
            <a:r>
              <a:rPr lang="en-US" sz="1900" dirty="0">
                <a:solidFill>
                  <a:srgbClr val="64766B"/>
                </a:solidFill>
                <a:latin typeface="Arial" pitchFamily="34" charset="0"/>
                <a:ea typeface="Arial" pitchFamily="34" charset="-122"/>
                <a:cs typeface="Arial" pitchFamily="34" charset="-120"/>
              </a:rPr>
              <a:t>Persist engineering inputs through AppController. Keep view preferences in feature sessions</a:t>
            </a:r>
            <a:endParaRPr lang="en-US" sz="1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21208" y="1856232"/>
          <a:ext cx="11128248" cy="4315968"/>
        </p:xfrm>
        <a:graphic>
          <a:graphicData uri="http://schemas.openxmlformats.org/drawingml/2006/table">
            <a:tbl>
              <a:tblPr/>
              <a:tblGrid>
                <a:gridCol w="43434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3355848">
                  <a:extLst>
                    <a:ext uri="{9D8B030D-6E8A-4147-A177-3AD203B41FA5}">
                      <a16:colId xmlns:a16="http://schemas.microsoft.com/office/drawing/2014/main" val="20002"/>
                    </a:ext>
                  </a:extLst>
                </a:gridCol>
              </a:tblGrid>
              <a:tr h="719328">
                <a:tc>
                  <a:txBody>
                    <a:bodyPr/>
                    <a:lstStyle/>
                    <a:p>
                      <a:pPr marL="0" indent="0">
                        <a:buNone/>
                      </a:pPr>
                      <a:r>
                        <a:rPr lang="en-US" sz="1700" b="1" dirty="0">
                          <a:solidFill>
                            <a:srgbClr val="FFFFFF"/>
                          </a:solidFill>
                          <a:latin typeface="Arial" pitchFamily="34" charset="0"/>
                          <a:ea typeface="Arial" pitchFamily="34" charset="-122"/>
                          <a:cs typeface="Arial" pitchFamily="34" charset="-120"/>
                        </a:rPr>
                        <a:t>State</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tc>
                  <a:txBody>
                    <a:bodyPr/>
                    <a:lstStyle/>
                    <a:p>
                      <a:pPr marL="0" indent="0">
                        <a:buNone/>
                      </a:pPr>
                      <a:r>
                        <a:rPr lang="en-US" sz="1700" b="1" dirty="0">
                          <a:solidFill>
                            <a:srgbClr val="FFFFFF"/>
                          </a:solidFill>
                          <a:latin typeface="Arial" pitchFamily="34" charset="0"/>
                          <a:ea typeface="Arial" pitchFamily="34" charset="-122"/>
                          <a:cs typeface="Arial" pitchFamily="34" charset="-120"/>
                        </a:rPr>
                        <a:t>Owner</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tc>
                  <a:txBody>
                    <a:bodyPr/>
                    <a:lstStyle/>
                    <a:p>
                      <a:pPr marL="0" indent="0">
                        <a:buNone/>
                      </a:pPr>
                      <a:r>
                        <a:rPr lang="en-US" sz="1700" b="1" dirty="0">
                          <a:solidFill>
                            <a:srgbClr val="FFFFFF"/>
                          </a:solidFill>
                          <a:latin typeface="Arial" pitchFamily="34" charset="0"/>
                          <a:ea typeface="Arial" pitchFamily="34" charset="-122"/>
                          <a:cs typeface="Arial" pitchFamily="34" charset="-120"/>
                        </a:rPr>
                        <a:t>Lifetime</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extLst>
                  <a:ext uri="{0D108BD9-81ED-4DB2-BD59-A6C34878D82A}">
                    <a16:rowId xmlns:a16="http://schemas.microsoft.com/office/drawing/2014/main" val="10000"/>
                  </a:ext>
                </a:extLst>
              </a:tr>
              <a:tr h="719328">
                <a:tc>
                  <a:txBody>
                    <a:bodyPr/>
                    <a:lstStyle/>
                    <a:p>
                      <a:pPr marL="0" indent="0">
                        <a:buNone/>
                      </a:pPr>
                      <a:r>
                        <a:rPr lang="en-US" sz="1700" dirty="0">
                          <a:solidFill>
                            <a:srgbClr val="183B31"/>
                          </a:solidFill>
                          <a:latin typeface="Arial" pitchFamily="34" charset="0"/>
                          <a:ea typeface="Arial" pitchFamily="34" charset="-122"/>
                          <a:cs typeface="Arial" pitchFamily="34" charset="-120"/>
                        </a:rPr>
                        <a:t>Projects, plans, evidence, studies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AppController + ProjectStore</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SQLite workspace snapshot</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9328">
                <a:tc>
                  <a:txBody>
                    <a:bodyPr/>
                    <a:lstStyle/>
                    <a:p>
                      <a:pPr marL="0" indent="0">
                        <a:buNone/>
                      </a:pPr>
                      <a:r>
                        <a:rPr lang="en-US" sz="1700" dirty="0">
                          <a:solidFill>
                            <a:srgbClr val="183B31"/>
                          </a:solidFill>
                          <a:latin typeface="Arial" pitchFamily="34" charset="0"/>
                          <a:ea typeface="Arial" pitchFamily="34" charset="-122"/>
                          <a:cs typeface="Arial" pitchFamily="34" charset="-120"/>
                        </a:rPr>
                        <a:t>Map extent, selected sample/site, layers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ProjectMapSession</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Current owner/project/scope session</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2"/>
                  </a:ext>
                </a:extLst>
              </a:tr>
              <a:tr h="719328">
                <a:tc>
                  <a:txBody>
                    <a:bodyPr/>
                    <a:lstStyle/>
                    <a:p>
                      <a:pPr marL="0" indent="0">
                        <a:buNone/>
                      </a:pPr>
                      <a:r>
                        <a:rPr lang="en-US" sz="1700" dirty="0">
                          <a:solidFill>
                            <a:srgbClr val="183B31"/>
                          </a:solidFill>
                          <a:latin typeface="Arial" pitchFamily="34" charset="0"/>
                          <a:ea typeface="Arial" pitchFamily="34" charset="-122"/>
                          <a:cs typeface="Arial" pitchFamily="34" charset="-120"/>
                        </a:rPr>
                        <a:t>Drive playback and analysis selection</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DriveSession</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Transient view state</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9328">
                <a:tc>
                  <a:txBody>
                    <a:bodyPr/>
                    <a:lstStyle/>
                    <a:p>
                      <a:pPr marL="0" indent="0">
                        <a:buNone/>
                      </a:pPr>
                      <a:r>
                        <a:rPr lang="en-US" sz="1700" dirty="0">
                          <a:solidFill>
                            <a:srgbClr val="183B31"/>
                          </a:solidFill>
                          <a:latin typeface="Arial" pitchFamily="34" charset="0"/>
                          <a:ea typeface="Arial" pitchFamily="34" charset="-122"/>
                          <a:cs typeface="Arial" pitchFamily="34" charset="-120"/>
                        </a:rPr>
                        <a:t>Artifacts and run query results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AppController query state</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Refreshable project-scoped cache</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4"/>
                  </a:ext>
                </a:extLst>
              </a:tr>
              <a:tr h="719328">
                <a:tc>
                  <a:txBody>
                    <a:bodyPr/>
                    <a:lstStyle/>
                    <a:p>
                      <a:pPr marL="0" indent="0">
                        <a:buNone/>
                      </a:pPr>
                      <a:r>
                        <a:rPr lang="en-US" sz="1700" dirty="0">
                          <a:solidFill>
                            <a:srgbClr val="183B31"/>
                          </a:solidFill>
                          <a:latin typeface="Arial" pitchFamily="34" charset="0"/>
                          <a:ea typeface="Arial" pitchFamily="34" charset="-122"/>
                          <a:cs typeface="Arial" pitchFamily="34" charset="-120"/>
                        </a:rPr>
                        <a:t>Confirmed-save browser backup</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AppController.backup</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Migration source only when SQLite is empty</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CFA"/>
        </a:solidFill>
        <a:effectLst/>
      </p:bgPr>
    </p:bg>
    <p:spTree>
      <p:nvGrpSpPr>
        <p:cNvPr id="1" name=""/>
        <p:cNvGrpSpPr/>
        <p:nvPr/>
      </p:nvGrpSpPr>
      <p:grpSpPr>
        <a:xfrm>
          <a:off x="0" y="0"/>
          <a:ext cx="0" cy="0"/>
          <a:chOff x="0" y="0"/>
          <a:chExt cx="0" cy="0"/>
        </a:xfrm>
      </p:grpSpPr>
      <p:sp>
        <p:nvSpPr>
          <p:cNvPr id="2" name="Text 0"/>
          <p:cNvSpPr/>
          <p:nvPr/>
        </p:nvSpPr>
        <p:spPr>
          <a:xfrm>
            <a:off x="502920" y="393192"/>
            <a:ext cx="11109960" cy="768096"/>
          </a:xfrm>
          <a:prstGeom prst="rect">
            <a:avLst/>
          </a:prstGeom>
          <a:noFill/>
          <a:ln/>
        </p:spPr>
        <p:txBody>
          <a:bodyPr wrap="square" lIns="0" tIns="0" rIns="0" bIns="0" rtlCol="0" anchor="t"/>
          <a:lstStyle/>
          <a:p>
            <a:pPr marL="0" indent="0">
              <a:buNone/>
            </a:pPr>
            <a:r>
              <a:rPr lang="en-US" sz="3400" b="1" dirty="0">
                <a:solidFill>
                  <a:srgbClr val="183B31"/>
                </a:solidFill>
                <a:latin typeface="Arial" pitchFamily="34" charset="0"/>
                <a:ea typeface="Arial" pitchFamily="34" charset="-122"/>
                <a:cs typeface="Arial" pitchFamily="34" charset="-120"/>
              </a:rPr>
              <a:t>Revisioned save pipeline</a:t>
            </a:r>
            <a:endParaRPr lang="en-US" sz="3400" dirty="0"/>
          </a:p>
        </p:txBody>
      </p:sp>
      <p:sp>
        <p:nvSpPr>
          <p:cNvPr id="3" name="Text 1"/>
          <p:cNvSpPr/>
          <p:nvPr/>
        </p:nvSpPr>
        <p:spPr>
          <a:xfrm>
            <a:off x="11265408" y="6519672"/>
            <a:ext cx="411480" cy="164592"/>
          </a:xfrm>
          <a:prstGeom prst="rect">
            <a:avLst/>
          </a:prstGeom>
          <a:noFill/>
          <a:ln/>
        </p:spPr>
        <p:txBody>
          <a:bodyPr wrap="square" lIns="0" tIns="0" rIns="0" bIns="0" rtlCol="0" anchor="t"/>
          <a:lstStyle/>
          <a:p>
            <a:pPr marL="0" indent="0" algn="r">
              <a:buNone/>
            </a:pPr>
            <a:r>
              <a:rPr lang="en-US" sz="1100" dirty="0">
                <a:solidFill>
                  <a:srgbClr val="64766B"/>
                </a:solidFill>
                <a:latin typeface="Arial" pitchFamily="34" charset="0"/>
                <a:ea typeface="Arial" pitchFamily="34" charset="-122"/>
                <a:cs typeface="Arial" pitchFamily="34" charset="-120"/>
              </a:rPr>
              <a:t>14</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21208" y="1463040"/>
          <a:ext cx="11128248" cy="4608576"/>
        </p:xfrm>
        <a:graphic>
          <a:graphicData uri="http://schemas.openxmlformats.org/drawingml/2006/table">
            <a:tbl>
              <a:tblPr/>
              <a:tblGrid>
                <a:gridCol w="118872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5458968">
                  <a:extLst>
                    <a:ext uri="{9D8B030D-6E8A-4147-A177-3AD203B41FA5}">
                      <a16:colId xmlns:a16="http://schemas.microsoft.com/office/drawing/2014/main" val="20002"/>
                    </a:ext>
                  </a:extLst>
                </a:gridCol>
              </a:tblGrid>
              <a:tr h="658368">
                <a:tc>
                  <a:txBody>
                    <a:bodyPr/>
                    <a:lstStyle/>
                    <a:p>
                      <a:pPr marL="0" indent="0">
                        <a:buNone/>
                      </a:pPr>
                      <a:r>
                        <a:rPr lang="en-US" sz="1700" b="1" dirty="0">
                          <a:solidFill>
                            <a:srgbClr val="FFFFFF"/>
                          </a:solidFill>
                          <a:latin typeface="Arial" pitchFamily="34" charset="0"/>
                          <a:ea typeface="Arial" pitchFamily="34" charset="-122"/>
                          <a:cs typeface="Arial" pitchFamily="34" charset="-120"/>
                        </a:rPr>
                        <a:t>Step</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tc>
                  <a:txBody>
                    <a:bodyPr/>
                    <a:lstStyle/>
                    <a:p>
                      <a:pPr marL="0" indent="0">
                        <a:buNone/>
                      </a:pPr>
                      <a:r>
                        <a:rPr lang="en-US" sz="1700" b="1" dirty="0">
                          <a:solidFill>
                            <a:srgbClr val="FFFFFF"/>
                          </a:solidFill>
                          <a:latin typeface="Arial" pitchFamily="34" charset="0"/>
                          <a:ea typeface="Arial" pitchFamily="34" charset="-122"/>
                          <a:cs typeface="Arial" pitchFamily="34" charset="-120"/>
                        </a:rPr>
                        <a:t>Owner</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tc>
                  <a:txBody>
                    <a:bodyPr/>
                    <a:lstStyle/>
                    <a:p>
                      <a:pPr marL="0" indent="0">
                        <a:buNone/>
                      </a:pPr>
                      <a:r>
                        <a:rPr lang="en-US" sz="1700" b="1" dirty="0">
                          <a:solidFill>
                            <a:srgbClr val="FFFFFF"/>
                          </a:solidFill>
                          <a:latin typeface="Arial" pitchFamily="34" charset="0"/>
                          <a:ea typeface="Arial" pitchFamily="34" charset="-122"/>
                          <a:cs typeface="Arial" pitchFamily="34" charset="-120"/>
                        </a:rPr>
                        <a:t>Behavior</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extLst>
                  <a:ext uri="{0D108BD9-81ED-4DB2-BD59-A6C34878D82A}">
                    <a16:rowId xmlns:a16="http://schemas.microsoft.com/office/drawing/2014/main" val="10000"/>
                  </a:ext>
                </a:extLst>
              </a:tr>
              <a:tr h="658368">
                <a:tc>
                  <a:txBody>
                    <a:bodyPr/>
                    <a:lstStyle/>
                    <a:p>
                      <a:pPr marL="0" indent="0">
                        <a:buNone/>
                      </a:pPr>
                      <a:r>
                        <a:rPr lang="en-US" sz="1700" dirty="0">
                          <a:solidFill>
                            <a:srgbClr val="183B31"/>
                          </a:solidFill>
                          <a:latin typeface="Arial" pitchFamily="34" charset="0"/>
                          <a:ea typeface="Arial" pitchFamily="34" charset="-122"/>
                          <a:cs typeface="Arial" pitchFamily="34" charset="-120"/>
                        </a:rPr>
                        <a:t>1</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Feature command</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Create a project-scoped transformation</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1700" dirty="0">
                          <a:solidFill>
                            <a:srgbClr val="183B31"/>
                          </a:solidFill>
                          <a:latin typeface="Arial" pitchFamily="34" charset="0"/>
                          <a:ea typeface="Arial" pitchFamily="34" charset="-122"/>
                          <a:cs typeface="Arial" pitchFamily="34" charset="-120"/>
                        </a:rPr>
                        <a:t>2</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AppController.dispatch</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Clone, validate and queue the new workspace</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2"/>
                  </a:ext>
                </a:extLst>
              </a:tr>
              <a:tr h="658368">
                <a:tc>
                  <a:txBody>
                    <a:bodyPr/>
                    <a:lstStyle/>
                    <a:p>
                      <a:pPr marL="0" indent="0">
                        <a:buNone/>
                      </a:pPr>
                      <a:r>
                        <a:rPr lang="en-US" sz="1700" dirty="0">
                          <a:solidFill>
                            <a:srgbClr val="183B31"/>
                          </a:solidFill>
                          <a:latin typeface="Arial" pitchFamily="34" charset="0"/>
                          <a:ea typeface="Arial" pitchFamily="34" charset="-122"/>
                          <a:cs typeface="Arial" pitchFamily="34" charset="-120"/>
                        </a:rPr>
                        <a:t>3</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workspaceApi.writeWorkspace</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Verify evidence and submit the current revision</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8368">
                <a:tc>
                  <a:txBody>
                    <a:bodyPr/>
                    <a:lstStyle/>
                    <a:p>
                      <a:pPr marL="0" indent="0">
                        <a:buNone/>
                      </a:pPr>
                      <a:r>
                        <a:rPr lang="en-US" sz="1700" dirty="0">
                          <a:solidFill>
                            <a:srgbClr val="183B31"/>
                          </a:solidFill>
                          <a:latin typeface="Arial" pitchFamily="34" charset="0"/>
                          <a:ea typeface="Arial" pitchFamily="34" charset="-122"/>
                          <a:cs typeface="Arial" pitchFamily="34" charset="-120"/>
                        </a:rPr>
                        <a:t>4</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ProjectStore.save_workspace</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BEGIN IMMEDIATE, compare revision and write atomically</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4"/>
                  </a:ext>
                </a:extLst>
              </a:tr>
              <a:tr h="658368">
                <a:tc>
                  <a:txBody>
                    <a:bodyPr/>
                    <a:lstStyle/>
                    <a:p>
                      <a:pPr marL="0" indent="0">
                        <a:buNone/>
                      </a:pPr>
                      <a:r>
                        <a:rPr lang="en-US" sz="1700" dirty="0">
                          <a:solidFill>
                            <a:srgbClr val="183B31"/>
                          </a:solidFill>
                          <a:latin typeface="Arial" pitchFamily="34" charset="0"/>
                          <a:ea typeface="Arial" pitchFamily="34" charset="-122"/>
                          <a:cs typeface="Arial" pitchFamily="34" charset="-120"/>
                        </a:rPr>
                        <a:t>5</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Controller confirmation</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Advance revision and back up the confirmed save</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58368">
                <a:tc>
                  <a:txBody>
                    <a:bodyPr/>
                    <a:lstStyle/>
                    <a:p>
                      <a:pPr marL="0" indent="0">
                        <a:buNone/>
                      </a:pPr>
                      <a:r>
                        <a:rPr lang="en-US" sz="1700" dirty="0">
                          <a:solidFill>
                            <a:srgbClr val="183B31"/>
                          </a:solidFill>
                          <a:latin typeface="Arial" pitchFamily="34" charset="0"/>
                          <a:ea typeface="Arial" pitchFamily="34" charset="-122"/>
                          <a:cs typeface="Arial" pitchFamily="34" charset="-120"/>
                        </a:rPr>
                        <a:t>Conflict</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HTTP 409 / WorkspaceConflictError</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Keep the local draft and block further queued saves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6"/>
                  </a:ext>
                </a:extLst>
              </a:tr>
            </a:tbl>
          </a:graphicData>
        </a:graphic>
      </p:graphicFrame>
      <p:sp>
        <p:nvSpPr>
          <p:cNvPr id="5" name="Text 2"/>
          <p:cNvSpPr/>
          <p:nvPr/>
        </p:nvSpPr>
        <p:spPr>
          <a:xfrm>
            <a:off x="521208" y="6309360"/>
            <a:ext cx="11018520" cy="228600"/>
          </a:xfrm>
          <a:prstGeom prst="rect">
            <a:avLst/>
          </a:prstGeom>
          <a:noFill/>
          <a:ln/>
        </p:spPr>
        <p:txBody>
          <a:bodyPr wrap="square" lIns="0" tIns="0" rIns="0" bIns="0" rtlCol="0" anchor="t"/>
          <a:lstStyle/>
          <a:p>
            <a:pPr marL="0" indent="0">
              <a:buNone/>
            </a:pPr>
            <a:r>
              <a:rPr lang="en-US" sz="1700" dirty="0">
                <a:solidFill>
                  <a:srgbClr val="64766B"/>
                </a:solidFill>
                <a:latin typeface="Arial" pitchFamily="34" charset="0"/>
                <a:ea typeface="Arial" pitchFamily="34" charset="-122"/>
                <a:cs typeface="Arial" pitchFamily="34" charset="-120"/>
              </a:rPr>
              <a:t>Read-only comparison and an explicit reload decision help resolve conflicting tabs.</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CFA"/>
        </a:solidFill>
        <a:effectLst/>
      </p:bgPr>
    </p:bg>
    <p:spTree>
      <p:nvGrpSpPr>
        <p:cNvPr id="1" name=""/>
        <p:cNvGrpSpPr/>
        <p:nvPr/>
      </p:nvGrpSpPr>
      <p:grpSpPr>
        <a:xfrm>
          <a:off x="0" y="0"/>
          <a:ext cx="0" cy="0"/>
          <a:chOff x="0" y="0"/>
          <a:chExt cx="0" cy="0"/>
        </a:xfrm>
      </p:grpSpPr>
      <p:sp>
        <p:nvSpPr>
          <p:cNvPr id="2" name="Text 0"/>
          <p:cNvSpPr/>
          <p:nvPr/>
        </p:nvSpPr>
        <p:spPr>
          <a:xfrm>
            <a:off x="502920" y="393192"/>
            <a:ext cx="11109960" cy="768096"/>
          </a:xfrm>
          <a:prstGeom prst="rect">
            <a:avLst/>
          </a:prstGeom>
          <a:noFill/>
          <a:ln/>
        </p:spPr>
        <p:txBody>
          <a:bodyPr wrap="square" lIns="0" tIns="0" rIns="0" bIns="0" rtlCol="0" anchor="t"/>
          <a:lstStyle/>
          <a:p>
            <a:pPr marL="0" indent="0">
              <a:buNone/>
            </a:pPr>
            <a:r>
              <a:rPr lang="en-US" sz="3400" b="1" dirty="0">
                <a:solidFill>
                  <a:srgbClr val="183B31"/>
                </a:solidFill>
                <a:latin typeface="Arial" pitchFamily="34" charset="0"/>
                <a:ea typeface="Arial" pitchFamily="34" charset="-122"/>
                <a:cs typeface="Arial" pitchFamily="34" charset="-120"/>
              </a:rPr>
              <a:t>SQLite schema</a:t>
            </a:r>
            <a:endParaRPr lang="en-US" sz="3400" dirty="0"/>
          </a:p>
        </p:txBody>
      </p:sp>
      <p:sp>
        <p:nvSpPr>
          <p:cNvPr id="3" name="Text 1"/>
          <p:cNvSpPr/>
          <p:nvPr/>
        </p:nvSpPr>
        <p:spPr>
          <a:xfrm>
            <a:off x="11265408" y="6519672"/>
            <a:ext cx="411480" cy="164592"/>
          </a:xfrm>
          <a:prstGeom prst="rect">
            <a:avLst/>
          </a:prstGeom>
          <a:noFill/>
          <a:ln/>
        </p:spPr>
        <p:txBody>
          <a:bodyPr wrap="square" lIns="0" tIns="0" rIns="0" bIns="0" rtlCol="0" anchor="t"/>
          <a:lstStyle/>
          <a:p>
            <a:pPr marL="0" indent="0" algn="r">
              <a:buNone/>
            </a:pPr>
            <a:r>
              <a:rPr lang="en-US" sz="1100" dirty="0">
                <a:solidFill>
                  <a:srgbClr val="64766B"/>
                </a:solidFill>
                <a:latin typeface="Arial" pitchFamily="34" charset="0"/>
                <a:ea typeface="Arial" pitchFamily="34" charset="-122"/>
                <a:cs typeface="Arial" pitchFamily="34" charset="-120"/>
              </a:rPr>
              <a:t>15</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21208" y="1463040"/>
          <a:ext cx="11128248" cy="4681728"/>
        </p:xfrm>
        <a:graphic>
          <a:graphicData uri="http://schemas.openxmlformats.org/drawingml/2006/table">
            <a:tbl>
              <a:tblPr/>
              <a:tblGrid>
                <a:gridCol w="219456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gridCol w="5184648">
                  <a:extLst>
                    <a:ext uri="{9D8B030D-6E8A-4147-A177-3AD203B41FA5}">
                      <a16:colId xmlns:a16="http://schemas.microsoft.com/office/drawing/2014/main" val="20002"/>
                    </a:ext>
                  </a:extLst>
                </a:gridCol>
              </a:tblGrid>
              <a:tr h="585216">
                <a:tc>
                  <a:txBody>
                    <a:bodyPr/>
                    <a:lstStyle/>
                    <a:p>
                      <a:pPr marL="0" indent="0">
                        <a:buNone/>
                      </a:pPr>
                      <a:r>
                        <a:rPr lang="en-US" sz="1700" b="1" dirty="0">
                          <a:solidFill>
                            <a:srgbClr val="FFFFFF"/>
                          </a:solidFill>
                          <a:latin typeface="Arial" pitchFamily="34" charset="0"/>
                          <a:ea typeface="Arial" pitchFamily="34" charset="-122"/>
                          <a:cs typeface="Arial" pitchFamily="34" charset="-120"/>
                        </a:rPr>
                        <a:t>Table</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tc>
                  <a:txBody>
                    <a:bodyPr/>
                    <a:lstStyle/>
                    <a:p>
                      <a:pPr marL="0" indent="0">
                        <a:buNone/>
                      </a:pPr>
                      <a:r>
                        <a:rPr lang="en-US" sz="1700" b="1" dirty="0">
                          <a:solidFill>
                            <a:srgbClr val="FFFFFF"/>
                          </a:solidFill>
                          <a:latin typeface="Arial" pitchFamily="34" charset="0"/>
                          <a:ea typeface="Arial" pitchFamily="34" charset="-122"/>
                          <a:cs typeface="Arial" pitchFamily="34" charset="-120"/>
                        </a:rPr>
                        <a:t>Key / relationship</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tc>
                  <a:txBody>
                    <a:bodyPr/>
                    <a:lstStyle/>
                    <a:p>
                      <a:pPr marL="0" indent="0">
                        <a:buNone/>
                      </a:pPr>
                      <a:r>
                        <a:rPr lang="en-US" sz="1700" b="1" dirty="0">
                          <a:solidFill>
                            <a:srgbClr val="FFFFFF"/>
                          </a:solidFill>
                          <a:latin typeface="Arial" pitchFamily="34" charset="0"/>
                          <a:ea typeface="Arial" pitchFamily="34" charset="-122"/>
                          <a:cs typeface="Arial" pitchFamily="34" charset="-120"/>
                        </a:rPr>
                        <a:t>Stored evidence</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extLst>
                  <a:ext uri="{0D108BD9-81ED-4DB2-BD59-A6C34878D82A}">
                    <a16:rowId xmlns:a16="http://schemas.microsoft.com/office/drawing/2014/main" val="10000"/>
                  </a:ext>
                </a:extLst>
              </a:tr>
              <a:tr h="585216">
                <a:tc>
                  <a:txBody>
                    <a:bodyPr/>
                    <a:lstStyle/>
                    <a:p>
                      <a:pPr marL="0" indent="0">
                        <a:buNone/>
                      </a:pPr>
                      <a:r>
                        <a:rPr lang="en-US" sz="1700" dirty="0">
                          <a:solidFill>
                            <a:srgbClr val="183B31"/>
                          </a:solidFill>
                          <a:latin typeface="Arial" pitchFamily="34" charset="0"/>
                          <a:ea typeface="Arial" pitchFamily="34" charset="-122"/>
                          <a:cs typeface="Arial" pitchFamily="34" charset="-120"/>
                        </a:rPr>
                        <a:t>workspace_meta</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Singleton id = 1</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Active project and global workspace revision</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85216">
                <a:tc>
                  <a:txBody>
                    <a:bodyPr/>
                    <a:lstStyle/>
                    <a:p>
                      <a:pPr marL="0" indent="0">
                        <a:buNone/>
                      </a:pPr>
                      <a:r>
                        <a:rPr lang="en-US" sz="1700" dirty="0">
                          <a:solidFill>
                            <a:srgbClr val="183B31"/>
                          </a:solidFill>
                          <a:latin typeface="Arial" pitchFamily="34" charset="0"/>
                          <a:ea typeface="Arial" pitchFamily="34" charset="-122"/>
                          <a:cs typeface="Arial" pitchFamily="34" charset="-120"/>
                        </a:rPr>
                        <a:t>projects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id</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Identity, status and project_json</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2"/>
                  </a:ext>
                </a:extLst>
              </a:tr>
              <a:tr h="585216">
                <a:tc>
                  <a:txBody>
                    <a:bodyPr/>
                    <a:lstStyle/>
                    <a:p>
                      <a:pPr marL="0" indent="0">
                        <a:buNone/>
                      </a:pPr>
                      <a:r>
                        <a:rPr lang="en-US" sz="1700" dirty="0">
                          <a:solidFill>
                            <a:srgbClr val="183B31"/>
                          </a:solidFill>
                          <a:latin typeface="Arial" pitchFamily="34" charset="0"/>
                          <a:ea typeface="Arial" pitchFamily="34" charset="-122"/>
                          <a:cs typeface="Arial" pitchFamily="34" charset="-120"/>
                        </a:rPr>
                        <a:t>activity</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project_id + position</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Ordered project activity</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85216">
                <a:tc>
                  <a:txBody>
                    <a:bodyPr/>
                    <a:lstStyle/>
                    <a:p>
                      <a:pPr marL="0" indent="0">
                        <a:buNone/>
                      </a:pPr>
                      <a:r>
                        <a:rPr lang="en-US" sz="1700" dirty="0">
                          <a:solidFill>
                            <a:srgbClr val="183B31"/>
                          </a:solidFill>
                          <a:latin typeface="Arial" pitchFamily="34" charset="0"/>
                          <a:ea typeface="Arial" pitchFamily="34" charset="-122"/>
                          <a:cs typeface="Arial" pitchFamily="34" charset="-120"/>
                        </a:rPr>
                        <a:t>tasks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project_id + task_id</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Planned task payload and schedule</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4"/>
                  </a:ext>
                </a:extLst>
              </a:tr>
              <a:tr h="585216">
                <a:tc>
                  <a:txBody>
                    <a:bodyPr/>
                    <a:lstStyle/>
                    <a:p>
                      <a:pPr marL="0" indent="0">
                        <a:buNone/>
                      </a:pPr>
                      <a:r>
                        <a:rPr lang="en-US" sz="1700" dirty="0">
                          <a:solidFill>
                            <a:srgbClr val="183B31"/>
                          </a:solidFill>
                          <a:latin typeface="Arial" pitchFamily="34" charset="0"/>
                          <a:ea typeface="Arial" pitchFamily="34" charset="-122"/>
                          <a:cs typeface="Arial" pitchFamily="34" charset="-120"/>
                        </a:rPr>
                        <a:t>artifacts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project_id + artifact_id</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Generated/exportable file content</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85216">
                <a:tc>
                  <a:txBody>
                    <a:bodyPr/>
                    <a:lstStyle/>
                    <a:p>
                      <a:pPr marL="0" indent="0">
                        <a:buNone/>
                      </a:pPr>
                      <a:r>
                        <a:rPr lang="en-US" sz="1700" dirty="0">
                          <a:solidFill>
                            <a:srgbClr val="183B31"/>
                          </a:solidFill>
                          <a:latin typeface="Arial" pitchFamily="34" charset="0"/>
                          <a:ea typeface="Arial" pitchFamily="34" charset="-122"/>
                          <a:cs typeface="Arial" pitchFamily="34" charset="-120"/>
                        </a:rPr>
                        <a:t>task_runs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id, project_id, retry_of</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Captured request, result and lifecycle</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6"/>
                  </a:ext>
                </a:extLst>
              </a:tr>
              <a:tr h="585216">
                <a:tc>
                  <a:txBody>
                    <a:bodyPr/>
                    <a:lstStyle/>
                    <a:p>
                      <a:pPr marL="0" indent="0">
                        <a:buNone/>
                      </a:pPr>
                      <a:r>
                        <a:rPr lang="en-US" sz="1700" dirty="0">
                          <a:solidFill>
                            <a:srgbClr val="183B31"/>
                          </a:solidFill>
                          <a:latin typeface="Arial" pitchFamily="34" charset="0"/>
                          <a:ea typeface="Arial" pitchFamily="34" charset="-122"/>
                          <a:cs typeface="Arial" pitchFamily="34" charset="-120"/>
                        </a:rPr>
                        <a:t>run_events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run_id + sequence</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Ordered state transitions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Text 2"/>
          <p:cNvSpPr/>
          <p:nvPr/>
        </p:nvSpPr>
        <p:spPr>
          <a:xfrm>
            <a:off x="521208" y="6345936"/>
            <a:ext cx="11018520" cy="228600"/>
          </a:xfrm>
          <a:prstGeom prst="rect">
            <a:avLst/>
          </a:prstGeom>
          <a:noFill/>
          <a:ln/>
        </p:spPr>
        <p:txBody>
          <a:bodyPr wrap="square" lIns="0" tIns="0" rIns="0" bIns="0" rtlCol="0" anchor="t"/>
          <a:lstStyle/>
          <a:p>
            <a:pPr marL="0" indent="0">
              <a:buNone/>
            </a:pPr>
            <a:r>
              <a:rPr lang="en-US" sz="1700" dirty="0">
                <a:solidFill>
                  <a:srgbClr val="64766B"/>
                </a:solidFill>
                <a:latin typeface="Arial" pitchFamily="34" charset="0"/>
                <a:ea typeface="Arial" pitchFamily="34" charset="-122"/>
                <a:cs typeface="Arial" pitchFamily="34" charset="-120"/>
              </a:rPr>
              <a:t>Studies and measurement versions remain inside projects.project_json.</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CFA"/>
        </a:solidFill>
        <a:effectLst/>
      </p:bgPr>
    </p:bg>
    <p:spTree>
      <p:nvGrpSpPr>
        <p:cNvPr id="1" name=""/>
        <p:cNvGrpSpPr/>
        <p:nvPr/>
      </p:nvGrpSpPr>
      <p:grpSpPr>
        <a:xfrm>
          <a:off x="0" y="0"/>
          <a:ext cx="0" cy="0"/>
          <a:chOff x="0" y="0"/>
          <a:chExt cx="0" cy="0"/>
        </a:xfrm>
      </p:grpSpPr>
      <p:sp>
        <p:nvSpPr>
          <p:cNvPr id="2" name="Text 0"/>
          <p:cNvSpPr/>
          <p:nvPr/>
        </p:nvSpPr>
        <p:spPr>
          <a:xfrm>
            <a:off x="502920" y="393192"/>
            <a:ext cx="11109960" cy="768096"/>
          </a:xfrm>
          <a:prstGeom prst="rect">
            <a:avLst/>
          </a:prstGeom>
          <a:noFill/>
          <a:ln/>
        </p:spPr>
        <p:txBody>
          <a:bodyPr wrap="square" lIns="0" tIns="0" rIns="0" bIns="0" rtlCol="0" anchor="t"/>
          <a:lstStyle/>
          <a:p>
            <a:pPr marL="0" indent="0">
              <a:buNone/>
            </a:pPr>
            <a:r>
              <a:rPr lang="en-US" sz="3400" b="1" dirty="0">
                <a:solidFill>
                  <a:srgbClr val="183B31"/>
                </a:solidFill>
                <a:latin typeface="Arial" pitchFamily="34" charset="0"/>
                <a:ea typeface="Arial" pitchFamily="34" charset="-122"/>
                <a:cs typeface="Arial" pitchFamily="34" charset="-120"/>
              </a:rPr>
              <a:t>SQLite development workflow</a:t>
            </a:r>
            <a:endParaRPr lang="en-US" sz="3400" dirty="0"/>
          </a:p>
        </p:txBody>
      </p:sp>
      <p:sp>
        <p:nvSpPr>
          <p:cNvPr id="3" name="Text 1"/>
          <p:cNvSpPr/>
          <p:nvPr/>
        </p:nvSpPr>
        <p:spPr>
          <a:xfrm>
            <a:off x="11265408" y="6519672"/>
            <a:ext cx="411480" cy="164592"/>
          </a:xfrm>
          <a:prstGeom prst="rect">
            <a:avLst/>
          </a:prstGeom>
          <a:noFill/>
          <a:ln/>
        </p:spPr>
        <p:txBody>
          <a:bodyPr wrap="square" lIns="0" tIns="0" rIns="0" bIns="0" rtlCol="0" anchor="t"/>
          <a:lstStyle/>
          <a:p>
            <a:pPr marL="0" indent="0" algn="r">
              <a:buNone/>
            </a:pPr>
            <a:r>
              <a:rPr lang="en-US" sz="1100" dirty="0">
                <a:solidFill>
                  <a:srgbClr val="64766B"/>
                </a:solidFill>
                <a:latin typeface="Arial" pitchFamily="34" charset="0"/>
                <a:ea typeface="Arial" pitchFamily="34" charset="-122"/>
                <a:cs typeface="Arial" pitchFamily="34" charset="-120"/>
              </a:rPr>
              <a:t>16</a:t>
            </a:r>
            <a:endParaRPr lang="en-US" sz="1100" dirty="0"/>
          </a:p>
        </p:txBody>
      </p:sp>
      <p:sp>
        <p:nvSpPr>
          <p:cNvPr id="4" name="Text 2"/>
          <p:cNvSpPr/>
          <p:nvPr/>
        </p:nvSpPr>
        <p:spPr>
          <a:xfrm>
            <a:off x="521208" y="1508760"/>
            <a:ext cx="11018520" cy="310896"/>
          </a:xfrm>
          <a:prstGeom prst="rect">
            <a:avLst/>
          </a:prstGeom>
          <a:noFill/>
          <a:ln/>
        </p:spPr>
        <p:txBody>
          <a:bodyPr wrap="square" lIns="0" tIns="0" rIns="0" bIns="0" rtlCol="0" anchor="t"/>
          <a:lstStyle/>
          <a:p>
            <a:pPr marL="0" indent="0">
              <a:buNone/>
            </a:pPr>
            <a:r>
              <a:rPr lang="en-US" sz="2200" b="1" dirty="0">
                <a:solidFill>
                  <a:srgbClr val="183B31"/>
                </a:solidFill>
                <a:latin typeface="Arial" pitchFamily="34" charset="0"/>
                <a:ea typeface="Arial" pitchFamily="34" charset="-122"/>
                <a:cs typeface="Arial" pitchFamily="34" charset="-120"/>
              </a:rPr>
              <a:t>A separate database for local experiments</a:t>
            </a:r>
            <a:endParaRPr lang="en-US" sz="2200" dirty="0"/>
          </a:p>
        </p:txBody>
      </p:sp>
      <p:sp>
        <p:nvSpPr>
          <p:cNvPr id="5" name="Text 3"/>
          <p:cNvSpPr/>
          <p:nvPr/>
        </p:nvSpPr>
        <p:spPr>
          <a:xfrm>
            <a:off x="521208" y="1901952"/>
            <a:ext cx="11018520" cy="777240"/>
          </a:xfrm>
          <a:prstGeom prst="rect">
            <a:avLst/>
          </a:prstGeom>
          <a:noFill/>
          <a:ln/>
        </p:spPr>
        <p:txBody>
          <a:bodyPr wrap="square" lIns="0" tIns="0" rIns="0" bIns="0" rtlCol="0" anchor="t"/>
          <a:lstStyle/>
          <a:p>
            <a:pPr marL="0" indent="0">
              <a:buNone/>
            </a:pPr>
            <a:r>
              <a:rPr lang="en-US" sz="2100" dirty="0">
                <a:solidFill>
                  <a:srgbClr val="64766B"/>
                </a:solidFill>
                <a:latin typeface="Arial" pitchFamily="34" charset="0"/>
                <a:ea typeface="Arial" pitchFamily="34" charset="-122"/>
                <a:cs typeface="Arial" pitchFamily="34" charset="-120"/>
              </a:rPr>
              <a:t>Default: state/atlas-ran-twin.sqlite3. Set ATLAS_DB_PATH for a separate development database.</a:t>
            </a:r>
            <a:endParaRPr lang="en-US" sz="2100" dirty="0"/>
          </a:p>
        </p:txBody>
      </p:sp>
      <p:sp>
        <p:nvSpPr>
          <p:cNvPr id="6" name="Text 4"/>
          <p:cNvSpPr/>
          <p:nvPr/>
        </p:nvSpPr>
        <p:spPr>
          <a:xfrm>
            <a:off x="521208" y="2697480"/>
            <a:ext cx="11018520" cy="310896"/>
          </a:xfrm>
          <a:prstGeom prst="rect">
            <a:avLst/>
          </a:prstGeom>
          <a:noFill/>
          <a:ln/>
        </p:spPr>
        <p:txBody>
          <a:bodyPr wrap="square" lIns="0" tIns="0" rIns="0" bIns="0" rtlCol="0" anchor="t"/>
          <a:lstStyle/>
          <a:p>
            <a:pPr marL="0" indent="0">
              <a:buNone/>
            </a:pPr>
            <a:r>
              <a:rPr lang="en-US" sz="2200" b="1" dirty="0">
                <a:solidFill>
                  <a:srgbClr val="183B31"/>
                </a:solidFill>
                <a:latin typeface="Arial" pitchFamily="34" charset="0"/>
                <a:ea typeface="Arial" pitchFamily="34" charset="-122"/>
                <a:cs typeface="Arial" pitchFamily="34" charset="-120"/>
              </a:rPr>
              <a:t>Read-only inspection</a:t>
            </a:r>
            <a:endParaRPr lang="en-US" sz="2200" dirty="0"/>
          </a:p>
        </p:txBody>
      </p:sp>
      <p:sp>
        <p:nvSpPr>
          <p:cNvPr id="7" name="Text 5"/>
          <p:cNvSpPr/>
          <p:nvPr/>
        </p:nvSpPr>
        <p:spPr>
          <a:xfrm>
            <a:off x="521208" y="3090672"/>
            <a:ext cx="11018520" cy="777240"/>
          </a:xfrm>
          <a:prstGeom prst="rect">
            <a:avLst/>
          </a:prstGeom>
          <a:noFill/>
          <a:ln/>
        </p:spPr>
        <p:txBody>
          <a:bodyPr wrap="square" lIns="0" tIns="0" rIns="0" bIns="0" rtlCol="0" anchor="t"/>
          <a:lstStyle/>
          <a:p>
            <a:pPr marL="0" indent="0">
              <a:buNone/>
            </a:pPr>
            <a:r>
              <a:rPr lang="en-US" sz="2100" dirty="0">
                <a:solidFill>
                  <a:srgbClr val="64766B"/>
                </a:solidFill>
                <a:latin typeface="Arial" pitchFamily="34" charset="0"/>
                <a:ea typeface="Arial" pitchFamily="34" charset="-122"/>
                <a:cs typeface="Arial" pitchFamily="34" charset="-120"/>
              </a:rPr>
              <a:t>Open SQLite with mode=ro. Inspect schema, revision and project-scoped run counts.</a:t>
            </a:r>
            <a:endParaRPr lang="en-US" sz="2100" dirty="0"/>
          </a:p>
        </p:txBody>
      </p:sp>
      <p:sp>
        <p:nvSpPr>
          <p:cNvPr id="8" name="Text 6"/>
          <p:cNvSpPr/>
          <p:nvPr/>
        </p:nvSpPr>
        <p:spPr>
          <a:xfrm>
            <a:off x="521208" y="3886200"/>
            <a:ext cx="11018520" cy="310896"/>
          </a:xfrm>
          <a:prstGeom prst="rect">
            <a:avLst/>
          </a:prstGeom>
          <a:noFill/>
          <a:ln/>
        </p:spPr>
        <p:txBody>
          <a:bodyPr wrap="square" lIns="0" tIns="0" rIns="0" bIns="0" rtlCol="0" anchor="t"/>
          <a:lstStyle/>
          <a:p>
            <a:pPr marL="0" indent="0">
              <a:buNone/>
            </a:pPr>
            <a:r>
              <a:rPr lang="en-US" sz="2200" b="1" dirty="0">
                <a:solidFill>
                  <a:srgbClr val="183B31"/>
                </a:solidFill>
                <a:latin typeface="Arial" pitchFamily="34" charset="0"/>
                <a:ea typeface="Arial" pitchFamily="34" charset="-122"/>
                <a:cs typeface="Arial" pitchFamily="34" charset="-120"/>
              </a:rPr>
              <a:t>A consistent backup</a:t>
            </a:r>
            <a:endParaRPr lang="en-US" sz="2200" dirty="0"/>
          </a:p>
        </p:txBody>
      </p:sp>
      <p:sp>
        <p:nvSpPr>
          <p:cNvPr id="9" name="Text 7"/>
          <p:cNvSpPr/>
          <p:nvPr/>
        </p:nvSpPr>
        <p:spPr>
          <a:xfrm>
            <a:off x="521208" y="4279392"/>
            <a:ext cx="11018520" cy="777240"/>
          </a:xfrm>
          <a:prstGeom prst="rect">
            <a:avLst/>
          </a:prstGeom>
          <a:noFill/>
          <a:ln/>
        </p:spPr>
        <p:txBody>
          <a:bodyPr wrap="square" lIns="0" tIns="0" rIns="0" bIns="0" rtlCol="0" anchor="t"/>
          <a:lstStyle/>
          <a:p>
            <a:pPr marL="0" indent="0">
              <a:buNone/>
            </a:pPr>
            <a:r>
              <a:rPr lang="en-US" sz="2100" dirty="0">
                <a:solidFill>
                  <a:srgbClr val="64766B"/>
                </a:solidFill>
                <a:latin typeface="Arial" pitchFamily="34" charset="0"/>
                <a:ea typeface="Arial" pitchFamily="34" charset="-122"/>
                <a:cs typeface="Arial" pitchFamily="34" charset="-120"/>
              </a:rPr>
              <a:t>Use SQLite backup support for a running WAL database. Test the restored copy.</a:t>
            </a:r>
            <a:endParaRPr lang="en-US" sz="2100" dirty="0"/>
          </a:p>
        </p:txBody>
      </p:sp>
      <p:sp>
        <p:nvSpPr>
          <p:cNvPr id="10" name="Text 8"/>
          <p:cNvSpPr/>
          <p:nvPr/>
        </p:nvSpPr>
        <p:spPr>
          <a:xfrm>
            <a:off x="521208" y="5074920"/>
            <a:ext cx="11018520" cy="310896"/>
          </a:xfrm>
          <a:prstGeom prst="rect">
            <a:avLst/>
          </a:prstGeom>
          <a:noFill/>
          <a:ln/>
        </p:spPr>
        <p:txBody>
          <a:bodyPr wrap="square" lIns="0" tIns="0" rIns="0" bIns="0" rtlCol="0" anchor="t"/>
          <a:lstStyle/>
          <a:p>
            <a:pPr marL="0" indent="0">
              <a:buNone/>
            </a:pPr>
            <a:r>
              <a:rPr lang="en-US" sz="2200" b="1" dirty="0">
                <a:solidFill>
                  <a:srgbClr val="183B31"/>
                </a:solidFill>
                <a:latin typeface="Arial" pitchFamily="34" charset="0"/>
                <a:ea typeface="Arial" pitchFamily="34" charset="-122"/>
                <a:cs typeface="Arial" pitchFamily="34" charset="-120"/>
              </a:rPr>
              <a:t>A tested schema change</a:t>
            </a:r>
            <a:endParaRPr lang="en-US" sz="2200" dirty="0"/>
          </a:p>
        </p:txBody>
      </p:sp>
      <p:sp>
        <p:nvSpPr>
          <p:cNvPr id="11" name="Text 9"/>
          <p:cNvSpPr/>
          <p:nvPr/>
        </p:nvSpPr>
        <p:spPr>
          <a:xfrm>
            <a:off x="521208" y="5468112"/>
            <a:ext cx="11018520" cy="777240"/>
          </a:xfrm>
          <a:prstGeom prst="rect">
            <a:avLst/>
          </a:prstGeom>
          <a:noFill/>
          <a:ln/>
        </p:spPr>
        <p:txBody>
          <a:bodyPr wrap="square" lIns="0" tIns="0" rIns="0" bIns="0" rtlCol="0" anchor="t"/>
          <a:lstStyle/>
          <a:p>
            <a:pPr marL="0" indent="0">
              <a:buNone/>
            </a:pPr>
            <a:r>
              <a:rPr lang="en-US" sz="2100" dirty="0">
                <a:solidFill>
                  <a:srgbClr val="64766B"/>
                </a:solidFill>
                <a:latin typeface="Arial" pitchFamily="34" charset="0"/>
                <a:ea typeface="Arial" pitchFamily="34" charset="-122"/>
                <a:cs typeface="Arial" pitchFamily="34" charset="-120"/>
              </a:rPr>
              <a:t>Update ProjectStore initialization, compatibility logic and storage/API tests together.</a:t>
            </a:r>
            <a:endParaRPr lang="en-US" sz="2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CFA"/>
        </a:solidFill>
        <a:effectLst/>
      </p:bgPr>
    </p:bg>
    <p:spTree>
      <p:nvGrpSpPr>
        <p:cNvPr id="1" name=""/>
        <p:cNvGrpSpPr/>
        <p:nvPr/>
      </p:nvGrpSpPr>
      <p:grpSpPr>
        <a:xfrm>
          <a:off x="0" y="0"/>
          <a:ext cx="0" cy="0"/>
          <a:chOff x="0" y="0"/>
          <a:chExt cx="0" cy="0"/>
        </a:xfrm>
      </p:grpSpPr>
      <p:sp>
        <p:nvSpPr>
          <p:cNvPr id="2" name="Text 0"/>
          <p:cNvSpPr/>
          <p:nvPr/>
        </p:nvSpPr>
        <p:spPr>
          <a:xfrm>
            <a:off x="502920" y="393192"/>
            <a:ext cx="11109960" cy="768096"/>
          </a:xfrm>
          <a:prstGeom prst="rect">
            <a:avLst/>
          </a:prstGeom>
          <a:noFill/>
          <a:ln/>
        </p:spPr>
        <p:txBody>
          <a:bodyPr wrap="square" lIns="0" tIns="0" rIns="0" bIns="0" rtlCol="0" anchor="t"/>
          <a:lstStyle/>
          <a:p>
            <a:pPr marL="0" indent="0">
              <a:buNone/>
            </a:pPr>
            <a:r>
              <a:rPr lang="en-US" sz="3400" b="1" dirty="0">
                <a:solidFill>
                  <a:srgbClr val="183B31"/>
                </a:solidFill>
                <a:latin typeface="Arial" pitchFamily="34" charset="0"/>
                <a:ea typeface="Arial" pitchFamily="34" charset="-122"/>
                <a:cs typeface="Arial" pitchFamily="34" charset="-120"/>
              </a:rPr>
              <a:t>Local HTTP contracts</a:t>
            </a:r>
            <a:endParaRPr lang="en-US" sz="3400" dirty="0"/>
          </a:p>
        </p:txBody>
      </p:sp>
      <p:sp>
        <p:nvSpPr>
          <p:cNvPr id="3" name="Text 1"/>
          <p:cNvSpPr/>
          <p:nvPr/>
        </p:nvSpPr>
        <p:spPr>
          <a:xfrm>
            <a:off x="11265408" y="6519672"/>
            <a:ext cx="411480" cy="164592"/>
          </a:xfrm>
          <a:prstGeom prst="rect">
            <a:avLst/>
          </a:prstGeom>
          <a:noFill/>
          <a:ln/>
        </p:spPr>
        <p:txBody>
          <a:bodyPr wrap="square" lIns="0" tIns="0" rIns="0" bIns="0" rtlCol="0" anchor="t"/>
          <a:lstStyle/>
          <a:p>
            <a:pPr marL="0" indent="0" algn="r">
              <a:buNone/>
            </a:pPr>
            <a:r>
              <a:rPr lang="en-US" sz="1100" dirty="0">
                <a:solidFill>
                  <a:srgbClr val="64766B"/>
                </a:solidFill>
                <a:latin typeface="Arial" pitchFamily="34" charset="0"/>
                <a:ea typeface="Arial" pitchFamily="34" charset="-122"/>
                <a:cs typeface="Arial" pitchFamily="34" charset="-120"/>
              </a:rPr>
              <a:t>17</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21208" y="1463040"/>
          <a:ext cx="11128248" cy="4315968"/>
        </p:xfrm>
        <a:graphic>
          <a:graphicData uri="http://schemas.openxmlformats.org/drawingml/2006/table">
            <a:tbl>
              <a:tblPr/>
              <a:tblGrid>
                <a:gridCol w="397764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3858768">
                  <a:extLst>
                    <a:ext uri="{9D8B030D-6E8A-4147-A177-3AD203B41FA5}">
                      <a16:colId xmlns:a16="http://schemas.microsoft.com/office/drawing/2014/main" val="20002"/>
                    </a:ext>
                  </a:extLst>
                </a:gridCol>
              </a:tblGrid>
              <a:tr h="539496">
                <a:tc>
                  <a:txBody>
                    <a:bodyPr/>
                    <a:lstStyle/>
                    <a:p>
                      <a:pPr marL="0" indent="0">
                        <a:buNone/>
                      </a:pPr>
                      <a:r>
                        <a:rPr lang="en-US" sz="1700" b="1" dirty="0">
                          <a:solidFill>
                            <a:srgbClr val="FFFFFF"/>
                          </a:solidFill>
                          <a:latin typeface="Arial" pitchFamily="34" charset="0"/>
                          <a:ea typeface="Arial" pitchFamily="34" charset="-122"/>
                          <a:cs typeface="Arial" pitchFamily="34" charset="-120"/>
                        </a:rPr>
                        <a:t>Endpoint group</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tc>
                  <a:txBody>
                    <a:bodyPr/>
                    <a:lstStyle/>
                    <a:p>
                      <a:pPr marL="0" indent="0">
                        <a:buNone/>
                      </a:pPr>
                      <a:r>
                        <a:rPr lang="en-US" sz="1700" b="1" dirty="0">
                          <a:solidFill>
                            <a:srgbClr val="FFFFFF"/>
                          </a:solidFill>
                          <a:latin typeface="Arial" pitchFamily="34" charset="0"/>
                          <a:ea typeface="Arial" pitchFamily="34" charset="-122"/>
                          <a:cs typeface="Arial" pitchFamily="34" charset="-120"/>
                        </a:rPr>
                        <a:t>Payload / result</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tc>
                  <a:txBody>
                    <a:bodyPr/>
                    <a:lstStyle/>
                    <a:p>
                      <a:pPr marL="0" indent="0">
                        <a:buNone/>
                      </a:pPr>
                      <a:r>
                        <a:rPr lang="en-US" sz="1700" b="1" dirty="0">
                          <a:solidFill>
                            <a:srgbClr val="FFFFFF"/>
                          </a:solidFill>
                          <a:latin typeface="Arial" pitchFamily="34" charset="0"/>
                          <a:ea typeface="Arial" pitchFamily="34" charset="-122"/>
                          <a:cs typeface="Arial" pitchFamily="34" charset="-120"/>
                        </a:rPr>
                        <a:t>Development contract</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extLst>
                  <a:ext uri="{0D108BD9-81ED-4DB2-BD59-A6C34878D82A}">
                    <a16:rowId xmlns:a16="http://schemas.microsoft.com/office/drawing/2014/main" val="10000"/>
                  </a:ext>
                </a:extLst>
              </a:tr>
              <a:tr h="539496">
                <a:tc>
                  <a:txBody>
                    <a:bodyPr/>
                    <a:lstStyle/>
                    <a:p>
                      <a:pPr marL="0" indent="0">
                        <a:buNone/>
                      </a:pPr>
                      <a:r>
                        <a:rPr lang="en-US" sz="1700" dirty="0">
                          <a:solidFill>
                            <a:srgbClr val="183B31"/>
                          </a:solidFill>
                          <a:latin typeface="Arial" pitchFamily="34" charset="0"/>
                          <a:ea typeface="Arial" pitchFamily="34" charset="-122"/>
                          <a:cs typeface="Arial" pitchFamily="34" charset="-120"/>
                        </a:rPr>
                        <a:t>GET /api/workspace</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revision + workspace</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Hydrate the persisted owner</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9496">
                <a:tc>
                  <a:txBody>
                    <a:bodyPr/>
                    <a:lstStyle/>
                    <a:p>
                      <a:pPr marL="0" indent="0">
                        <a:buNone/>
                      </a:pPr>
                      <a:r>
                        <a:rPr lang="en-US" sz="1700" dirty="0">
                          <a:solidFill>
                            <a:srgbClr val="183B31"/>
                          </a:solidFill>
                          <a:latin typeface="Arial" pitchFamily="34" charset="0"/>
                          <a:ea typeface="Arial" pitchFamily="34" charset="-122"/>
                          <a:cs typeface="Arial" pitchFamily="34" charset="-120"/>
                        </a:rPr>
                        <a:t>PUT /api/workspace</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revision, workspace, artifacts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200 confirmed, 400 rejected, 409 conflict</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2"/>
                  </a:ext>
                </a:extLst>
              </a:tr>
              <a:tr h="539496">
                <a:tc>
                  <a:txBody>
                    <a:bodyPr/>
                    <a:lstStyle/>
                    <a:p>
                      <a:pPr marL="0" indent="0">
                        <a:buNone/>
                      </a:pPr>
                      <a:r>
                        <a:rPr lang="en-US" sz="1700" dirty="0">
                          <a:solidFill>
                            <a:srgbClr val="183B31"/>
                          </a:solidFill>
                          <a:latin typeface="Arial" pitchFamily="34" charset="0"/>
                          <a:ea typeface="Arial" pitchFamily="34" charset="-122"/>
                          <a:cs typeface="Arial" pitchFamily="34" charset="-120"/>
                        </a:rPr>
                        <a:t>GET /api/projects/{id}/…</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tasks, artifacts or runs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Project-scoped lists and pagination</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9496">
                <a:tc>
                  <a:txBody>
                    <a:bodyPr/>
                    <a:lstStyle/>
                    <a:p>
                      <a:pPr marL="0" indent="0">
                        <a:buNone/>
                      </a:pPr>
                      <a:r>
                        <a:rPr lang="en-US" sz="1700" dirty="0">
                          <a:solidFill>
                            <a:srgbClr val="183B31"/>
                          </a:solidFill>
                          <a:latin typeface="Arial" pitchFamily="34" charset="0"/>
                          <a:ea typeface="Arial" pitchFamily="34" charset="-122"/>
                          <a:cs typeface="Arial" pitchFamily="34" charset="-120"/>
                        </a:rPr>
                        <a:t>GET /api/runs/{runId}</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input, result and events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Retained evidence after restart</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4"/>
                  </a:ext>
                </a:extLst>
              </a:tr>
              <a:tr h="539496">
                <a:tc>
                  <a:txBody>
                    <a:bodyPr/>
                    <a:lstStyle/>
                    <a:p>
                      <a:pPr marL="0" indent="0">
                        <a:buNone/>
                      </a:pPr>
                      <a:r>
                        <a:rPr lang="en-US" sz="1700" dirty="0">
                          <a:solidFill>
                            <a:srgbClr val="183B31"/>
                          </a:solidFill>
                          <a:latin typeface="Arial" pitchFamily="34" charset="0"/>
                          <a:ea typeface="Arial" pitchFamily="34" charset="-122"/>
                          <a:cs typeface="Arial" pitchFamily="34" charset="-120"/>
                        </a:rPr>
                        <a:t>GET /api/rt/capability</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Runtime availability + actions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Detect availability before execution</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9496">
                <a:tc>
                  <a:txBody>
                    <a:bodyPr/>
                    <a:lstStyle/>
                    <a:p>
                      <a:pPr marL="0" indent="0">
                        <a:buNone/>
                      </a:pPr>
                      <a:r>
                        <a:rPr lang="en-US" sz="1700" dirty="0">
                          <a:solidFill>
                            <a:srgbClr val="183B31"/>
                          </a:solidFill>
                          <a:latin typeface="Arial" pitchFamily="34" charset="0"/>
                          <a:ea typeface="Arial" pitchFamily="34" charset="-122"/>
                          <a:cs typeface="Arial" pitchFamily="34" charset="-120"/>
                        </a:rPr>
                        <a:t>POST /api/rt/jobs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Captured job + projectId</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202 accepted with retained run record</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6"/>
                  </a:ext>
                </a:extLst>
              </a:tr>
              <a:tr h="539496">
                <a:tc>
                  <a:txBody>
                    <a:bodyPr/>
                    <a:lstStyle/>
                    <a:p>
                      <a:pPr marL="0" indent="0">
                        <a:buNone/>
                      </a:pPr>
                      <a:r>
                        <a:rPr lang="en-US" sz="1700" dirty="0">
                          <a:solidFill>
                            <a:srgbClr val="183B31"/>
                          </a:solidFill>
                          <a:latin typeface="Arial" pitchFamily="34" charset="0"/>
                          <a:ea typeface="Arial" pitchFamily="34" charset="-122"/>
                          <a:cs typeface="Arial" pitchFamily="34" charset="-120"/>
                        </a:rPr>
                        <a:t>POST /api/rt/jobs/{id}/…</a:t>
                      </a:r>
                      <a:endParaRPr lang="en-US" sz="1700" dirty="0">
                        <a:latin typeface="Arial" charset="0"/>
                        <a:ea typeface="Arial" charset="0"/>
                        <a:cs typeface="Arial" charset="0"/>
                      </a:endParaRPr>
                    </a:p>
                    <a:p>
                      <a:pPr marL="0" indent="0">
                        <a:buNone/>
                      </a:pPr>
                      <a:r>
                        <a:rPr lang="en-US" sz="1700" dirty="0">
                          <a:solidFill>
                            <a:srgbClr val="183B31"/>
                          </a:solidFill>
                          <a:latin typeface="Arial" pitchFamily="34" charset="0"/>
                          <a:ea typeface="Arial" pitchFamily="34" charset="-122"/>
                          <a:cs typeface="Arial" pitchFamily="34" charset="-120"/>
                        </a:rPr>
                        <a:t>cancel or retry</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 projectId }</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Retry the retained inputs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Text 2"/>
          <p:cNvSpPr/>
          <p:nvPr/>
        </p:nvSpPr>
        <p:spPr>
          <a:xfrm>
            <a:off x="521208" y="6364224"/>
            <a:ext cx="11018520" cy="210312"/>
          </a:xfrm>
          <a:prstGeom prst="rect">
            <a:avLst/>
          </a:prstGeom>
          <a:noFill/>
          <a:ln/>
        </p:spPr>
        <p:txBody>
          <a:bodyPr wrap="square" lIns="0" tIns="0" rIns="0" bIns="0" rtlCol="0" anchor="t"/>
          <a:lstStyle/>
          <a:p>
            <a:pPr marL="0" indent="0">
              <a:buNone/>
            </a:pPr>
            <a:r>
              <a:rPr lang="en-US" sz="1700" dirty="0">
                <a:solidFill>
                  <a:srgbClr val="64766B"/>
                </a:solidFill>
                <a:latin typeface="Arial" pitchFamily="34" charset="0"/>
                <a:ea typeface="Arial" pitchFamily="34" charset="-122"/>
                <a:cs typeface="Arial" pitchFamily="34" charset="-120"/>
              </a:rPr>
              <a:t>The API enforces local-client and Origin checks. Database files stay outside static serving.</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CFA"/>
        </a:solidFill>
        <a:effectLst/>
      </p:bgPr>
    </p:bg>
    <p:spTree>
      <p:nvGrpSpPr>
        <p:cNvPr id="1" name=""/>
        <p:cNvGrpSpPr/>
        <p:nvPr/>
      </p:nvGrpSpPr>
      <p:grpSpPr>
        <a:xfrm>
          <a:off x="0" y="0"/>
          <a:ext cx="0" cy="0"/>
          <a:chOff x="0" y="0"/>
          <a:chExt cx="0" cy="0"/>
        </a:xfrm>
      </p:grpSpPr>
      <p:sp>
        <p:nvSpPr>
          <p:cNvPr id="2" name="Text 0"/>
          <p:cNvSpPr/>
          <p:nvPr/>
        </p:nvSpPr>
        <p:spPr>
          <a:xfrm>
            <a:off x="502920" y="393192"/>
            <a:ext cx="11109960" cy="768096"/>
          </a:xfrm>
          <a:prstGeom prst="rect">
            <a:avLst/>
          </a:prstGeom>
          <a:noFill/>
          <a:ln/>
        </p:spPr>
        <p:txBody>
          <a:bodyPr wrap="square" lIns="0" tIns="0" rIns="0" bIns="0" rtlCol="0" anchor="t"/>
          <a:lstStyle/>
          <a:p>
            <a:pPr marL="0" indent="0">
              <a:buNone/>
            </a:pPr>
            <a:r>
              <a:rPr lang="en-US" sz="3400" b="1" dirty="0">
                <a:solidFill>
                  <a:srgbClr val="183B31"/>
                </a:solidFill>
                <a:latin typeface="Arial" pitchFamily="34" charset="0"/>
                <a:ea typeface="Arial" pitchFamily="34" charset="-122"/>
                <a:cs typeface="Arial" pitchFamily="34" charset="-120"/>
              </a:rPr>
              <a:t>Measurement evidence dependencies</a:t>
            </a:r>
            <a:endParaRPr lang="en-US" sz="3400" dirty="0"/>
          </a:p>
        </p:txBody>
      </p:sp>
      <p:sp>
        <p:nvSpPr>
          <p:cNvPr id="3" name="Text 1"/>
          <p:cNvSpPr/>
          <p:nvPr/>
        </p:nvSpPr>
        <p:spPr>
          <a:xfrm>
            <a:off x="11265408" y="6519672"/>
            <a:ext cx="411480" cy="164592"/>
          </a:xfrm>
          <a:prstGeom prst="rect">
            <a:avLst/>
          </a:prstGeom>
          <a:noFill/>
          <a:ln/>
        </p:spPr>
        <p:txBody>
          <a:bodyPr wrap="square" lIns="0" tIns="0" rIns="0" bIns="0" rtlCol="0" anchor="t"/>
          <a:lstStyle/>
          <a:p>
            <a:pPr marL="0" indent="0" algn="r">
              <a:buNone/>
            </a:pPr>
            <a:r>
              <a:rPr lang="en-US" sz="1100" dirty="0">
                <a:solidFill>
                  <a:srgbClr val="64766B"/>
                </a:solidFill>
                <a:latin typeface="Arial" pitchFamily="34" charset="0"/>
                <a:ea typeface="Arial" pitchFamily="34" charset="-122"/>
                <a:cs typeface="Arial" pitchFamily="34" charset="-120"/>
              </a:rPr>
              <a:t>18</a:t>
            </a:r>
            <a:endParaRPr lang="en-US" sz="1100" dirty="0"/>
          </a:p>
        </p:txBody>
      </p:sp>
      <p:pic>
        <p:nvPicPr>
          <p:cNvPr id="4" name="Image 0" descr="/Users/parkjangwon/Project/UI_UX_Mockup_Typescript/docs/design-review/measurement-library/library-desktop.png"/>
          <p:cNvPicPr>
            <a:picLocks noChangeAspect="1"/>
          </p:cNvPicPr>
          <p:nvPr/>
        </p:nvPicPr>
        <p:blipFill>
          <a:blip r:embed="rId3"/>
          <a:stretch>
            <a:fillRect/>
          </a:stretch>
        </p:blipFill>
        <p:spPr>
          <a:xfrm>
            <a:off x="606613" y="1307592"/>
            <a:ext cx="7281550" cy="5056632"/>
          </a:xfrm>
          <a:prstGeom prst="rect">
            <a:avLst/>
          </a:prstGeom>
        </p:spPr>
      </p:pic>
      <p:sp>
        <p:nvSpPr>
          <p:cNvPr id="5" name="Text 2"/>
          <p:cNvSpPr/>
          <p:nvPr/>
        </p:nvSpPr>
        <p:spPr>
          <a:xfrm>
            <a:off x="8229600" y="1554480"/>
            <a:ext cx="3410712" cy="310896"/>
          </a:xfrm>
          <a:prstGeom prst="rect">
            <a:avLst/>
          </a:prstGeom>
          <a:noFill/>
          <a:ln/>
        </p:spPr>
        <p:txBody>
          <a:bodyPr wrap="square" lIns="0" tIns="0" rIns="0" bIns="0" rtlCol="0" anchor="t"/>
          <a:lstStyle/>
          <a:p>
            <a:pPr marL="0" indent="0">
              <a:buNone/>
            </a:pPr>
            <a:r>
              <a:rPr lang="en-US" sz="2100" b="1" dirty="0">
                <a:solidFill>
                  <a:srgbClr val="183B31"/>
                </a:solidFill>
                <a:latin typeface="Arial" pitchFamily="34" charset="0"/>
                <a:ea typeface="Arial" pitchFamily="34" charset="-122"/>
                <a:cs typeface="Arial" pitchFamily="34" charset="-120"/>
              </a:rPr>
              <a:t>Import review</a:t>
            </a:r>
            <a:endParaRPr lang="en-US" sz="2100" dirty="0"/>
          </a:p>
        </p:txBody>
      </p:sp>
      <p:sp>
        <p:nvSpPr>
          <p:cNvPr id="6" name="Text 3"/>
          <p:cNvSpPr/>
          <p:nvPr/>
        </p:nvSpPr>
        <p:spPr>
          <a:xfrm>
            <a:off x="8229600" y="1947672"/>
            <a:ext cx="3410712" cy="1051560"/>
          </a:xfrm>
          <a:prstGeom prst="rect">
            <a:avLst/>
          </a:prstGeom>
          <a:noFill/>
          <a:ln/>
        </p:spPr>
        <p:txBody>
          <a:bodyPr wrap="square" lIns="0" tIns="0" rIns="0" bIns="0" rtlCol="0" anchor="t"/>
          <a:lstStyle/>
          <a:p>
            <a:pPr marL="0" indent="0">
              <a:buNone/>
            </a:pPr>
            <a:r>
              <a:rPr lang="en-US" sz="2000" dirty="0">
                <a:solidFill>
                  <a:srgbClr val="64766B"/>
                </a:solidFill>
                <a:latin typeface="Arial" pitchFamily="34" charset="0"/>
                <a:ea typeface="Arial" pitchFamily="34" charset="-122"/>
                <a:cs typeface="Arial" pitchFamily="34" charset="-120"/>
              </a:rPr>
              <a:t>Map columns and units, declare origin/date and inspect missing KPIs.</a:t>
            </a:r>
            <a:endParaRPr lang="en-US" sz="2000" dirty="0"/>
          </a:p>
        </p:txBody>
      </p:sp>
      <p:sp>
        <p:nvSpPr>
          <p:cNvPr id="7" name="Text 4"/>
          <p:cNvSpPr/>
          <p:nvPr/>
        </p:nvSpPr>
        <p:spPr>
          <a:xfrm>
            <a:off x="8229600" y="3017520"/>
            <a:ext cx="3410712" cy="310896"/>
          </a:xfrm>
          <a:prstGeom prst="rect">
            <a:avLst/>
          </a:prstGeom>
          <a:noFill/>
          <a:ln/>
        </p:spPr>
        <p:txBody>
          <a:bodyPr wrap="square" lIns="0" tIns="0" rIns="0" bIns="0" rtlCol="0" anchor="t"/>
          <a:lstStyle/>
          <a:p>
            <a:pPr marL="0" indent="0">
              <a:buNone/>
            </a:pPr>
            <a:r>
              <a:rPr lang="en-US" sz="2100" b="1" dirty="0">
                <a:solidFill>
                  <a:srgbClr val="183B31"/>
                </a:solidFill>
                <a:latin typeface="Arial" pitchFamily="34" charset="0"/>
                <a:ea typeface="Arial" pitchFamily="34" charset="-122"/>
                <a:cs typeface="Arial" pitchFamily="34" charset="-120"/>
              </a:rPr>
              <a:t>Retained version</a:t>
            </a:r>
            <a:endParaRPr lang="en-US" sz="2100" dirty="0"/>
          </a:p>
        </p:txBody>
      </p:sp>
      <p:sp>
        <p:nvSpPr>
          <p:cNvPr id="8" name="Text 5"/>
          <p:cNvSpPr/>
          <p:nvPr/>
        </p:nvSpPr>
        <p:spPr>
          <a:xfrm>
            <a:off x="8229600" y="3410712"/>
            <a:ext cx="3410712" cy="1051560"/>
          </a:xfrm>
          <a:prstGeom prst="rect">
            <a:avLst/>
          </a:prstGeom>
          <a:noFill/>
          <a:ln/>
        </p:spPr>
        <p:txBody>
          <a:bodyPr wrap="square" lIns="0" tIns="0" rIns="0" bIns="0" rtlCol="0" anchor="t"/>
          <a:lstStyle/>
          <a:p>
            <a:pPr marL="0" indent="0">
              <a:buNone/>
            </a:pPr>
            <a:r>
              <a:rPr lang="en-US" sz="2000" dirty="0">
                <a:solidFill>
                  <a:srgbClr val="64766B"/>
                </a:solidFill>
                <a:latin typeface="Arial" pitchFamily="34" charset="0"/>
                <a:ea typeface="Arial" pitchFamily="34" charset="-122"/>
                <a:cs typeface="Arial" pitchFamily="34" charset="-120"/>
              </a:rPr>
              <a:t>Keep original CSV, normalization recipe and source identity.</a:t>
            </a:r>
            <a:endParaRPr lang="en-US" sz="2000" dirty="0"/>
          </a:p>
        </p:txBody>
      </p:sp>
      <p:sp>
        <p:nvSpPr>
          <p:cNvPr id="9" name="Text 6"/>
          <p:cNvSpPr/>
          <p:nvPr/>
        </p:nvSpPr>
        <p:spPr>
          <a:xfrm>
            <a:off x="8229600" y="4480560"/>
            <a:ext cx="3410712" cy="310896"/>
          </a:xfrm>
          <a:prstGeom prst="rect">
            <a:avLst/>
          </a:prstGeom>
          <a:noFill/>
          <a:ln/>
        </p:spPr>
        <p:txBody>
          <a:bodyPr wrap="square" lIns="0" tIns="0" rIns="0" bIns="0" rtlCol="0" anchor="t"/>
          <a:lstStyle/>
          <a:p>
            <a:pPr marL="0" indent="0">
              <a:buNone/>
            </a:pPr>
            <a:r>
              <a:rPr lang="en-US" sz="2100" b="1" dirty="0">
                <a:solidFill>
                  <a:srgbClr val="183B31"/>
                </a:solidFill>
                <a:latin typeface="Arial" pitchFamily="34" charset="0"/>
                <a:ea typeface="Arial" pitchFamily="34" charset="-122"/>
                <a:cs typeface="Arial" pitchFamily="34" charset="-120"/>
              </a:rPr>
              <a:t>Working selection</a:t>
            </a:r>
            <a:endParaRPr lang="en-US" sz="2100" dirty="0"/>
          </a:p>
        </p:txBody>
      </p:sp>
      <p:sp>
        <p:nvSpPr>
          <p:cNvPr id="10" name="Text 7"/>
          <p:cNvSpPr/>
          <p:nvPr/>
        </p:nvSpPr>
        <p:spPr>
          <a:xfrm>
            <a:off x="8229600" y="4873752"/>
            <a:ext cx="3410712" cy="1051560"/>
          </a:xfrm>
          <a:prstGeom prst="rect">
            <a:avLst/>
          </a:prstGeom>
          <a:noFill/>
          <a:ln/>
        </p:spPr>
        <p:txBody>
          <a:bodyPr wrap="square" lIns="0" tIns="0" rIns="0" bIns="0" rtlCol="0" anchor="t"/>
          <a:lstStyle/>
          <a:p>
            <a:pPr marL="0" indent="0">
              <a:buNone/>
            </a:pPr>
            <a:r>
              <a:rPr lang="en-US" sz="2000" dirty="0">
                <a:solidFill>
                  <a:srgbClr val="64766B"/>
                </a:solidFill>
                <a:latin typeface="Arial" pitchFamily="34" charset="0"/>
                <a:ea typeface="Arial" pitchFamily="34" charset="-122"/>
                <a:cs typeface="Arial" pitchFamily="34" charset="-120"/>
              </a:rPr>
              <a:t>Share one dataset across analysis and map workspaces.</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CFA"/>
        </a:solidFill>
        <a:effectLst/>
      </p:bgPr>
    </p:bg>
    <p:spTree>
      <p:nvGrpSpPr>
        <p:cNvPr id="1" name=""/>
        <p:cNvGrpSpPr/>
        <p:nvPr/>
      </p:nvGrpSpPr>
      <p:grpSpPr>
        <a:xfrm>
          <a:off x="0" y="0"/>
          <a:ext cx="0" cy="0"/>
          <a:chOff x="0" y="0"/>
          <a:chExt cx="0" cy="0"/>
        </a:xfrm>
      </p:grpSpPr>
      <p:sp>
        <p:nvSpPr>
          <p:cNvPr id="2" name="Text 0"/>
          <p:cNvSpPr/>
          <p:nvPr/>
        </p:nvSpPr>
        <p:spPr>
          <a:xfrm>
            <a:off x="502920" y="393192"/>
            <a:ext cx="11109960" cy="768096"/>
          </a:xfrm>
          <a:prstGeom prst="rect">
            <a:avLst/>
          </a:prstGeom>
          <a:noFill/>
          <a:ln/>
        </p:spPr>
        <p:txBody>
          <a:bodyPr wrap="square" lIns="0" tIns="0" rIns="0" bIns="0" rtlCol="0" anchor="t"/>
          <a:lstStyle/>
          <a:p>
            <a:pPr marL="0" indent="0">
              <a:buNone/>
            </a:pPr>
            <a:r>
              <a:rPr lang="en-US" sz="3400" b="1" dirty="0">
                <a:solidFill>
                  <a:srgbClr val="183B31"/>
                </a:solidFill>
                <a:latin typeface="Arial" pitchFamily="34" charset="0"/>
                <a:ea typeface="Arial" pitchFamily="34" charset="-122"/>
                <a:cs typeface="Arial" pitchFamily="34" charset="-120"/>
              </a:rPr>
              <a:t>Frozen studies and candidates</a:t>
            </a:r>
            <a:endParaRPr lang="en-US" sz="3400" dirty="0"/>
          </a:p>
        </p:txBody>
      </p:sp>
      <p:sp>
        <p:nvSpPr>
          <p:cNvPr id="3" name="Text 1"/>
          <p:cNvSpPr/>
          <p:nvPr/>
        </p:nvSpPr>
        <p:spPr>
          <a:xfrm>
            <a:off x="11265408" y="6519672"/>
            <a:ext cx="411480" cy="164592"/>
          </a:xfrm>
          <a:prstGeom prst="rect">
            <a:avLst/>
          </a:prstGeom>
          <a:noFill/>
          <a:ln/>
        </p:spPr>
        <p:txBody>
          <a:bodyPr wrap="square" lIns="0" tIns="0" rIns="0" bIns="0" rtlCol="0" anchor="t"/>
          <a:lstStyle/>
          <a:p>
            <a:pPr marL="0" indent="0" algn="r">
              <a:buNone/>
            </a:pPr>
            <a:r>
              <a:rPr lang="en-US" sz="1100" dirty="0">
                <a:solidFill>
                  <a:srgbClr val="64766B"/>
                </a:solidFill>
                <a:latin typeface="Arial" pitchFamily="34" charset="0"/>
                <a:ea typeface="Arial" pitchFamily="34" charset="-122"/>
                <a:cs typeface="Arial" pitchFamily="34" charset="-120"/>
              </a:rPr>
              <a:t>19</a:t>
            </a:r>
            <a:endParaRPr lang="en-US" sz="1100" dirty="0"/>
          </a:p>
        </p:txBody>
      </p:sp>
      <p:pic>
        <p:nvPicPr>
          <p:cNvPr id="4" name="Image 0" descr="/Users/parkjangwon/Project/UI_UX_Mockup_Typescript/docs/design-review/ran-study/candidate-desktop.png"/>
          <p:cNvPicPr>
            <a:picLocks noChangeAspect="1"/>
          </p:cNvPicPr>
          <p:nvPr/>
        </p:nvPicPr>
        <p:blipFill>
          <a:blip r:embed="rId3"/>
          <a:stretch>
            <a:fillRect/>
          </a:stretch>
        </p:blipFill>
        <p:spPr>
          <a:xfrm>
            <a:off x="606613" y="1307592"/>
            <a:ext cx="7281550" cy="5056632"/>
          </a:xfrm>
          <a:prstGeom prst="rect">
            <a:avLst/>
          </a:prstGeom>
        </p:spPr>
      </p:pic>
      <p:sp>
        <p:nvSpPr>
          <p:cNvPr id="5" name="Text 2"/>
          <p:cNvSpPr/>
          <p:nvPr/>
        </p:nvSpPr>
        <p:spPr>
          <a:xfrm>
            <a:off x="8229600" y="1554480"/>
            <a:ext cx="3410712" cy="310896"/>
          </a:xfrm>
          <a:prstGeom prst="rect">
            <a:avLst/>
          </a:prstGeom>
          <a:noFill/>
          <a:ln/>
        </p:spPr>
        <p:txBody>
          <a:bodyPr wrap="square" lIns="0" tIns="0" rIns="0" bIns="0" rtlCol="0" anchor="t"/>
          <a:lstStyle/>
          <a:p>
            <a:pPr marL="0" indent="0">
              <a:buNone/>
            </a:pPr>
            <a:r>
              <a:rPr lang="en-US" sz="2100" b="1" dirty="0">
                <a:solidFill>
                  <a:srgbClr val="183B31"/>
                </a:solidFill>
                <a:latin typeface="Arial" pitchFamily="34" charset="0"/>
                <a:ea typeface="Arial" pitchFamily="34" charset="-122"/>
                <a:cs typeface="Arial" pitchFamily="34" charset="-120"/>
              </a:rPr>
              <a:t>Definition history</a:t>
            </a:r>
            <a:endParaRPr lang="en-US" sz="2100" dirty="0"/>
          </a:p>
        </p:txBody>
      </p:sp>
      <p:sp>
        <p:nvSpPr>
          <p:cNvPr id="6" name="Text 3"/>
          <p:cNvSpPr/>
          <p:nvPr/>
        </p:nvSpPr>
        <p:spPr>
          <a:xfrm>
            <a:off x="8229600" y="1947672"/>
            <a:ext cx="3410712" cy="1097280"/>
          </a:xfrm>
          <a:prstGeom prst="rect">
            <a:avLst/>
          </a:prstGeom>
          <a:noFill/>
          <a:ln/>
        </p:spPr>
        <p:txBody>
          <a:bodyPr wrap="square" lIns="0" tIns="0" rIns="0" bIns="0" rtlCol="0" anchor="t"/>
          <a:lstStyle/>
          <a:p>
            <a:pPr marL="0" indent="0">
              <a:buNone/>
            </a:pPr>
            <a:r>
              <a:rPr lang="en-US" sz="2000" dirty="0">
                <a:solidFill>
                  <a:srgbClr val="64766B"/>
                </a:solidFill>
                <a:latin typeface="Arial" pitchFamily="34" charset="0"/>
                <a:ea typeface="Arial" pitchFamily="34" charset="-122"/>
                <a:cs typeface="Arial" pitchFamily="34" charset="-120"/>
              </a:rPr>
              <a:t>Record the decision, RAT, carrier and review window.</a:t>
            </a:r>
            <a:endParaRPr lang="en-US" sz="2000" dirty="0"/>
          </a:p>
        </p:txBody>
      </p:sp>
      <p:sp>
        <p:nvSpPr>
          <p:cNvPr id="7" name="Text 4"/>
          <p:cNvSpPr/>
          <p:nvPr/>
        </p:nvSpPr>
        <p:spPr>
          <a:xfrm>
            <a:off x="8229600" y="3063240"/>
            <a:ext cx="3410712" cy="310896"/>
          </a:xfrm>
          <a:prstGeom prst="rect">
            <a:avLst/>
          </a:prstGeom>
          <a:noFill/>
          <a:ln/>
        </p:spPr>
        <p:txBody>
          <a:bodyPr wrap="square" lIns="0" tIns="0" rIns="0" bIns="0" rtlCol="0" anchor="t"/>
          <a:lstStyle/>
          <a:p>
            <a:pPr marL="0" indent="0">
              <a:buNone/>
            </a:pPr>
            <a:r>
              <a:rPr lang="en-US" sz="2100" b="1" dirty="0">
                <a:solidFill>
                  <a:srgbClr val="183B31"/>
                </a:solidFill>
                <a:latin typeface="Arial" pitchFamily="34" charset="0"/>
                <a:ea typeface="Arial" pitchFamily="34" charset="-122"/>
                <a:cs typeface="Arial" pitchFamily="34" charset="-120"/>
              </a:rPr>
              <a:t>Baseline and revision</a:t>
            </a:r>
            <a:endParaRPr lang="en-US" sz="2100" dirty="0"/>
          </a:p>
        </p:txBody>
      </p:sp>
      <p:sp>
        <p:nvSpPr>
          <p:cNvPr id="8" name="Text 5"/>
          <p:cNvSpPr/>
          <p:nvPr/>
        </p:nvSpPr>
        <p:spPr>
          <a:xfrm>
            <a:off x="8229600" y="3456432"/>
            <a:ext cx="3410712" cy="1097280"/>
          </a:xfrm>
          <a:prstGeom prst="rect">
            <a:avLst/>
          </a:prstGeom>
          <a:noFill/>
          <a:ln/>
        </p:spPr>
        <p:txBody>
          <a:bodyPr wrap="square" lIns="0" tIns="0" rIns="0" bIns="0" rtlCol="0" anchor="t"/>
          <a:lstStyle/>
          <a:p>
            <a:pPr marL="0" indent="0">
              <a:buNone/>
            </a:pPr>
            <a:r>
              <a:rPr lang="en-US" sz="2000" dirty="0">
                <a:solidFill>
                  <a:srgbClr val="64766B"/>
                </a:solidFill>
                <a:latin typeface="Arial" pitchFamily="34" charset="0"/>
                <a:ea typeface="Arial" pitchFamily="34" charset="-122"/>
                <a:cs typeface="Arial" pitchFamily="34" charset="-120"/>
              </a:rPr>
              <a:t>Retain inputs and append changes with content digests.</a:t>
            </a:r>
            <a:endParaRPr lang="en-US" sz="2000" dirty="0"/>
          </a:p>
        </p:txBody>
      </p:sp>
      <p:sp>
        <p:nvSpPr>
          <p:cNvPr id="9" name="Text 6"/>
          <p:cNvSpPr/>
          <p:nvPr/>
        </p:nvSpPr>
        <p:spPr>
          <a:xfrm>
            <a:off x="8229600" y="4572000"/>
            <a:ext cx="3410712" cy="310896"/>
          </a:xfrm>
          <a:prstGeom prst="rect">
            <a:avLst/>
          </a:prstGeom>
          <a:noFill/>
          <a:ln/>
        </p:spPr>
        <p:txBody>
          <a:bodyPr wrap="square" lIns="0" tIns="0" rIns="0" bIns="0" rtlCol="0" anchor="t"/>
          <a:lstStyle/>
          <a:p>
            <a:pPr marL="0" indent="0">
              <a:buNone/>
            </a:pPr>
            <a:r>
              <a:rPr lang="en-US" sz="2100" b="1" dirty="0">
                <a:solidFill>
                  <a:srgbClr val="183B31"/>
                </a:solidFill>
                <a:latin typeface="Arial" pitchFamily="34" charset="0"/>
                <a:ea typeface="Arial" pitchFamily="34" charset="-122"/>
                <a:cs typeface="Arial" pitchFamily="34" charset="-120"/>
              </a:rPr>
              <a:t>Execution support</a:t>
            </a:r>
            <a:endParaRPr lang="en-US" sz="2100" dirty="0"/>
          </a:p>
        </p:txBody>
      </p:sp>
      <p:sp>
        <p:nvSpPr>
          <p:cNvPr id="10" name="Text 7"/>
          <p:cNvSpPr/>
          <p:nvPr/>
        </p:nvSpPr>
        <p:spPr>
          <a:xfrm>
            <a:off x="8229600" y="4965192"/>
            <a:ext cx="3410712" cy="1097280"/>
          </a:xfrm>
          <a:prstGeom prst="rect">
            <a:avLst/>
          </a:prstGeom>
          <a:noFill/>
          <a:ln/>
        </p:spPr>
        <p:txBody>
          <a:bodyPr wrap="square" lIns="0" tIns="0" rIns="0" bIns="0" rtlCol="0" anchor="t"/>
          <a:lstStyle/>
          <a:p>
            <a:pPr marL="0" indent="0">
              <a:buNone/>
            </a:pPr>
            <a:r>
              <a:rPr lang="en-US" sz="2000" dirty="0">
                <a:solidFill>
                  <a:srgbClr val="64766B"/>
                </a:solidFill>
                <a:latin typeface="Arial" pitchFamily="34" charset="0"/>
                <a:ea typeface="Arial" pitchFamily="34" charset="-122"/>
                <a:cs typeface="Arial" pitchFamily="34" charset="-120"/>
              </a:rPr>
              <a:t>Candidate input edits must fit the current solver’s supported model.</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CFA"/>
        </a:solidFill>
        <a:effectLst/>
      </p:bgPr>
    </p:bg>
    <p:spTree>
      <p:nvGrpSpPr>
        <p:cNvPr id="1" name=""/>
        <p:cNvGrpSpPr/>
        <p:nvPr/>
      </p:nvGrpSpPr>
      <p:grpSpPr>
        <a:xfrm>
          <a:off x="0" y="0"/>
          <a:ext cx="0" cy="0"/>
          <a:chOff x="0" y="0"/>
          <a:chExt cx="0" cy="0"/>
        </a:xfrm>
      </p:grpSpPr>
      <p:sp>
        <p:nvSpPr>
          <p:cNvPr id="2" name="Text 0"/>
          <p:cNvSpPr/>
          <p:nvPr/>
        </p:nvSpPr>
        <p:spPr>
          <a:xfrm>
            <a:off x="502920" y="393192"/>
            <a:ext cx="11109960" cy="768096"/>
          </a:xfrm>
          <a:prstGeom prst="rect">
            <a:avLst/>
          </a:prstGeom>
          <a:noFill/>
          <a:ln/>
        </p:spPr>
        <p:txBody>
          <a:bodyPr wrap="square" lIns="0" tIns="0" rIns="0" bIns="0" rtlCol="0" anchor="t"/>
          <a:lstStyle/>
          <a:p>
            <a:pPr marL="0" indent="0">
              <a:buNone/>
            </a:pPr>
            <a:r>
              <a:rPr lang="en-US" sz="3400" b="1" dirty="0">
                <a:solidFill>
                  <a:srgbClr val="183B31"/>
                </a:solidFill>
                <a:latin typeface="Arial" pitchFamily="34" charset="0"/>
                <a:ea typeface="Arial" pitchFamily="34" charset="-122"/>
                <a:cs typeface="Arial" pitchFamily="34" charset="-120"/>
              </a:rPr>
              <a:t>Run lifecycle and recovery</a:t>
            </a:r>
            <a:endParaRPr lang="en-US" sz="3400" dirty="0"/>
          </a:p>
        </p:txBody>
      </p:sp>
      <p:sp>
        <p:nvSpPr>
          <p:cNvPr id="3" name="Text 1"/>
          <p:cNvSpPr/>
          <p:nvPr/>
        </p:nvSpPr>
        <p:spPr>
          <a:xfrm>
            <a:off x="11265408" y="6519672"/>
            <a:ext cx="411480" cy="164592"/>
          </a:xfrm>
          <a:prstGeom prst="rect">
            <a:avLst/>
          </a:prstGeom>
          <a:noFill/>
          <a:ln/>
        </p:spPr>
        <p:txBody>
          <a:bodyPr wrap="square" lIns="0" tIns="0" rIns="0" bIns="0" rtlCol="0" anchor="t"/>
          <a:lstStyle/>
          <a:p>
            <a:pPr marL="0" indent="0" algn="r">
              <a:buNone/>
            </a:pPr>
            <a:r>
              <a:rPr lang="en-US" sz="1100" dirty="0">
                <a:solidFill>
                  <a:srgbClr val="64766B"/>
                </a:solidFill>
                <a:latin typeface="Arial" pitchFamily="34" charset="0"/>
                <a:ea typeface="Arial" pitchFamily="34" charset="-122"/>
                <a:cs typeface="Arial" pitchFamily="34" charset="-120"/>
              </a:rPr>
              <a:t>20</a:t>
            </a:r>
            <a:endParaRPr lang="en-US" sz="1100" dirty="0"/>
          </a:p>
        </p:txBody>
      </p:sp>
      <p:pic>
        <p:nvPicPr>
          <p:cNvPr id="4" name="Image 0" descr="/Users/parkjangwon/Project/UI_UX_Mockup_Typescript/docs/design-review/ran-runs/recovery-desktop.png"/>
          <p:cNvPicPr>
            <a:picLocks noChangeAspect="1"/>
          </p:cNvPicPr>
          <p:nvPr/>
        </p:nvPicPr>
        <p:blipFill>
          <a:blip r:embed="rId3"/>
          <a:stretch>
            <a:fillRect/>
          </a:stretch>
        </p:blipFill>
        <p:spPr>
          <a:xfrm>
            <a:off x="521208" y="1351788"/>
            <a:ext cx="7452360" cy="4968240"/>
          </a:xfrm>
          <a:prstGeom prst="rect">
            <a:avLst/>
          </a:prstGeom>
        </p:spPr>
      </p:pic>
      <p:sp>
        <p:nvSpPr>
          <p:cNvPr id="5" name="Text 2"/>
          <p:cNvSpPr/>
          <p:nvPr/>
        </p:nvSpPr>
        <p:spPr>
          <a:xfrm>
            <a:off x="8229600" y="1554480"/>
            <a:ext cx="3410712" cy="310896"/>
          </a:xfrm>
          <a:prstGeom prst="rect">
            <a:avLst/>
          </a:prstGeom>
          <a:noFill/>
          <a:ln/>
        </p:spPr>
        <p:txBody>
          <a:bodyPr wrap="square" lIns="0" tIns="0" rIns="0" bIns="0" rtlCol="0" anchor="t"/>
          <a:lstStyle/>
          <a:p>
            <a:pPr marL="0" indent="0">
              <a:buNone/>
            </a:pPr>
            <a:r>
              <a:rPr lang="en-US" sz="2100" b="1" dirty="0">
                <a:solidFill>
                  <a:srgbClr val="183B31"/>
                </a:solidFill>
                <a:latin typeface="Arial" pitchFamily="34" charset="0"/>
                <a:ea typeface="Arial" pitchFamily="34" charset="-122"/>
                <a:cs typeface="Arial" pitchFamily="34" charset="-120"/>
              </a:rPr>
              <a:t>Retained lifecycle</a:t>
            </a:r>
            <a:endParaRPr lang="en-US" sz="2100" dirty="0"/>
          </a:p>
        </p:txBody>
      </p:sp>
      <p:sp>
        <p:nvSpPr>
          <p:cNvPr id="6" name="Text 3"/>
          <p:cNvSpPr/>
          <p:nvPr/>
        </p:nvSpPr>
        <p:spPr>
          <a:xfrm>
            <a:off x="8229600" y="1947672"/>
            <a:ext cx="3410712" cy="1097280"/>
          </a:xfrm>
          <a:prstGeom prst="rect">
            <a:avLst/>
          </a:prstGeom>
          <a:noFill/>
          <a:ln/>
        </p:spPr>
        <p:txBody>
          <a:bodyPr wrap="square" lIns="0" tIns="0" rIns="0" bIns="0" rtlCol="0" anchor="t"/>
          <a:lstStyle/>
          <a:p>
            <a:pPr marL="0" indent="0">
              <a:buNone/>
            </a:pPr>
            <a:r>
              <a:rPr lang="en-US" sz="2000" dirty="0">
                <a:solidFill>
                  <a:srgbClr val="64766B"/>
                </a:solidFill>
                <a:latin typeface="Arial" pitchFamily="34" charset="0"/>
                <a:ea typeface="Arial" pitchFamily="34" charset="-122"/>
                <a:cs typeface="Arial" pitchFamily="34" charset="-120"/>
              </a:rPr>
              <a:t>SQLite stores the captured request, result and ordered events.</a:t>
            </a:r>
            <a:endParaRPr lang="en-US" sz="2000" dirty="0"/>
          </a:p>
        </p:txBody>
      </p:sp>
      <p:sp>
        <p:nvSpPr>
          <p:cNvPr id="7" name="Text 4"/>
          <p:cNvSpPr/>
          <p:nvPr/>
        </p:nvSpPr>
        <p:spPr>
          <a:xfrm>
            <a:off x="8229600" y="3063240"/>
            <a:ext cx="3410712" cy="310896"/>
          </a:xfrm>
          <a:prstGeom prst="rect">
            <a:avLst/>
          </a:prstGeom>
          <a:noFill/>
          <a:ln/>
        </p:spPr>
        <p:txBody>
          <a:bodyPr wrap="square" lIns="0" tIns="0" rIns="0" bIns="0" rtlCol="0" anchor="t"/>
          <a:lstStyle/>
          <a:p>
            <a:pPr marL="0" indent="0">
              <a:buNone/>
            </a:pPr>
            <a:r>
              <a:rPr lang="en-US" sz="2100" b="1" dirty="0">
                <a:solidFill>
                  <a:srgbClr val="183B31"/>
                </a:solidFill>
                <a:latin typeface="Arial" pitchFamily="34" charset="0"/>
                <a:ea typeface="Arial" pitchFamily="34" charset="-122"/>
                <a:cs typeface="Arial" pitchFamily="34" charset="-120"/>
              </a:rPr>
              <a:t>Cancellation</a:t>
            </a:r>
            <a:endParaRPr lang="en-US" sz="2100" dirty="0"/>
          </a:p>
        </p:txBody>
      </p:sp>
      <p:sp>
        <p:nvSpPr>
          <p:cNvPr id="8" name="Text 5"/>
          <p:cNvSpPr/>
          <p:nvPr/>
        </p:nvSpPr>
        <p:spPr>
          <a:xfrm>
            <a:off x="8229600" y="3456432"/>
            <a:ext cx="3410712" cy="1097280"/>
          </a:xfrm>
          <a:prstGeom prst="rect">
            <a:avLst/>
          </a:prstGeom>
          <a:noFill/>
          <a:ln/>
        </p:spPr>
        <p:txBody>
          <a:bodyPr wrap="square" lIns="0" tIns="0" rIns="0" bIns="0" rtlCol="0" anchor="t"/>
          <a:lstStyle/>
          <a:p>
            <a:pPr marL="0" indent="0">
              <a:buNone/>
            </a:pPr>
            <a:r>
              <a:rPr lang="en-US" sz="2000" dirty="0">
                <a:solidFill>
                  <a:srgbClr val="64766B"/>
                </a:solidFill>
                <a:latin typeface="Arial" pitchFamily="34" charset="0"/>
                <a:ea typeface="Arial" pitchFamily="34" charset="-122"/>
                <a:cs typeface="Arial" pitchFamily="34" charset="-120"/>
              </a:rPr>
              <a:t>Keep the worker slot until the worker has stopped.</a:t>
            </a:r>
            <a:endParaRPr lang="en-US" sz="2000" dirty="0"/>
          </a:p>
        </p:txBody>
      </p:sp>
      <p:sp>
        <p:nvSpPr>
          <p:cNvPr id="9" name="Text 6"/>
          <p:cNvSpPr/>
          <p:nvPr/>
        </p:nvSpPr>
        <p:spPr>
          <a:xfrm>
            <a:off x="8229600" y="4572000"/>
            <a:ext cx="3410712" cy="310896"/>
          </a:xfrm>
          <a:prstGeom prst="rect">
            <a:avLst/>
          </a:prstGeom>
          <a:noFill/>
          <a:ln/>
        </p:spPr>
        <p:txBody>
          <a:bodyPr wrap="square" lIns="0" tIns="0" rIns="0" bIns="0" rtlCol="0" anchor="t"/>
          <a:lstStyle/>
          <a:p>
            <a:pPr marL="0" indent="0">
              <a:buNone/>
            </a:pPr>
            <a:r>
              <a:rPr lang="en-US" sz="2100" b="1" dirty="0">
                <a:solidFill>
                  <a:srgbClr val="183B31"/>
                </a:solidFill>
                <a:latin typeface="Arial" pitchFamily="34" charset="0"/>
                <a:ea typeface="Arial" pitchFamily="34" charset="-122"/>
                <a:cs typeface="Arial" pitchFamily="34" charset="-120"/>
              </a:rPr>
              <a:t>Exact retry</a:t>
            </a:r>
            <a:endParaRPr lang="en-US" sz="2100" dirty="0"/>
          </a:p>
        </p:txBody>
      </p:sp>
      <p:sp>
        <p:nvSpPr>
          <p:cNvPr id="10" name="Text 7"/>
          <p:cNvSpPr/>
          <p:nvPr/>
        </p:nvSpPr>
        <p:spPr>
          <a:xfrm>
            <a:off x="8229600" y="4965192"/>
            <a:ext cx="3410712" cy="1097280"/>
          </a:xfrm>
          <a:prstGeom prst="rect">
            <a:avLst/>
          </a:prstGeom>
          <a:noFill/>
          <a:ln/>
        </p:spPr>
        <p:txBody>
          <a:bodyPr wrap="square" lIns="0" tIns="0" rIns="0" bIns="0" rtlCol="0" anchor="t"/>
          <a:lstStyle/>
          <a:p>
            <a:pPr marL="0" indent="0">
              <a:buNone/>
            </a:pPr>
            <a:r>
              <a:rPr lang="en-US" sz="2000" dirty="0">
                <a:solidFill>
                  <a:srgbClr val="64766B"/>
                </a:solidFill>
                <a:latin typeface="Arial" pitchFamily="34" charset="0"/>
                <a:ea typeface="Arial" pitchFamily="34" charset="-122"/>
                <a:cs typeface="Arial" pitchFamily="34" charset="-120"/>
              </a:rPr>
              <a:t>Create a linked run from frozen inputs, excluding working-network edits.</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CFA"/>
        </a:solidFill>
        <a:effectLst/>
      </p:bgPr>
    </p:bg>
    <p:spTree>
      <p:nvGrpSpPr>
        <p:cNvPr id="1" name=""/>
        <p:cNvGrpSpPr/>
        <p:nvPr/>
      </p:nvGrpSpPr>
      <p:grpSpPr>
        <a:xfrm>
          <a:off x="0" y="0"/>
          <a:ext cx="0" cy="0"/>
          <a:chOff x="0" y="0"/>
          <a:chExt cx="0" cy="0"/>
        </a:xfrm>
      </p:grpSpPr>
      <p:sp>
        <p:nvSpPr>
          <p:cNvPr id="2" name="Text 0"/>
          <p:cNvSpPr/>
          <p:nvPr/>
        </p:nvSpPr>
        <p:spPr>
          <a:xfrm>
            <a:off x="502920" y="393192"/>
            <a:ext cx="11109960" cy="768096"/>
          </a:xfrm>
          <a:prstGeom prst="rect">
            <a:avLst/>
          </a:prstGeom>
          <a:noFill/>
          <a:ln/>
        </p:spPr>
        <p:txBody>
          <a:bodyPr wrap="square" lIns="0" tIns="0" rIns="0" bIns="0" rtlCol="0" anchor="t"/>
          <a:lstStyle/>
          <a:p>
            <a:pPr marL="0" indent="0">
              <a:buNone/>
            </a:pPr>
            <a:r>
              <a:rPr lang="en-US" sz="3400" b="1" dirty="0">
                <a:solidFill>
                  <a:srgbClr val="183B31"/>
                </a:solidFill>
                <a:latin typeface="Arial" pitchFamily="34" charset="0"/>
                <a:ea typeface="Arial" pitchFamily="34" charset="-122"/>
                <a:cs typeface="Arial" pitchFamily="34" charset="-120"/>
              </a:rPr>
              <a:t>Optional Sionna-RT environment</a:t>
            </a:r>
            <a:endParaRPr lang="en-US" sz="3400" dirty="0"/>
          </a:p>
        </p:txBody>
      </p:sp>
      <p:sp>
        <p:nvSpPr>
          <p:cNvPr id="3" name="Text 1"/>
          <p:cNvSpPr/>
          <p:nvPr/>
        </p:nvSpPr>
        <p:spPr>
          <a:xfrm>
            <a:off x="11265408" y="6519672"/>
            <a:ext cx="411480" cy="164592"/>
          </a:xfrm>
          <a:prstGeom prst="rect">
            <a:avLst/>
          </a:prstGeom>
          <a:noFill/>
          <a:ln/>
        </p:spPr>
        <p:txBody>
          <a:bodyPr wrap="square" lIns="0" tIns="0" rIns="0" bIns="0" rtlCol="0" anchor="t"/>
          <a:lstStyle/>
          <a:p>
            <a:pPr marL="0" indent="0" algn="r">
              <a:buNone/>
            </a:pPr>
            <a:r>
              <a:rPr lang="en-US" sz="1100" dirty="0">
                <a:solidFill>
                  <a:srgbClr val="64766B"/>
                </a:solidFill>
                <a:latin typeface="Arial" pitchFamily="34" charset="0"/>
                <a:ea typeface="Arial" pitchFamily="34" charset="-122"/>
                <a:cs typeface="Arial" pitchFamily="34" charset="-120"/>
              </a:rPr>
              <a:t>21</a:t>
            </a:r>
            <a:endParaRPr lang="en-US" sz="1100" dirty="0"/>
          </a:p>
        </p:txBody>
      </p:sp>
      <p:sp>
        <p:nvSpPr>
          <p:cNvPr id="4" name="Text 2"/>
          <p:cNvSpPr/>
          <p:nvPr/>
        </p:nvSpPr>
        <p:spPr>
          <a:xfrm>
            <a:off x="521208" y="1581912"/>
            <a:ext cx="5349240" cy="1874520"/>
          </a:xfrm>
          <a:prstGeom prst="rect">
            <a:avLst/>
          </a:prstGeom>
          <a:noFill/>
          <a:ln/>
        </p:spPr>
        <p:txBody>
          <a:bodyPr wrap="square" lIns="0" tIns="0" rIns="0" bIns="0" rtlCol="0" anchor="t"/>
          <a:lstStyle/>
          <a:p>
            <a:pPr marL="0" indent="0">
              <a:buNone/>
            </a:pPr>
            <a:r>
              <a:rPr lang="en-US" sz="2600" dirty="0">
                <a:solidFill>
                  <a:srgbClr val="087E68"/>
                </a:solidFill>
                <a:latin typeface="Arial" pitchFamily="34" charset="0"/>
                <a:ea typeface="Arial" pitchFamily="34" charset="-122"/>
                <a:cs typeface="Arial" pitchFamily="34" charset="-120"/>
              </a:rPr>
              <a:t>npm run rt:setup</a:t>
            </a:r>
            <a:endParaRPr lang="en-US" sz="2600" dirty="0"/>
          </a:p>
          <a:p>
            <a:pPr marL="0" indent="0">
              <a:buNone/>
            </a:pPr>
            <a:r>
              <a:rPr lang="en-US" sz="2600" dirty="0">
                <a:solidFill>
                  <a:srgbClr val="087E68"/>
                </a:solidFill>
                <a:latin typeface="Arial" pitchFamily="34" charset="0"/>
                <a:ea typeface="Arial" pitchFamily="34" charset="-122"/>
                <a:cs typeface="Arial" pitchFamily="34" charset="-120"/>
              </a:rPr>
              <a:t>npm run test:rt</a:t>
            </a:r>
            <a:endParaRPr lang="en-US" sz="2600" dirty="0"/>
          </a:p>
          <a:p>
            <a:pPr marL="0" indent="0">
              <a:buNone/>
            </a:pPr>
            <a:r>
              <a:rPr lang="en-US" sz="2600" dirty="0">
                <a:solidFill>
                  <a:srgbClr val="087E68"/>
                </a:solidFill>
                <a:latin typeface="Arial" pitchFamily="34" charset="0"/>
                <a:ea typeface="Arial" pitchFamily="34" charset="-122"/>
                <a:cs typeface="Arial" pitchFamily="34" charset="-120"/>
              </a:rPr>
              <a:t>npm start</a:t>
            </a:r>
            <a:endParaRPr lang="en-US" sz="2600" dirty="0"/>
          </a:p>
        </p:txBody>
      </p:sp>
      <p:sp>
        <p:nvSpPr>
          <p:cNvPr id="5" name="Text 3"/>
          <p:cNvSpPr/>
          <p:nvPr/>
        </p:nvSpPr>
        <p:spPr>
          <a:xfrm>
            <a:off x="6473952" y="1618488"/>
            <a:ext cx="5166360" cy="1645920"/>
          </a:xfrm>
          <a:prstGeom prst="rect">
            <a:avLst/>
          </a:prstGeom>
          <a:noFill/>
          <a:ln/>
        </p:spPr>
        <p:txBody>
          <a:bodyPr wrap="square" lIns="0" tIns="0" rIns="0" bIns="0" rtlCol="0" anchor="t"/>
          <a:lstStyle/>
          <a:p>
            <a:pPr marL="0" indent="0">
              <a:buNone/>
            </a:pPr>
            <a:r>
              <a:rPr lang="en-US" sz="2300" dirty="0">
                <a:solidFill>
                  <a:srgbClr val="183B31"/>
                </a:solidFill>
                <a:latin typeface="Arial" pitchFamily="34" charset="0"/>
                <a:ea typeface="Arial" pitchFamily="34" charset="-122"/>
                <a:cs typeface="Arial" pitchFamily="34" charset="-120"/>
              </a:rPr>
              <a:t>Separate Python 3.13 environment</a:t>
            </a:r>
            <a:endParaRPr lang="en-US" sz="2300" dirty="0"/>
          </a:p>
          <a:p>
            <a:pPr marL="0" indent="0">
              <a:buNone/>
            </a:pPr>
            <a:r>
              <a:rPr lang="en-US" sz="2300" dirty="0">
                <a:solidFill>
                  <a:srgbClr val="183B31"/>
                </a:solidFill>
                <a:latin typeface="Arial" pitchFamily="34" charset="0"/>
                <a:ea typeface="Arial" pitchFamily="34" charset="-122"/>
                <a:cs typeface="Arial" pitchFamily="34" charset="-120"/>
              </a:rPr>
              <a:t>Sionna-RT 2.1.0</a:t>
            </a:r>
            <a:endParaRPr lang="en-US" sz="2300" dirty="0"/>
          </a:p>
          <a:p>
            <a:pPr marL="0" indent="0">
              <a:buNone/>
            </a:pPr>
            <a:r>
              <a:rPr lang="en-US" sz="2300" dirty="0">
                <a:solidFill>
                  <a:srgbClr val="183B31"/>
                </a:solidFill>
                <a:latin typeface="Arial" pitchFamily="34" charset="0"/>
                <a:ea typeface="Arial" pitchFamily="34" charset="-122"/>
                <a:cs typeface="Arial" pitchFamily="34" charset="-120"/>
              </a:rPr>
              <a:t>Working native CPU/GPU backend</a:t>
            </a:r>
            <a:endParaRPr lang="en-US" sz="2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21208" y="3703320"/>
          <a:ext cx="11128248" cy="2468880"/>
        </p:xfrm>
        <a:graphic>
          <a:graphicData uri="http://schemas.openxmlformats.org/drawingml/2006/table">
            <a:tbl>
              <a:tblPr/>
              <a:tblGrid>
                <a:gridCol w="2743200">
                  <a:extLst>
                    <a:ext uri="{9D8B030D-6E8A-4147-A177-3AD203B41FA5}">
                      <a16:colId xmlns:a16="http://schemas.microsoft.com/office/drawing/2014/main" val="20000"/>
                    </a:ext>
                  </a:extLst>
                </a:gridCol>
                <a:gridCol w="8385048">
                  <a:extLst>
                    <a:ext uri="{9D8B030D-6E8A-4147-A177-3AD203B41FA5}">
                      <a16:colId xmlns:a16="http://schemas.microsoft.com/office/drawing/2014/main" val="20001"/>
                    </a:ext>
                  </a:extLst>
                </a:gridCol>
              </a:tblGrid>
              <a:tr h="493776">
                <a:tc>
                  <a:txBody>
                    <a:bodyPr/>
                    <a:lstStyle/>
                    <a:p>
                      <a:pPr marL="0" indent="0">
                        <a:buNone/>
                      </a:pPr>
                      <a:r>
                        <a:rPr lang="en-US" sz="1700" b="1" dirty="0">
                          <a:solidFill>
                            <a:srgbClr val="FFFFFF"/>
                          </a:solidFill>
                          <a:latin typeface="Arial" pitchFamily="34" charset="0"/>
                          <a:ea typeface="Arial" pitchFamily="34" charset="-122"/>
                          <a:cs typeface="Arial" pitchFamily="34" charset="-120"/>
                        </a:rPr>
                        <a:t>Bound</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tc>
                  <a:txBody>
                    <a:bodyPr/>
                    <a:lstStyle/>
                    <a:p>
                      <a:pPr marL="0" indent="0">
                        <a:buNone/>
                      </a:pPr>
                      <a:r>
                        <a:rPr lang="en-US" sz="1700" b="1" dirty="0">
                          <a:solidFill>
                            <a:srgbClr val="FFFFFF"/>
                          </a:solidFill>
                          <a:latin typeface="Arial" pitchFamily="34" charset="0"/>
                          <a:ea typeface="Arial" pitchFamily="34" charset="-122"/>
                          <a:cs typeface="Arial" pitchFamily="34" charset="-120"/>
                        </a:rPr>
                        <a:t>Current worker contract</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extLst>
                  <a:ext uri="{0D108BD9-81ED-4DB2-BD59-A6C34878D82A}">
                    <a16:rowId xmlns:a16="http://schemas.microsoft.com/office/drawing/2014/main" val="10000"/>
                  </a:ext>
                </a:extLst>
              </a:tr>
              <a:tr h="493776">
                <a:tc>
                  <a:txBody>
                    <a:bodyPr/>
                    <a:lstStyle/>
                    <a:p>
                      <a:pPr marL="0" indent="0">
                        <a:buNone/>
                      </a:pPr>
                      <a:r>
                        <a:rPr lang="en-US" sz="1700" dirty="0">
                          <a:solidFill>
                            <a:srgbClr val="183B31"/>
                          </a:solidFill>
                          <a:latin typeface="Arial" pitchFamily="34" charset="0"/>
                          <a:ea typeface="Arial" pitchFamily="34" charset="-122"/>
                          <a:cs typeface="Arial" pitchFamily="34" charset="-120"/>
                        </a:rPr>
                        <a:t>Input geometry</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Up to 100 WGS84 building footprints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3776">
                <a:tc>
                  <a:txBody>
                    <a:bodyPr/>
                    <a:lstStyle/>
                    <a:p>
                      <a:pPr marL="0" indent="0">
                        <a:buNone/>
                      </a:pPr>
                      <a:r>
                        <a:rPr lang="en-US" sz="1700" dirty="0">
                          <a:solidFill>
                            <a:srgbClr val="183B31"/>
                          </a:solidFill>
                          <a:latin typeface="Arial" pitchFamily="34" charset="0"/>
                          <a:ea typeface="Arial" pitchFamily="34" charset="-122"/>
                          <a:cs typeface="Arial" pitchFamily="34" charset="-120"/>
                        </a:rPr>
                        <a:t>Solver request</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Depth 0–4, 1,000–200,000 samples per source</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2"/>
                  </a:ext>
                </a:extLst>
              </a:tr>
              <a:tr h="493776">
                <a:tc>
                  <a:txBody>
                    <a:bodyPr/>
                    <a:lstStyle/>
                    <a:p>
                      <a:pPr marL="0" indent="0">
                        <a:buNone/>
                      </a:pPr>
                      <a:r>
                        <a:rPr lang="en-US" sz="1700" dirty="0">
                          <a:solidFill>
                            <a:srgbClr val="183B31"/>
                          </a:solidFill>
                          <a:latin typeface="Arial" pitchFamily="34" charset="0"/>
                          <a:ea typeface="Arial" pitchFamily="34" charset="-122"/>
                          <a:cs typeface="Arial" pitchFamily="34" charset="-120"/>
                        </a:rPr>
                        <a:t>Execution</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One active worker, bounded timeout</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marL="0" indent="0">
                        <a:buNone/>
                      </a:pPr>
                      <a:r>
                        <a:rPr lang="en-US" sz="1700" dirty="0">
                          <a:solidFill>
                            <a:srgbClr val="183B31"/>
                          </a:solidFill>
                          <a:latin typeface="Arial" pitchFamily="34" charset="0"/>
                          <a:ea typeface="Arial" pitchFamily="34" charset="-122"/>
                          <a:cs typeface="Arial" pitchFamily="34" charset="-120"/>
                        </a:rPr>
                        <a:t>Result semantics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Single-link paths with uncalibrated material/antenna assumptions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CFA"/>
        </a:solidFill>
        <a:effectLst/>
      </p:bgPr>
    </p:bg>
    <p:spTree>
      <p:nvGrpSpPr>
        <p:cNvPr id="1" name=""/>
        <p:cNvGrpSpPr/>
        <p:nvPr/>
      </p:nvGrpSpPr>
      <p:grpSpPr>
        <a:xfrm>
          <a:off x="0" y="0"/>
          <a:ext cx="0" cy="0"/>
          <a:chOff x="0" y="0"/>
          <a:chExt cx="0" cy="0"/>
        </a:xfrm>
      </p:grpSpPr>
      <p:sp>
        <p:nvSpPr>
          <p:cNvPr id="2" name="Text 0"/>
          <p:cNvSpPr/>
          <p:nvPr/>
        </p:nvSpPr>
        <p:spPr>
          <a:xfrm>
            <a:off x="502920" y="393192"/>
            <a:ext cx="11109960" cy="768096"/>
          </a:xfrm>
          <a:prstGeom prst="rect">
            <a:avLst/>
          </a:prstGeom>
          <a:noFill/>
          <a:ln/>
        </p:spPr>
        <p:txBody>
          <a:bodyPr wrap="square" lIns="0" tIns="0" rIns="0" bIns="0" rtlCol="0" anchor="t"/>
          <a:lstStyle/>
          <a:p>
            <a:pPr marL="0" indent="0">
              <a:buNone/>
            </a:pPr>
            <a:r>
              <a:rPr lang="en-US" sz="3400" b="1" dirty="0">
                <a:solidFill>
                  <a:srgbClr val="183B31"/>
                </a:solidFill>
                <a:latin typeface="Arial" pitchFamily="34" charset="0"/>
                <a:ea typeface="Arial" pitchFamily="34" charset="-122"/>
                <a:cs typeface="Arial" pitchFamily="34" charset="-120"/>
              </a:rPr>
              <a:t>Extension points and code dependencies</a:t>
            </a:r>
            <a:endParaRPr lang="en-US" sz="3400" dirty="0"/>
          </a:p>
        </p:txBody>
      </p:sp>
      <p:sp>
        <p:nvSpPr>
          <p:cNvPr id="3" name="Text 1"/>
          <p:cNvSpPr/>
          <p:nvPr/>
        </p:nvSpPr>
        <p:spPr>
          <a:xfrm>
            <a:off x="11265408" y="6519672"/>
            <a:ext cx="411480" cy="164592"/>
          </a:xfrm>
          <a:prstGeom prst="rect">
            <a:avLst/>
          </a:prstGeom>
          <a:noFill/>
          <a:ln/>
        </p:spPr>
        <p:txBody>
          <a:bodyPr wrap="square" lIns="0" tIns="0" rIns="0" bIns="0" rtlCol="0" anchor="t"/>
          <a:lstStyle/>
          <a:p>
            <a:pPr marL="0" indent="0" algn="r">
              <a:buNone/>
            </a:pPr>
            <a:r>
              <a:rPr lang="en-US" sz="1100" dirty="0">
                <a:solidFill>
                  <a:srgbClr val="64766B"/>
                </a:solidFill>
                <a:latin typeface="Arial" pitchFamily="34" charset="0"/>
                <a:ea typeface="Arial" pitchFamily="34" charset="-122"/>
                <a:cs typeface="Arial" pitchFamily="34" charset="-120"/>
              </a:rPr>
              <a:t>22</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21208" y="1481328"/>
          <a:ext cx="11128248" cy="4690872"/>
        </p:xfrm>
        <a:graphic>
          <a:graphicData uri="http://schemas.openxmlformats.org/drawingml/2006/table">
            <a:tbl>
              <a:tblPr/>
              <a:tblGrid>
                <a:gridCol w="251460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gridCol w="3675888">
                  <a:extLst>
                    <a:ext uri="{9D8B030D-6E8A-4147-A177-3AD203B41FA5}">
                      <a16:colId xmlns:a16="http://schemas.microsoft.com/office/drawing/2014/main" val="20002"/>
                    </a:ext>
                  </a:extLst>
                </a:gridCol>
              </a:tblGrid>
              <a:tr h="670125">
                <a:tc>
                  <a:txBody>
                    <a:bodyPr/>
                    <a:lstStyle/>
                    <a:p>
                      <a:pPr marL="0" indent="0">
                        <a:buNone/>
                      </a:pPr>
                      <a:r>
                        <a:rPr lang="en-US" sz="1700" b="1" dirty="0">
                          <a:solidFill>
                            <a:srgbClr val="FFFFFF"/>
                          </a:solidFill>
                          <a:latin typeface="Arial" pitchFamily="34" charset="0"/>
                          <a:ea typeface="Arial" pitchFamily="34" charset="-122"/>
                          <a:cs typeface="Arial" pitchFamily="34" charset="-120"/>
                        </a:rPr>
                        <a:t>Change area</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tc>
                  <a:txBody>
                    <a:bodyPr/>
                    <a:lstStyle/>
                    <a:p>
                      <a:pPr marL="0" indent="0">
                        <a:buNone/>
                      </a:pPr>
                      <a:r>
                        <a:rPr lang="en-US" sz="1700" b="1" dirty="0">
                          <a:solidFill>
                            <a:srgbClr val="FFFFFF"/>
                          </a:solidFill>
                          <a:latin typeface="Arial" pitchFamily="34" charset="0"/>
                          <a:ea typeface="Arial" pitchFamily="34" charset="-122"/>
                          <a:cs typeface="Arial" pitchFamily="34" charset="-120"/>
                        </a:rPr>
                        <a:t>Primary code</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tc>
                  <a:txBody>
                    <a:bodyPr/>
                    <a:lstStyle/>
                    <a:p>
                      <a:pPr marL="0" indent="0">
                        <a:buNone/>
                      </a:pPr>
                      <a:r>
                        <a:rPr lang="en-US" sz="1700" b="1" dirty="0">
                          <a:solidFill>
                            <a:srgbClr val="FFFFFF"/>
                          </a:solidFill>
                          <a:latin typeface="Arial" pitchFamily="34" charset="0"/>
                          <a:ea typeface="Arial" pitchFamily="34" charset="-122"/>
                          <a:cs typeface="Arial" pitchFamily="34" charset="-120"/>
                        </a:rPr>
                        <a:t>Related validation</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extLst>
                  <a:ext uri="{0D108BD9-81ED-4DB2-BD59-A6C34878D82A}">
                    <a16:rowId xmlns:a16="http://schemas.microsoft.com/office/drawing/2014/main" val="10000"/>
                  </a:ext>
                </a:extLst>
              </a:tr>
              <a:tr h="670125">
                <a:tc>
                  <a:txBody>
                    <a:bodyPr/>
                    <a:lstStyle/>
                    <a:p>
                      <a:pPr marL="0" indent="0">
                        <a:buNone/>
                      </a:pPr>
                      <a:r>
                        <a:rPr lang="en-US" sz="1700" dirty="0">
                          <a:solidFill>
                            <a:srgbClr val="183B31"/>
                          </a:solidFill>
                          <a:latin typeface="Arial" pitchFamily="34" charset="0"/>
                          <a:ea typeface="Arial" pitchFamily="34" charset="-122"/>
                          <a:cs typeface="Arial" pitchFamily="34" charset="-120"/>
                        </a:rPr>
                        <a:t>KPI chart / analysis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DrivePreviewLeaf.tsx</a:t>
                      </a:r>
                      <a:endParaRPr lang="en-US" sz="1700" dirty="0">
                        <a:latin typeface="Arial" charset="0"/>
                        <a:ea typeface="Arial" charset="0"/>
                        <a:cs typeface="Arial" charset="0"/>
                      </a:endParaRPr>
                    </a:p>
                    <a:p>
                      <a:pPr marL="0" indent="0">
                        <a:buNone/>
                      </a:pPr>
                      <a:r>
                        <a:rPr lang="en-US" sz="1700" dirty="0">
                          <a:solidFill>
                            <a:srgbClr val="183B31"/>
                          </a:solidFill>
                          <a:latin typeface="Arial" pitchFamily="34" charset="0"/>
                          <a:ea typeface="Arial" pitchFamily="34" charset="-122"/>
                          <a:cs typeface="Arial" pitchFamily="34" charset="-120"/>
                        </a:rPr>
                        <a:t>dm.mjs + dm-trend.mjs + dm-ui.mjs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Unit, component and drive browser tests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70125">
                <a:tc>
                  <a:txBody>
                    <a:bodyPr/>
                    <a:lstStyle/>
                    <a:p>
                      <a:pPr marL="0" indent="0">
                        <a:buNone/>
                      </a:pPr>
                      <a:r>
                        <a:rPr lang="en-US" sz="1700" dirty="0">
                          <a:solidFill>
                            <a:srgbClr val="183B31"/>
                          </a:solidFill>
                          <a:latin typeface="Arial" pitchFamily="34" charset="0"/>
                          <a:ea typeface="Arial" pitchFamily="34" charset="-122"/>
                          <a:cs typeface="Arial" pitchFamily="34" charset="-120"/>
                        </a:rPr>
                        <a:t>Site / cell editing</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SiteInspector.tsx</a:t>
                      </a:r>
                      <a:endParaRPr lang="en-US" sz="1700" dirty="0">
                        <a:latin typeface="Arial" charset="0"/>
                        <a:ea typeface="Arial" charset="0"/>
                        <a:cs typeface="Arial" charset="0"/>
                      </a:endParaRPr>
                    </a:p>
                    <a:p>
                      <a:pPr marL="0" indent="0">
                        <a:buNone/>
                      </a:pPr>
                      <a:r>
                        <a:rPr lang="en-US" sz="1700" dirty="0">
                          <a:solidFill>
                            <a:srgbClr val="183B31"/>
                          </a:solidFill>
                          <a:latin typeface="Arial" pitchFamily="34" charset="0"/>
                          <a:ea typeface="Arial" pitchFamily="34" charset="-122"/>
                          <a:cs typeface="Arial" pitchFamily="34" charset="-120"/>
                        </a:rPr>
                        <a:t>sitePlannerCommands.ts + radioCommands.ts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Model, command and planner tests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2"/>
                  </a:ext>
                </a:extLst>
              </a:tr>
              <a:tr h="670125">
                <a:tc>
                  <a:txBody>
                    <a:bodyPr/>
                    <a:lstStyle/>
                    <a:p>
                      <a:pPr marL="0" indent="0">
                        <a:buNone/>
                      </a:pPr>
                      <a:r>
                        <a:rPr lang="en-US" sz="1700" dirty="0">
                          <a:solidFill>
                            <a:srgbClr val="183B31"/>
                          </a:solidFill>
                          <a:latin typeface="Arial" pitchFamily="34" charset="0"/>
                          <a:ea typeface="Arial" pitchFamily="34" charset="-122"/>
                          <a:cs typeface="Arial" pitchFamily="34" charset="-120"/>
                        </a:rPr>
                        <a:t>CSV evidence</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driveImport.ts + driveImportCommands.ts</a:t>
                      </a:r>
                      <a:endParaRPr lang="en-US" sz="1700" dirty="0">
                        <a:latin typeface="Arial" charset="0"/>
                        <a:ea typeface="Arial" charset="0"/>
                        <a:cs typeface="Arial" charset="0"/>
                      </a:endParaRPr>
                    </a:p>
                    <a:p>
                      <a:pPr marL="0" indent="0">
                        <a:buNone/>
                      </a:pPr>
                      <a:r>
                        <a:rPr lang="en-US" sz="1700" dirty="0">
                          <a:solidFill>
                            <a:srgbClr val="183B31"/>
                          </a:solidFill>
                          <a:latin typeface="Arial" pitchFamily="34" charset="0"/>
                          <a:ea typeface="Arial" pitchFamily="34" charset="-122"/>
                          <a:cs typeface="Arial" pitchFamily="34" charset="-120"/>
                        </a:rPr>
                        <a:t>measurement-library.mjs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Replay, digest and Python validators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70125">
                <a:tc>
                  <a:txBody>
                    <a:bodyPr/>
                    <a:lstStyle/>
                    <a:p>
                      <a:pPr marL="0" indent="0">
                        <a:buNone/>
                      </a:pPr>
                      <a:r>
                        <a:rPr lang="en-US" sz="1700" dirty="0">
                          <a:solidFill>
                            <a:srgbClr val="183B31"/>
                          </a:solidFill>
                          <a:latin typeface="Arial" pitchFamily="34" charset="0"/>
                          <a:ea typeface="Arial" pitchFamily="34" charset="-122"/>
                          <a:cs typeface="Arial" pitchFamily="34" charset="-120"/>
                        </a:rPr>
                        <a:t>Frozen studies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study.mjs + study-run.mjs</a:t>
                      </a:r>
                      <a:endParaRPr lang="en-US" sz="1700" dirty="0">
                        <a:latin typeface="Arial" charset="0"/>
                        <a:ea typeface="Arial" charset="0"/>
                        <a:cs typeface="Arial" charset="0"/>
                      </a:endParaRPr>
                    </a:p>
                    <a:p>
                      <a:pPr marL="0" indent="0">
                        <a:buNone/>
                      </a:pPr>
                      <a:r>
                        <a:rPr lang="en-US" sz="1700" dirty="0">
                          <a:solidFill>
                            <a:srgbClr val="183B31"/>
                          </a:solidFill>
                          <a:latin typeface="Arial" pitchFamily="34" charset="0"/>
                          <a:ea typeface="Arial" pitchFamily="34" charset="-122"/>
                          <a:cs typeface="Arial" pitchFamily="34" charset="-120"/>
                        </a:rPr>
                        <a:t>src/features/study/</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JS/Python transition and capture contracts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4"/>
                  </a:ext>
                </a:extLst>
              </a:tr>
              <a:tr h="670125">
                <a:tc>
                  <a:txBody>
                    <a:bodyPr/>
                    <a:lstStyle/>
                    <a:p>
                      <a:pPr marL="0" indent="0">
                        <a:buNone/>
                      </a:pPr>
                      <a:r>
                        <a:rPr lang="en-US" sz="1700" dirty="0">
                          <a:solidFill>
                            <a:srgbClr val="183B31"/>
                          </a:solidFill>
                          <a:latin typeface="Arial" pitchFamily="34" charset="0"/>
                          <a:ea typeface="Arial" pitchFamily="34" charset="-122"/>
                          <a:cs typeface="Arial" pitchFamily="34" charset="-120"/>
                        </a:rPr>
                        <a:t>Local path execution</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rt-job.mjs + rt_worker.py</a:t>
                      </a:r>
                      <a:endParaRPr lang="en-US" sz="1700" dirty="0">
                        <a:latin typeface="Arial" charset="0"/>
                        <a:ea typeface="Arial" charset="0"/>
                        <a:cs typeface="Arial" charset="0"/>
                      </a:endParaRPr>
                    </a:p>
                    <a:p>
                      <a:pPr marL="0" indent="0">
                        <a:buNone/>
                      </a:pPr>
                      <a:r>
                        <a:rPr lang="en-US" sz="1700" dirty="0">
                          <a:solidFill>
                            <a:srgbClr val="183B31"/>
                          </a:solidFill>
                          <a:latin typeface="Arial" pitchFamily="34" charset="0"/>
                          <a:ea typeface="Arial" pitchFamily="34" charset="-122"/>
                          <a:cs typeface="Arial" pitchFamily="34" charset="-120"/>
                        </a:rPr>
                        <a:t>serve.py JobManager</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Lifecycle/API tests and optional real RT</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70125">
                <a:tc>
                  <a:txBody>
                    <a:bodyPr/>
                    <a:lstStyle/>
                    <a:p>
                      <a:pPr marL="0" indent="0">
                        <a:buNone/>
                      </a:pPr>
                      <a:r>
                        <a:rPr lang="en-US" sz="1700" dirty="0">
                          <a:solidFill>
                            <a:srgbClr val="183B31"/>
                          </a:solidFill>
                          <a:latin typeface="Arial" pitchFamily="34" charset="0"/>
                          <a:ea typeface="Arial" pitchFamily="34" charset="-122"/>
                          <a:cs typeface="Arial" pitchFamily="34" charset="-120"/>
                        </a:rPr>
                        <a:t>Reports / artifacts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artifacts.mjs</a:t>
                      </a:r>
                      <a:endParaRPr lang="en-US" sz="1700" dirty="0">
                        <a:latin typeface="Arial" charset="0"/>
                        <a:ea typeface="Arial" charset="0"/>
                        <a:cs typeface="Arial" charset="0"/>
                      </a:endParaRPr>
                    </a:p>
                    <a:p>
                      <a:pPr marL="0" indent="0">
                        <a:buNone/>
                      </a:pPr>
                      <a:r>
                        <a:rPr lang="en-US" sz="1700" dirty="0">
                          <a:solidFill>
                            <a:srgbClr val="183B31"/>
                          </a:solidFill>
                          <a:latin typeface="Arial" pitchFamily="34" charset="0"/>
                          <a:ea typeface="Arial" pitchFamily="34" charset="-122"/>
                          <a:cs typeface="Arial" pitchFamily="34" charset="-120"/>
                        </a:rPr>
                        <a:t>src/features/artifacts/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Generated-content and save parity tests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CFA"/>
        </a:solidFill>
        <a:effectLst/>
      </p:bgPr>
    </p:bg>
    <p:spTree>
      <p:nvGrpSpPr>
        <p:cNvPr id="1" name=""/>
        <p:cNvGrpSpPr/>
        <p:nvPr/>
      </p:nvGrpSpPr>
      <p:grpSpPr>
        <a:xfrm>
          <a:off x="0" y="0"/>
          <a:ext cx="0" cy="0"/>
          <a:chOff x="0" y="0"/>
          <a:chExt cx="0" cy="0"/>
        </a:xfrm>
      </p:grpSpPr>
      <p:sp>
        <p:nvSpPr>
          <p:cNvPr id="2" name="Text 0"/>
          <p:cNvSpPr/>
          <p:nvPr/>
        </p:nvSpPr>
        <p:spPr>
          <a:xfrm>
            <a:off x="502920" y="393192"/>
            <a:ext cx="11109960" cy="768096"/>
          </a:xfrm>
          <a:prstGeom prst="rect">
            <a:avLst/>
          </a:prstGeom>
          <a:noFill/>
          <a:ln/>
        </p:spPr>
        <p:txBody>
          <a:bodyPr wrap="square" lIns="0" tIns="0" rIns="0" bIns="0" rtlCol="0" anchor="t"/>
          <a:lstStyle/>
          <a:p>
            <a:pPr marL="0" indent="0">
              <a:buNone/>
            </a:pPr>
            <a:r>
              <a:rPr lang="en-US" sz="3400" b="1" dirty="0">
                <a:solidFill>
                  <a:srgbClr val="183B31"/>
                </a:solidFill>
                <a:latin typeface="Arial" pitchFamily="34" charset="0"/>
                <a:ea typeface="Arial" pitchFamily="34" charset="-122"/>
                <a:cs typeface="Arial" pitchFamily="34" charset="-120"/>
              </a:rPr>
              <a:t>Worked example: the KPI trend chart</a:t>
            </a:r>
            <a:endParaRPr lang="en-US" sz="3400" dirty="0"/>
          </a:p>
        </p:txBody>
      </p:sp>
      <p:sp>
        <p:nvSpPr>
          <p:cNvPr id="3" name="Text 1"/>
          <p:cNvSpPr/>
          <p:nvPr/>
        </p:nvSpPr>
        <p:spPr>
          <a:xfrm>
            <a:off x="11265408" y="6519672"/>
            <a:ext cx="411480" cy="164592"/>
          </a:xfrm>
          <a:prstGeom prst="rect">
            <a:avLst/>
          </a:prstGeom>
          <a:noFill/>
          <a:ln/>
        </p:spPr>
        <p:txBody>
          <a:bodyPr wrap="square" lIns="0" tIns="0" rIns="0" bIns="0" rtlCol="0" anchor="t"/>
          <a:lstStyle/>
          <a:p>
            <a:pPr marL="0" indent="0" algn="r">
              <a:buNone/>
            </a:pPr>
            <a:r>
              <a:rPr lang="en-US" sz="1100" dirty="0">
                <a:solidFill>
                  <a:srgbClr val="64766B"/>
                </a:solidFill>
                <a:latin typeface="Arial" pitchFamily="34" charset="0"/>
                <a:ea typeface="Arial" pitchFamily="34" charset="-122"/>
                <a:cs typeface="Arial" pitchFamily="34" charset="-120"/>
              </a:rPr>
              <a:t>23</a:t>
            </a:r>
            <a:endParaRPr lang="en-US" sz="1100" dirty="0"/>
          </a:p>
        </p:txBody>
      </p:sp>
      <p:pic>
        <p:nvPicPr>
          <p:cNvPr id="4" name="Image 0" descr="/Users/parkjangwon/Project/UI_UX_Mockup_Typescript/docs/design-review/kpi-trend/rsrp-wide.png"/>
          <p:cNvPicPr>
            <a:picLocks noChangeAspect="1"/>
          </p:cNvPicPr>
          <p:nvPr/>
        </p:nvPicPr>
        <p:blipFill>
          <a:blip r:embed="rId3"/>
          <a:stretch>
            <a:fillRect/>
          </a:stretch>
        </p:blipFill>
        <p:spPr>
          <a:xfrm>
            <a:off x="521208" y="1381765"/>
            <a:ext cx="11128248" cy="2722869"/>
          </a:xfrm>
          <a:prstGeom prst="rect">
            <a:avLst/>
          </a:prstGeom>
        </p:spPr>
      </p:pic>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21208" y="4343400"/>
          <a:ext cx="11128248" cy="1645920"/>
        </p:xfrm>
        <a:graphic>
          <a:graphicData uri="http://schemas.openxmlformats.org/drawingml/2006/table">
            <a:tbl>
              <a:tblPr/>
              <a:tblGrid>
                <a:gridCol w="4114800">
                  <a:extLst>
                    <a:ext uri="{9D8B030D-6E8A-4147-A177-3AD203B41FA5}">
                      <a16:colId xmlns:a16="http://schemas.microsoft.com/office/drawing/2014/main" val="20000"/>
                    </a:ext>
                  </a:extLst>
                </a:gridCol>
                <a:gridCol w="7013448">
                  <a:extLst>
                    <a:ext uri="{9D8B030D-6E8A-4147-A177-3AD203B41FA5}">
                      <a16:colId xmlns:a16="http://schemas.microsoft.com/office/drawing/2014/main" val="20001"/>
                    </a:ext>
                  </a:extLst>
                </a:gridCol>
              </a:tblGrid>
              <a:tr h="411480">
                <a:tc>
                  <a:txBody>
                    <a:bodyPr/>
                    <a:lstStyle/>
                    <a:p>
                      <a:pPr marL="0" indent="0">
                        <a:buNone/>
                      </a:pPr>
                      <a:r>
                        <a:rPr lang="en-US" sz="1700" b="1" dirty="0">
                          <a:solidFill>
                            <a:srgbClr val="FFFFFF"/>
                          </a:solidFill>
                          <a:latin typeface="Arial" pitchFamily="34" charset="0"/>
                          <a:ea typeface="Arial" pitchFamily="34" charset="-122"/>
                          <a:cs typeface="Arial" pitchFamily="34" charset="-120"/>
                        </a:rPr>
                        <a:t>Responsibility</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tc>
                  <a:txBody>
                    <a:bodyPr/>
                    <a:lstStyle/>
                    <a:p>
                      <a:pPr marL="0" indent="0">
                        <a:buNone/>
                      </a:pPr>
                      <a:r>
                        <a:rPr lang="en-US" sz="1700" b="1" dirty="0">
                          <a:solidFill>
                            <a:srgbClr val="FFFFFF"/>
                          </a:solidFill>
                          <a:latin typeface="Arial" pitchFamily="34" charset="0"/>
                          <a:ea typeface="Arial" pitchFamily="34" charset="-122"/>
                          <a:cs typeface="Arial" pitchFamily="34" charset="-120"/>
                        </a:rPr>
                        <a:t>Files to change</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extLst>
                  <a:ext uri="{0D108BD9-81ED-4DB2-BD59-A6C34878D82A}">
                    <a16:rowId xmlns:a16="http://schemas.microsoft.com/office/drawing/2014/main" val="10000"/>
                  </a:ext>
                </a:extLst>
              </a:tr>
              <a:tr h="411480">
                <a:tc>
                  <a:txBody>
                    <a:bodyPr/>
                    <a:lstStyle/>
                    <a:p>
                      <a:pPr marL="0" indent="0">
                        <a:buNone/>
                      </a:pPr>
                      <a:r>
                        <a:rPr lang="en-US" sz="1700" dirty="0">
                          <a:solidFill>
                            <a:srgbClr val="183B31"/>
                          </a:solidFill>
                          <a:latin typeface="Arial" pitchFamily="34" charset="0"/>
                          <a:ea typeface="Arial" pitchFamily="34" charset="-122"/>
                          <a:cs typeface="Arial" pitchFamily="34" charset="-120"/>
                        </a:rPr>
                        <a:t>Metric metadata and exact axes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dm.mjs + dm-trend.mjs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buNone/>
                      </a:pPr>
                      <a:r>
                        <a:rPr lang="en-US" sz="1700" dirty="0">
                          <a:solidFill>
                            <a:srgbClr val="183B31"/>
                          </a:solidFill>
                          <a:latin typeface="Arial" pitchFamily="34" charset="0"/>
                          <a:ea typeface="Arial" pitchFamily="34" charset="-122"/>
                          <a:cs typeface="Arial" pitchFamily="34" charset="-120"/>
                        </a:rPr>
                        <a:t>Both presenters and responsive layout</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DrivePreviewLeaf.tsx + dm-ui.mjs + dm.css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2"/>
                  </a:ext>
                </a:extLst>
              </a:tr>
              <a:tr h="411480">
                <a:tc>
                  <a:txBody>
                    <a:bodyPr/>
                    <a:lstStyle/>
                    <a:p>
                      <a:pPr marL="0" indent="0">
                        <a:buNone/>
                      </a:pPr>
                      <a:r>
                        <a:rPr lang="en-US" sz="1700" dirty="0">
                          <a:solidFill>
                            <a:srgbClr val="183B31"/>
                          </a:solidFill>
                          <a:latin typeface="Arial" pitchFamily="34" charset="0"/>
                          <a:ea typeface="Arial" pitchFamily="34" charset="-122"/>
                          <a:cs typeface="Arial" pitchFamily="34" charset="-120"/>
                        </a:rPr>
                        <a:t>Behavior and visual regressions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dm-trend.test.mjs; DrivePreviewLeaf.test.tsx</a:t>
                      </a:r>
                      <a:endParaRPr lang="en-US" sz="1700" dirty="0">
                        <a:latin typeface="Arial" charset="0"/>
                        <a:ea typeface="Arial" charset="0"/>
                        <a:cs typeface="Arial" charset="0"/>
                      </a:endParaRPr>
                    </a:p>
                    <a:p>
                      <a:pPr marL="0" indent="0">
                        <a:buNone/>
                      </a:pPr>
                      <a:r>
                        <a:rPr lang="en-US" sz="1700" dirty="0">
                          <a:solidFill>
                            <a:srgbClr val="183B31"/>
                          </a:solidFill>
                          <a:latin typeface="Arial" pitchFamily="34" charset="0"/>
                          <a:ea typeface="Arial" pitchFamily="34" charset="-122"/>
                          <a:cs typeface="Arial" pitchFamily="34" charset="-120"/>
                        </a:rPr>
                        <a:t>Browser: drive-kpi-trend.spec.ts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CFA"/>
        </a:solidFill>
        <a:effectLst/>
      </p:bgPr>
    </p:bg>
    <p:spTree>
      <p:nvGrpSpPr>
        <p:cNvPr id="1" name=""/>
        <p:cNvGrpSpPr/>
        <p:nvPr/>
      </p:nvGrpSpPr>
      <p:grpSpPr>
        <a:xfrm>
          <a:off x="0" y="0"/>
          <a:ext cx="0" cy="0"/>
          <a:chOff x="0" y="0"/>
          <a:chExt cx="0" cy="0"/>
        </a:xfrm>
      </p:grpSpPr>
      <p:sp>
        <p:nvSpPr>
          <p:cNvPr id="2" name="Text 0"/>
          <p:cNvSpPr/>
          <p:nvPr/>
        </p:nvSpPr>
        <p:spPr>
          <a:xfrm>
            <a:off x="502920" y="393192"/>
            <a:ext cx="11109960" cy="768096"/>
          </a:xfrm>
          <a:prstGeom prst="rect">
            <a:avLst/>
          </a:prstGeom>
          <a:noFill/>
          <a:ln/>
        </p:spPr>
        <p:txBody>
          <a:bodyPr wrap="square" lIns="0" tIns="0" rIns="0" bIns="0" rtlCol="0" anchor="t"/>
          <a:lstStyle/>
          <a:p>
            <a:pPr marL="0" indent="0">
              <a:buNone/>
            </a:pPr>
            <a:r>
              <a:rPr lang="en-US" sz="3400" b="1" dirty="0">
                <a:solidFill>
                  <a:srgbClr val="183B31"/>
                </a:solidFill>
                <a:latin typeface="Arial" pitchFamily="34" charset="0"/>
                <a:ea typeface="Arial" pitchFamily="34" charset="-122"/>
                <a:cs typeface="Arial" pitchFamily="34" charset="-120"/>
              </a:rPr>
              <a:t>Adding a persisted feature</a:t>
            </a:r>
            <a:endParaRPr lang="en-US" sz="3400" dirty="0"/>
          </a:p>
        </p:txBody>
      </p:sp>
      <p:sp>
        <p:nvSpPr>
          <p:cNvPr id="3" name="Text 1"/>
          <p:cNvSpPr/>
          <p:nvPr/>
        </p:nvSpPr>
        <p:spPr>
          <a:xfrm>
            <a:off x="11265408" y="6519672"/>
            <a:ext cx="411480" cy="164592"/>
          </a:xfrm>
          <a:prstGeom prst="rect">
            <a:avLst/>
          </a:prstGeom>
          <a:noFill/>
          <a:ln/>
        </p:spPr>
        <p:txBody>
          <a:bodyPr wrap="square" lIns="0" tIns="0" rIns="0" bIns="0" rtlCol="0" anchor="t"/>
          <a:lstStyle/>
          <a:p>
            <a:pPr marL="0" indent="0" algn="r">
              <a:buNone/>
            </a:pPr>
            <a:r>
              <a:rPr lang="en-US" sz="1100" dirty="0">
                <a:solidFill>
                  <a:srgbClr val="64766B"/>
                </a:solidFill>
                <a:latin typeface="Arial" pitchFamily="34" charset="0"/>
                <a:ea typeface="Arial" pitchFamily="34" charset="-122"/>
                <a:cs typeface="Arial" pitchFamily="34" charset="-120"/>
              </a:rPr>
              <a:t>24</a:t>
            </a:r>
            <a:endParaRPr lang="en-US" sz="1100" dirty="0"/>
          </a:p>
        </p:txBody>
      </p:sp>
      <p:sp>
        <p:nvSpPr>
          <p:cNvPr id="4" name="Text 2"/>
          <p:cNvSpPr/>
          <p:nvPr/>
        </p:nvSpPr>
        <p:spPr>
          <a:xfrm>
            <a:off x="521208" y="1207008"/>
            <a:ext cx="11064240" cy="557784"/>
          </a:xfrm>
          <a:prstGeom prst="rect">
            <a:avLst/>
          </a:prstGeom>
          <a:noFill/>
          <a:ln/>
        </p:spPr>
        <p:txBody>
          <a:bodyPr wrap="square" lIns="0" tIns="0" rIns="0" bIns="0" rtlCol="0" anchor="t"/>
          <a:lstStyle/>
          <a:p>
            <a:pPr marL="0" indent="0">
              <a:buNone/>
            </a:pPr>
            <a:r>
              <a:rPr lang="en-US" sz="1900" dirty="0">
                <a:solidFill>
                  <a:srgbClr val="64766B"/>
                </a:solidFill>
                <a:latin typeface="Arial" pitchFamily="34" charset="0"/>
                <a:ea typeface="Arial" pitchFamily="34" charset="-122"/>
                <a:cs typeface="Arial" pitchFamily="34" charset="-120"/>
              </a:rPr>
              <a:t>A field inside project_json can still require validation and compatibility changes across languages</a:t>
            </a:r>
            <a:endParaRPr lang="en-US" sz="1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21208" y="1856232"/>
          <a:ext cx="11128248" cy="4315968"/>
        </p:xfrm>
        <a:graphic>
          <a:graphicData uri="http://schemas.openxmlformats.org/drawingml/2006/table">
            <a:tbl>
              <a:tblPr/>
              <a:tblGrid>
                <a:gridCol w="2743200">
                  <a:extLst>
                    <a:ext uri="{9D8B030D-6E8A-4147-A177-3AD203B41FA5}">
                      <a16:colId xmlns:a16="http://schemas.microsoft.com/office/drawing/2014/main" val="20000"/>
                    </a:ext>
                  </a:extLst>
                </a:gridCol>
                <a:gridCol w="8385048">
                  <a:extLst>
                    <a:ext uri="{9D8B030D-6E8A-4147-A177-3AD203B41FA5}">
                      <a16:colId xmlns:a16="http://schemas.microsoft.com/office/drawing/2014/main" val="20001"/>
                    </a:ext>
                  </a:extLst>
                </a:gridCol>
              </a:tblGrid>
              <a:tr h="616567">
                <a:tc>
                  <a:txBody>
                    <a:bodyPr/>
                    <a:lstStyle/>
                    <a:p>
                      <a:pPr marL="0" indent="0">
                        <a:buNone/>
                      </a:pPr>
                      <a:r>
                        <a:rPr lang="en-US" sz="1700" b="1" dirty="0">
                          <a:solidFill>
                            <a:srgbClr val="FFFFFF"/>
                          </a:solidFill>
                          <a:latin typeface="Arial" pitchFamily="34" charset="0"/>
                          <a:ea typeface="Arial" pitchFamily="34" charset="-122"/>
                          <a:cs typeface="Arial" pitchFamily="34" charset="-120"/>
                        </a:rPr>
                        <a:t>Change</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tc>
                  <a:txBody>
                    <a:bodyPr/>
                    <a:lstStyle/>
                    <a:p>
                      <a:pPr marL="0" indent="0">
                        <a:buNone/>
                      </a:pPr>
                      <a:r>
                        <a:rPr lang="en-US" sz="1700" b="1" dirty="0">
                          <a:solidFill>
                            <a:srgbClr val="FFFFFF"/>
                          </a:solidFill>
                          <a:latin typeface="Arial" pitchFamily="34" charset="0"/>
                          <a:ea typeface="Arial" pitchFamily="34" charset="-122"/>
                          <a:cs typeface="Arial" pitchFamily="34" charset="-120"/>
                        </a:rPr>
                        <a:t>Implementation responsibility</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extLst>
                  <a:ext uri="{0D108BD9-81ED-4DB2-BD59-A6C34878D82A}">
                    <a16:rowId xmlns:a16="http://schemas.microsoft.com/office/drawing/2014/main" val="10000"/>
                  </a:ext>
                </a:extLst>
              </a:tr>
              <a:tr h="616567">
                <a:tc>
                  <a:txBody>
                    <a:bodyPr/>
                    <a:lstStyle/>
                    <a:p>
                      <a:pPr marL="0" indent="0">
                        <a:buNone/>
                      </a:pPr>
                      <a:r>
                        <a:rPr lang="en-US" sz="1700" dirty="0">
                          <a:solidFill>
                            <a:srgbClr val="183B31"/>
                          </a:solidFill>
                          <a:latin typeface="Arial" pitchFamily="34" charset="0"/>
                          <a:ea typeface="Arial" pitchFamily="34" charset="-122"/>
                          <a:cs typeface="Arial" pitchFamily="34" charset="-120"/>
                        </a:rPr>
                        <a:t>Domain contract</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Add defaults, bounds, upgrade behavior and export semantics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16567">
                <a:tc>
                  <a:txBody>
                    <a:bodyPr/>
                    <a:lstStyle/>
                    <a:p>
                      <a:pPr marL="0" indent="0">
                        <a:buNone/>
                      </a:pPr>
                      <a:r>
                        <a:rPr lang="en-US" sz="1700" dirty="0">
                          <a:solidFill>
                            <a:srgbClr val="183B31"/>
                          </a:solidFill>
                          <a:latin typeface="Arial" pitchFamily="34" charset="0"/>
                          <a:ea typeface="Arial" pitchFamily="34" charset="-122"/>
                          <a:cs typeface="Arial" pitchFamily="34" charset="-120"/>
                        </a:rPr>
                        <a:t>UI and command adapter</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Keep draft state local and dispatch a project-scoped change</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2"/>
                  </a:ext>
                </a:extLst>
              </a:tr>
              <a:tr h="616567">
                <a:tc>
                  <a:txBody>
                    <a:bodyPr/>
                    <a:lstStyle/>
                    <a:p>
                      <a:pPr marL="0" indent="0">
                        <a:buNone/>
                      </a:pPr>
                      <a:r>
                        <a:rPr lang="en-US" sz="1700" dirty="0">
                          <a:solidFill>
                            <a:srgbClr val="183B31"/>
                          </a:solidFill>
                          <a:latin typeface="Arial" pitchFamily="34" charset="0"/>
                          <a:ea typeface="Arial" pitchFamily="34" charset="-122"/>
                          <a:cs typeface="Arial" pitchFamily="34" charset="-120"/>
                        </a:rPr>
                        <a:t>Transport contract</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Parse the envelope and validate domain/evidence content</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16567">
                <a:tc>
                  <a:txBody>
                    <a:bodyPr/>
                    <a:lstStyle/>
                    <a:p>
                      <a:pPr marL="0" indent="0">
                        <a:buNone/>
                      </a:pPr>
                      <a:r>
                        <a:rPr lang="en-US" sz="1700" dirty="0">
                          <a:solidFill>
                            <a:srgbClr val="183B31"/>
                          </a:solidFill>
                          <a:latin typeface="Arial" pitchFamily="34" charset="0"/>
                          <a:ea typeface="Arial" pitchFamily="34" charset="-122"/>
                          <a:cs typeface="Arial" pitchFamily="34" charset="-120"/>
                        </a:rPr>
                        <a:t>Python storage validation</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Reject invalid or unsupported persisted claims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4"/>
                  </a:ext>
                </a:extLst>
              </a:tr>
              <a:tr h="616567">
                <a:tc>
                  <a:txBody>
                    <a:bodyPr/>
                    <a:lstStyle/>
                    <a:p>
                      <a:pPr marL="0" indent="0">
                        <a:buNone/>
                      </a:pPr>
                      <a:r>
                        <a:rPr lang="en-US" sz="1700" dirty="0">
                          <a:solidFill>
                            <a:srgbClr val="183B31"/>
                          </a:solidFill>
                          <a:latin typeface="Arial" pitchFamily="34" charset="0"/>
                          <a:ea typeface="Arial" pitchFamily="34" charset="-122"/>
                          <a:cs typeface="Arial" pitchFamily="34" charset="-120"/>
                        </a:rPr>
                        <a:t>Historical evidence</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Preserve captured studies, measurement records and terminal runs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16567">
                <a:tc>
                  <a:txBody>
                    <a:bodyPr/>
                    <a:lstStyle/>
                    <a:p>
                      <a:pPr marL="0" indent="0">
                        <a:buNone/>
                      </a:pPr>
                      <a:r>
                        <a:rPr lang="en-US" sz="1700" dirty="0">
                          <a:solidFill>
                            <a:srgbClr val="183B31"/>
                          </a:solidFill>
                          <a:latin typeface="Arial" pitchFamily="34" charset="0"/>
                          <a:ea typeface="Arial" pitchFamily="34" charset="-122"/>
                          <a:cs typeface="Arial" pitchFamily="34" charset="-120"/>
                        </a:rPr>
                        <a:t>Tests and graph</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Exercise save/reload/conflict paths and refresh Graft</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CFA"/>
        </a:solidFill>
        <a:effectLst/>
      </p:bgPr>
    </p:bg>
    <p:spTree>
      <p:nvGrpSpPr>
        <p:cNvPr id="1" name=""/>
        <p:cNvGrpSpPr/>
        <p:nvPr/>
      </p:nvGrpSpPr>
      <p:grpSpPr>
        <a:xfrm>
          <a:off x="0" y="0"/>
          <a:ext cx="0" cy="0"/>
          <a:chOff x="0" y="0"/>
          <a:chExt cx="0" cy="0"/>
        </a:xfrm>
      </p:grpSpPr>
      <p:sp>
        <p:nvSpPr>
          <p:cNvPr id="2" name="Text 0"/>
          <p:cNvSpPr/>
          <p:nvPr/>
        </p:nvSpPr>
        <p:spPr>
          <a:xfrm>
            <a:off x="502920" y="393192"/>
            <a:ext cx="11109960" cy="768096"/>
          </a:xfrm>
          <a:prstGeom prst="rect">
            <a:avLst/>
          </a:prstGeom>
          <a:noFill/>
          <a:ln/>
        </p:spPr>
        <p:txBody>
          <a:bodyPr wrap="square" lIns="0" tIns="0" rIns="0" bIns="0" rtlCol="0" anchor="t"/>
          <a:lstStyle/>
          <a:p>
            <a:pPr marL="0" indent="0">
              <a:buNone/>
            </a:pPr>
            <a:r>
              <a:rPr lang="en-US" sz="3400" b="1" dirty="0">
                <a:solidFill>
                  <a:srgbClr val="183B31"/>
                </a:solidFill>
                <a:latin typeface="Arial" pitchFamily="34" charset="0"/>
                <a:ea typeface="Arial" pitchFamily="34" charset="-122"/>
                <a:cs typeface="Arial" pitchFamily="34" charset="-120"/>
              </a:rPr>
              <a:t>Test layers</a:t>
            </a:r>
            <a:endParaRPr lang="en-US" sz="3400" dirty="0"/>
          </a:p>
        </p:txBody>
      </p:sp>
      <p:sp>
        <p:nvSpPr>
          <p:cNvPr id="3" name="Text 1"/>
          <p:cNvSpPr/>
          <p:nvPr/>
        </p:nvSpPr>
        <p:spPr>
          <a:xfrm>
            <a:off x="11265408" y="6519672"/>
            <a:ext cx="411480" cy="164592"/>
          </a:xfrm>
          <a:prstGeom prst="rect">
            <a:avLst/>
          </a:prstGeom>
          <a:noFill/>
          <a:ln/>
        </p:spPr>
        <p:txBody>
          <a:bodyPr wrap="square" lIns="0" tIns="0" rIns="0" bIns="0" rtlCol="0" anchor="t"/>
          <a:lstStyle/>
          <a:p>
            <a:pPr marL="0" indent="0" algn="r">
              <a:buNone/>
            </a:pPr>
            <a:r>
              <a:rPr lang="en-US" sz="1100" dirty="0">
                <a:solidFill>
                  <a:srgbClr val="64766B"/>
                </a:solidFill>
                <a:latin typeface="Arial" pitchFamily="34" charset="0"/>
                <a:ea typeface="Arial" pitchFamily="34" charset="-122"/>
                <a:cs typeface="Arial" pitchFamily="34" charset="-120"/>
              </a:rPr>
              <a:t>25</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21208" y="1463040"/>
          <a:ext cx="11128248" cy="4389120"/>
        </p:xfrm>
        <a:graphic>
          <a:graphicData uri="http://schemas.openxmlformats.org/drawingml/2006/table">
            <a:tbl>
              <a:tblPr/>
              <a:tblGrid>
                <a:gridCol w="288036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4956048">
                  <a:extLst>
                    <a:ext uri="{9D8B030D-6E8A-4147-A177-3AD203B41FA5}">
                      <a16:colId xmlns:a16="http://schemas.microsoft.com/office/drawing/2014/main" val="20002"/>
                    </a:ext>
                  </a:extLst>
                </a:gridCol>
              </a:tblGrid>
              <a:tr h="548640">
                <a:tc>
                  <a:txBody>
                    <a:bodyPr/>
                    <a:lstStyle/>
                    <a:p>
                      <a:pPr marL="0" indent="0">
                        <a:buNone/>
                      </a:pPr>
                      <a:r>
                        <a:rPr lang="en-US" sz="1700" b="1" dirty="0">
                          <a:solidFill>
                            <a:srgbClr val="FFFFFF"/>
                          </a:solidFill>
                          <a:latin typeface="Arial" pitchFamily="34" charset="0"/>
                          <a:ea typeface="Arial" pitchFamily="34" charset="-122"/>
                          <a:cs typeface="Arial" pitchFamily="34" charset="-120"/>
                        </a:rPr>
                        <a:t>Layer</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tc>
                  <a:txBody>
                    <a:bodyPr/>
                    <a:lstStyle/>
                    <a:p>
                      <a:pPr marL="0" indent="0">
                        <a:buNone/>
                      </a:pPr>
                      <a:r>
                        <a:rPr lang="en-US" sz="1700" b="1" dirty="0">
                          <a:solidFill>
                            <a:srgbClr val="FFFFFF"/>
                          </a:solidFill>
                          <a:latin typeface="Arial" pitchFamily="34" charset="0"/>
                          <a:ea typeface="Arial" pitchFamily="34" charset="-122"/>
                          <a:cs typeface="Arial" pitchFamily="34" charset="-120"/>
                        </a:rPr>
                        <a:t>Command</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tc>
                  <a:txBody>
                    <a:bodyPr/>
                    <a:lstStyle/>
                    <a:p>
                      <a:pPr marL="0" indent="0">
                        <a:buNone/>
                      </a:pPr>
                      <a:r>
                        <a:rPr lang="en-US" sz="1700" b="1" dirty="0">
                          <a:solidFill>
                            <a:srgbClr val="FFFFFF"/>
                          </a:solidFill>
                          <a:latin typeface="Arial" pitchFamily="34" charset="0"/>
                          <a:ea typeface="Arial" pitchFamily="34" charset="-122"/>
                          <a:cs typeface="Arial" pitchFamily="34" charset="-120"/>
                        </a:rPr>
                        <a:t>What it establishes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extLst>
                  <a:ext uri="{0D108BD9-81ED-4DB2-BD59-A6C34878D82A}">
                    <a16:rowId xmlns:a16="http://schemas.microsoft.com/office/drawing/2014/main" val="10000"/>
                  </a:ext>
                </a:extLst>
              </a:tr>
              <a:tr h="548640">
                <a:tc>
                  <a:txBody>
                    <a:bodyPr/>
                    <a:lstStyle/>
                    <a:p>
                      <a:pPr marL="0" indent="0">
                        <a:buNone/>
                      </a:pPr>
                      <a:r>
                        <a:rPr lang="en-US" sz="1700" dirty="0">
                          <a:solidFill>
                            <a:srgbClr val="183B31"/>
                          </a:solidFill>
                          <a:latin typeface="Arial" pitchFamily="34" charset="0"/>
                          <a:ea typeface="Arial" pitchFamily="34" charset="-122"/>
                          <a:cs typeface="Arial" pitchFamily="34" charset="-120"/>
                        </a:rPr>
                        <a:t>Domain + Python API</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npm test</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Root .test.mjs plus selected unittest suites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700" dirty="0">
                          <a:solidFill>
                            <a:srgbClr val="183B31"/>
                          </a:solidFill>
                          <a:latin typeface="Arial" pitchFamily="34" charset="0"/>
                          <a:ea typeface="Arial" pitchFamily="34" charset="-122"/>
                          <a:cs typeface="Arial" pitchFamily="34" charset="-120"/>
                        </a:rPr>
                        <a:t>Strict types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npm run typecheck</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TypeScript contracts and component call signatures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2"/>
                  </a:ext>
                </a:extLst>
              </a:tr>
              <a:tr h="548640">
                <a:tc>
                  <a:txBody>
                    <a:bodyPr/>
                    <a:lstStyle/>
                    <a:p>
                      <a:pPr marL="0" indent="0">
                        <a:buNone/>
                      </a:pPr>
                      <a:r>
                        <a:rPr lang="en-US" sz="1700" dirty="0">
                          <a:solidFill>
                            <a:srgbClr val="183B31"/>
                          </a:solidFill>
                          <a:latin typeface="Arial" pitchFamily="34" charset="0"/>
                          <a:ea typeface="Arial" pitchFamily="34" charset="-122"/>
                          <a:cs typeface="Arial" pitchFamily="34" charset="-120"/>
                        </a:rPr>
                        <a:t>Component / API contracts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npm run test:ui</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Vitest under jsdom</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700" dirty="0">
                          <a:solidFill>
                            <a:srgbClr val="183B31"/>
                          </a:solidFill>
                          <a:latin typeface="Arial" pitchFamily="34" charset="0"/>
                          <a:ea typeface="Arial" pitchFamily="34" charset="-122"/>
                          <a:cs typeface="Arial" pitchFamily="34" charset="-120"/>
                        </a:rPr>
                        <a:t>Production / Vite integration</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npm run test:integration</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Build, serving, save and conflicts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4"/>
                  </a:ext>
                </a:extLst>
              </a:tr>
              <a:tr h="548640">
                <a:tc>
                  <a:txBody>
                    <a:bodyPr/>
                    <a:lstStyle/>
                    <a:p>
                      <a:pPr marL="0" indent="0">
                        <a:buNone/>
                      </a:pPr>
                      <a:r>
                        <a:rPr lang="en-US" sz="1700" dirty="0">
                          <a:solidFill>
                            <a:srgbClr val="183B31"/>
                          </a:solidFill>
                          <a:latin typeface="Arial" pitchFamily="34" charset="0"/>
                          <a:ea typeface="Arial" pitchFamily="34" charset="-122"/>
                          <a:cs typeface="Arial" pitchFamily="34" charset="-120"/>
                        </a:rPr>
                        <a:t>Real browser workflows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npm run test:e2e</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Chromium navigation, input and visual behavior</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buNone/>
                      </a:pPr>
                      <a:r>
                        <a:rPr lang="en-US" sz="1700" dirty="0">
                          <a:solidFill>
                            <a:srgbClr val="183B31"/>
                          </a:solidFill>
                          <a:latin typeface="Arial" pitchFamily="34" charset="0"/>
                          <a:ea typeface="Arial" pitchFamily="34" charset="-122"/>
                          <a:cs typeface="Arial" pitchFamily="34" charset="-120"/>
                        </a:rPr>
                        <a:t>Optional real solver</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npm run test:rt</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Installed Sionna-RT backend execution</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6"/>
                  </a:ext>
                </a:extLst>
              </a:tr>
              <a:tr h="548640">
                <a:tc>
                  <a:txBody>
                    <a:bodyPr/>
                    <a:lstStyle/>
                    <a:p>
                      <a:pPr marL="0" indent="0">
                        <a:buNone/>
                      </a:pPr>
                      <a:r>
                        <a:rPr lang="en-US" sz="1700" dirty="0">
                          <a:solidFill>
                            <a:srgbClr val="183B31"/>
                          </a:solidFill>
                          <a:latin typeface="Arial" pitchFamily="34" charset="0"/>
                          <a:ea typeface="Arial" pitchFamily="34" charset="-122"/>
                          <a:cs typeface="Arial" pitchFamily="34" charset="-120"/>
                        </a:rPr>
                        <a:t>Combined local gate</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npm run check</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Tests, types, components, build and syntax</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CFA"/>
        </a:solidFill>
        <a:effectLst/>
      </p:bgPr>
    </p:bg>
    <p:spTree>
      <p:nvGrpSpPr>
        <p:cNvPr id="1" name=""/>
        <p:cNvGrpSpPr/>
        <p:nvPr/>
      </p:nvGrpSpPr>
      <p:grpSpPr>
        <a:xfrm>
          <a:off x="0" y="0"/>
          <a:ext cx="0" cy="0"/>
          <a:chOff x="0" y="0"/>
          <a:chExt cx="0" cy="0"/>
        </a:xfrm>
      </p:grpSpPr>
      <p:sp>
        <p:nvSpPr>
          <p:cNvPr id="2" name="Text 0"/>
          <p:cNvSpPr/>
          <p:nvPr/>
        </p:nvSpPr>
        <p:spPr>
          <a:xfrm>
            <a:off x="502920" y="393192"/>
            <a:ext cx="11109960" cy="768096"/>
          </a:xfrm>
          <a:prstGeom prst="rect">
            <a:avLst/>
          </a:prstGeom>
          <a:noFill/>
          <a:ln/>
        </p:spPr>
        <p:txBody>
          <a:bodyPr wrap="square" lIns="0" tIns="0" rIns="0" bIns="0" rtlCol="0" anchor="t"/>
          <a:lstStyle/>
          <a:p>
            <a:pPr marL="0" indent="0">
              <a:buNone/>
            </a:pPr>
            <a:r>
              <a:rPr lang="en-US" sz="3400" b="1" dirty="0">
                <a:solidFill>
                  <a:srgbClr val="183B31"/>
                </a:solidFill>
                <a:latin typeface="Arial" pitchFamily="34" charset="0"/>
                <a:ea typeface="Arial" pitchFamily="34" charset="-122"/>
                <a:cs typeface="Arial" pitchFamily="34" charset="-120"/>
              </a:rPr>
              <a:t>Focused validation commands</a:t>
            </a:r>
            <a:endParaRPr lang="en-US" sz="3400" dirty="0"/>
          </a:p>
        </p:txBody>
      </p:sp>
      <p:sp>
        <p:nvSpPr>
          <p:cNvPr id="3" name="Text 1"/>
          <p:cNvSpPr/>
          <p:nvPr/>
        </p:nvSpPr>
        <p:spPr>
          <a:xfrm>
            <a:off x="11265408" y="6519672"/>
            <a:ext cx="411480" cy="164592"/>
          </a:xfrm>
          <a:prstGeom prst="rect">
            <a:avLst/>
          </a:prstGeom>
          <a:noFill/>
          <a:ln/>
        </p:spPr>
        <p:txBody>
          <a:bodyPr wrap="square" lIns="0" tIns="0" rIns="0" bIns="0" rtlCol="0" anchor="t"/>
          <a:lstStyle/>
          <a:p>
            <a:pPr marL="0" indent="0" algn="r">
              <a:buNone/>
            </a:pPr>
            <a:r>
              <a:rPr lang="en-US" sz="1100" dirty="0">
                <a:solidFill>
                  <a:srgbClr val="64766B"/>
                </a:solidFill>
                <a:latin typeface="Arial" pitchFamily="34" charset="0"/>
                <a:ea typeface="Arial" pitchFamily="34" charset="-122"/>
                <a:cs typeface="Arial" pitchFamily="34" charset="-120"/>
              </a:rPr>
              <a:t>26</a:t>
            </a:r>
            <a:endParaRPr lang="en-US" sz="1100" dirty="0"/>
          </a:p>
        </p:txBody>
      </p:sp>
      <p:sp>
        <p:nvSpPr>
          <p:cNvPr id="4" name="Text 2"/>
          <p:cNvSpPr/>
          <p:nvPr/>
        </p:nvSpPr>
        <p:spPr>
          <a:xfrm>
            <a:off x="521208" y="1508760"/>
            <a:ext cx="11119104" cy="2487168"/>
          </a:xfrm>
          <a:prstGeom prst="rect">
            <a:avLst/>
          </a:prstGeom>
          <a:noFill/>
          <a:ln/>
        </p:spPr>
        <p:txBody>
          <a:bodyPr wrap="square" lIns="0" tIns="0" rIns="0" bIns="0" rtlCol="0" anchor="t"/>
          <a:lstStyle/>
          <a:p>
            <a:pPr marL="0" indent="0">
              <a:buNone/>
            </a:pPr>
            <a:r>
              <a:rPr lang="en-US" sz="2200" dirty="0">
                <a:solidFill>
                  <a:srgbClr val="087E68"/>
                </a:solidFill>
                <a:latin typeface="Arial" pitchFamily="34" charset="0"/>
                <a:ea typeface="Arial" pitchFamily="34" charset="-122"/>
                <a:cs typeface="Arial" pitchFamily="34" charset="-120"/>
              </a:rPr>
              <a:t>node --test dm-trend.test.mjs</a:t>
            </a:r>
            <a:endParaRPr lang="en-US" sz="2200" dirty="0"/>
          </a:p>
          <a:p>
            <a:pPr marL="0" indent="0">
              <a:buNone/>
            </a:pPr>
            <a:r>
              <a:rPr lang="en-US" sz="2200" dirty="0">
                <a:solidFill>
                  <a:srgbClr val="087E68"/>
                </a:solidFill>
                <a:latin typeface="Arial" pitchFamily="34" charset="0"/>
                <a:ea typeface="Arial" pitchFamily="34" charset="-122"/>
                <a:cs typeface="Arial" pitchFamily="34" charset="-120"/>
              </a:rPr>
              <a:t>npm run test:ui -- src/features/drive/DrivePreviewLeaf.test.tsx</a:t>
            </a:r>
            <a:endParaRPr lang="en-US" sz="2200" dirty="0"/>
          </a:p>
          <a:p>
            <a:pPr marL="0" indent="0">
              <a:buNone/>
            </a:pPr>
            <a:r>
              <a:rPr lang="en-US" sz="2200" dirty="0">
                <a:solidFill>
                  <a:srgbClr val="087E68"/>
                </a:solidFill>
                <a:latin typeface="Arial" pitchFamily="34" charset="0"/>
                <a:ea typeface="Arial" pitchFamily="34" charset="-122"/>
                <a:cs typeface="Arial" pitchFamily="34" charset="-120"/>
              </a:rPr>
              <a:t>npm run test:e2e -- tests/e2e/drive-kpi-trend.spec.ts</a:t>
            </a:r>
            <a:endParaRPr lang="en-US" sz="2200" dirty="0"/>
          </a:p>
        </p:txBody>
      </p:sp>
      <p:sp>
        <p:nvSpPr>
          <p:cNvPr id="5" name="Text 3"/>
          <p:cNvSpPr/>
          <p:nvPr/>
        </p:nvSpPr>
        <p:spPr>
          <a:xfrm>
            <a:off x="521208" y="4288536"/>
            <a:ext cx="5120640" cy="384048"/>
          </a:xfrm>
          <a:prstGeom prst="rect">
            <a:avLst/>
          </a:prstGeom>
          <a:noFill/>
          <a:ln/>
        </p:spPr>
        <p:txBody>
          <a:bodyPr wrap="square" lIns="0" tIns="0" rIns="0" bIns="0" rtlCol="0" anchor="t"/>
          <a:lstStyle/>
          <a:p>
            <a:pPr marL="0" indent="0">
              <a:buNone/>
            </a:pPr>
            <a:r>
              <a:rPr lang="en-US" sz="2300" b="1" dirty="0">
                <a:solidFill>
                  <a:srgbClr val="183B31"/>
                </a:solidFill>
                <a:latin typeface="Arial" pitchFamily="34" charset="0"/>
                <a:ea typeface="Arial" pitchFamily="34" charset="-122"/>
                <a:cs typeface="Arial" pitchFamily="34" charset="-120"/>
              </a:rPr>
              <a:t>Full local gate</a:t>
            </a:r>
            <a:endParaRPr lang="en-US" sz="2300" dirty="0"/>
          </a:p>
        </p:txBody>
      </p:sp>
      <p:sp>
        <p:nvSpPr>
          <p:cNvPr id="6" name="Text 4"/>
          <p:cNvSpPr/>
          <p:nvPr/>
        </p:nvSpPr>
        <p:spPr>
          <a:xfrm>
            <a:off x="521208" y="5001768"/>
            <a:ext cx="5394960" cy="411480"/>
          </a:xfrm>
          <a:prstGeom prst="rect">
            <a:avLst/>
          </a:prstGeom>
          <a:noFill/>
          <a:ln/>
        </p:spPr>
        <p:txBody>
          <a:bodyPr wrap="square" lIns="0" tIns="0" rIns="0" bIns="0" rtlCol="0" anchor="t"/>
          <a:lstStyle/>
          <a:p>
            <a:pPr marL="0" indent="0">
              <a:buNone/>
            </a:pPr>
            <a:r>
              <a:rPr lang="en-US" sz="2600" dirty="0">
                <a:solidFill>
                  <a:srgbClr val="087E68"/>
                </a:solidFill>
                <a:latin typeface="Arial" pitchFamily="34" charset="0"/>
                <a:ea typeface="Arial" pitchFamily="34" charset="-122"/>
                <a:cs typeface="Arial" pitchFamily="34" charset="-120"/>
              </a:rPr>
              <a:t>npm run check</a:t>
            </a:r>
            <a:endParaRPr lang="en-US" sz="2600" dirty="0"/>
          </a:p>
        </p:txBody>
      </p:sp>
      <p:sp>
        <p:nvSpPr>
          <p:cNvPr id="7" name="Text 5"/>
          <p:cNvSpPr/>
          <p:nvPr/>
        </p:nvSpPr>
        <p:spPr>
          <a:xfrm>
            <a:off x="6473952" y="4288536"/>
            <a:ext cx="5166360" cy="384048"/>
          </a:xfrm>
          <a:prstGeom prst="rect">
            <a:avLst/>
          </a:prstGeom>
          <a:noFill/>
          <a:ln/>
        </p:spPr>
        <p:txBody>
          <a:bodyPr wrap="square" lIns="0" tIns="0" rIns="0" bIns="0" rtlCol="0" anchor="t"/>
          <a:lstStyle/>
          <a:p>
            <a:pPr marL="0" indent="0">
              <a:buNone/>
            </a:pPr>
            <a:r>
              <a:rPr lang="en-US" sz="2300" b="1" dirty="0">
                <a:solidFill>
                  <a:srgbClr val="183B31"/>
                </a:solidFill>
                <a:latin typeface="Arial" pitchFamily="34" charset="0"/>
                <a:ea typeface="Arial" pitchFamily="34" charset="-122"/>
                <a:cs typeface="Arial" pitchFamily="34" charset="-120"/>
              </a:rPr>
              <a:t>Browser installation</a:t>
            </a:r>
            <a:endParaRPr lang="en-US" sz="2300" dirty="0"/>
          </a:p>
        </p:txBody>
      </p:sp>
      <p:sp>
        <p:nvSpPr>
          <p:cNvPr id="8" name="Text 6"/>
          <p:cNvSpPr/>
          <p:nvPr/>
        </p:nvSpPr>
        <p:spPr>
          <a:xfrm>
            <a:off x="6473952" y="5001768"/>
            <a:ext cx="5166360" cy="914400"/>
          </a:xfrm>
          <a:prstGeom prst="rect">
            <a:avLst/>
          </a:prstGeom>
          <a:noFill/>
          <a:ln/>
        </p:spPr>
        <p:txBody>
          <a:bodyPr wrap="square" lIns="0" tIns="0" rIns="0" bIns="0" rtlCol="0" anchor="t"/>
          <a:lstStyle/>
          <a:p>
            <a:pPr marL="0" indent="0">
              <a:buNone/>
            </a:pPr>
            <a:r>
              <a:rPr lang="en-US" sz="2200" dirty="0">
                <a:solidFill>
                  <a:srgbClr val="087E68"/>
                </a:solidFill>
                <a:latin typeface="Arial" pitchFamily="34" charset="0"/>
                <a:ea typeface="Arial" pitchFamily="34" charset="-122"/>
                <a:cs typeface="Arial" pitchFamily="34" charset="-120"/>
              </a:rPr>
              <a:t>npm exec --no -- playwright install chromium</a:t>
            </a:r>
            <a:endParaRPr lang="en-US" sz="2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CFA"/>
        </a:solidFill>
        <a:effectLst/>
      </p:bgPr>
    </p:bg>
    <p:spTree>
      <p:nvGrpSpPr>
        <p:cNvPr id="1" name=""/>
        <p:cNvGrpSpPr/>
        <p:nvPr/>
      </p:nvGrpSpPr>
      <p:grpSpPr>
        <a:xfrm>
          <a:off x="0" y="0"/>
          <a:ext cx="0" cy="0"/>
          <a:chOff x="0" y="0"/>
          <a:chExt cx="0" cy="0"/>
        </a:xfrm>
      </p:grpSpPr>
      <p:sp>
        <p:nvSpPr>
          <p:cNvPr id="2" name="Text 0"/>
          <p:cNvSpPr/>
          <p:nvPr/>
        </p:nvSpPr>
        <p:spPr>
          <a:xfrm>
            <a:off x="502920" y="393192"/>
            <a:ext cx="11109960" cy="768096"/>
          </a:xfrm>
          <a:prstGeom prst="rect">
            <a:avLst/>
          </a:prstGeom>
          <a:noFill/>
          <a:ln/>
        </p:spPr>
        <p:txBody>
          <a:bodyPr wrap="square" lIns="0" tIns="0" rIns="0" bIns="0" rtlCol="0" anchor="t"/>
          <a:lstStyle/>
          <a:p>
            <a:pPr marL="0" indent="0">
              <a:buNone/>
            </a:pPr>
            <a:r>
              <a:rPr lang="en-US" sz="3400" b="1" dirty="0">
                <a:solidFill>
                  <a:srgbClr val="183B31"/>
                </a:solidFill>
                <a:latin typeface="Arial" pitchFamily="34" charset="0"/>
                <a:ea typeface="Arial" pitchFamily="34" charset="-122"/>
                <a:cs typeface="Arial" pitchFamily="34" charset="-120"/>
              </a:rPr>
              <a:t>Validation snapshot: 2 October 2026</a:t>
            </a:r>
            <a:endParaRPr lang="en-US" sz="3400" dirty="0"/>
          </a:p>
        </p:txBody>
      </p:sp>
      <p:sp>
        <p:nvSpPr>
          <p:cNvPr id="3" name="Text 1"/>
          <p:cNvSpPr/>
          <p:nvPr/>
        </p:nvSpPr>
        <p:spPr>
          <a:xfrm>
            <a:off x="11265408" y="6519672"/>
            <a:ext cx="411480" cy="164592"/>
          </a:xfrm>
          <a:prstGeom prst="rect">
            <a:avLst/>
          </a:prstGeom>
          <a:noFill/>
          <a:ln/>
        </p:spPr>
        <p:txBody>
          <a:bodyPr wrap="square" lIns="0" tIns="0" rIns="0" bIns="0" rtlCol="0" anchor="t"/>
          <a:lstStyle/>
          <a:p>
            <a:pPr marL="0" indent="0" algn="r">
              <a:buNone/>
            </a:pPr>
            <a:r>
              <a:rPr lang="en-US" sz="1100" dirty="0">
                <a:solidFill>
                  <a:srgbClr val="64766B"/>
                </a:solidFill>
                <a:latin typeface="Arial" pitchFamily="34" charset="0"/>
                <a:ea typeface="Arial" pitchFamily="34" charset="-122"/>
                <a:cs typeface="Arial" pitchFamily="34" charset="-120"/>
              </a:rPr>
              <a:t>27</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21208" y="1463040"/>
          <a:ext cx="11128248" cy="4480560"/>
        </p:xfrm>
        <a:graphic>
          <a:graphicData uri="http://schemas.openxmlformats.org/drawingml/2006/table">
            <a:tbl>
              <a:tblPr/>
              <a:tblGrid>
                <a:gridCol w="2971800">
                  <a:extLst>
                    <a:ext uri="{9D8B030D-6E8A-4147-A177-3AD203B41FA5}">
                      <a16:colId xmlns:a16="http://schemas.microsoft.com/office/drawing/2014/main" val="20000"/>
                    </a:ext>
                  </a:extLst>
                </a:gridCol>
                <a:gridCol w="6035040">
                  <a:extLst>
                    <a:ext uri="{9D8B030D-6E8A-4147-A177-3AD203B41FA5}">
                      <a16:colId xmlns:a16="http://schemas.microsoft.com/office/drawing/2014/main" val="20001"/>
                    </a:ext>
                  </a:extLst>
                </a:gridCol>
                <a:gridCol w="2121408">
                  <a:extLst>
                    <a:ext uri="{9D8B030D-6E8A-4147-A177-3AD203B41FA5}">
                      <a16:colId xmlns:a16="http://schemas.microsoft.com/office/drawing/2014/main" val="20002"/>
                    </a:ext>
                  </a:extLst>
                </a:gridCol>
              </a:tblGrid>
              <a:tr h="640080">
                <a:tc>
                  <a:txBody>
                    <a:bodyPr/>
                    <a:lstStyle/>
                    <a:p>
                      <a:pPr marL="0" indent="0">
                        <a:buNone/>
                      </a:pPr>
                      <a:r>
                        <a:rPr lang="en-US" sz="1700" b="1" dirty="0">
                          <a:solidFill>
                            <a:srgbClr val="FFFFFF"/>
                          </a:solidFill>
                          <a:latin typeface="Arial" pitchFamily="34" charset="0"/>
                          <a:ea typeface="Arial" pitchFamily="34" charset="-122"/>
                          <a:cs typeface="Arial" pitchFamily="34" charset="-120"/>
                        </a:rPr>
                        <a:t>Stage</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tc>
                  <a:txBody>
                    <a:bodyPr/>
                    <a:lstStyle/>
                    <a:p>
                      <a:pPr marL="0" indent="0">
                        <a:buNone/>
                      </a:pPr>
                      <a:r>
                        <a:rPr lang="en-US" sz="1700" b="1" dirty="0">
                          <a:solidFill>
                            <a:srgbClr val="FFFFFF"/>
                          </a:solidFill>
                          <a:latin typeface="Arial" pitchFamily="34" charset="0"/>
                          <a:ea typeface="Arial" pitchFamily="34" charset="-122"/>
                          <a:cs typeface="Arial" pitchFamily="34" charset="-120"/>
                        </a:rPr>
                        <a:t>Observed result</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tc>
                  <a:txBody>
                    <a:bodyPr/>
                    <a:lstStyle/>
                    <a:p>
                      <a:pPr marL="0" indent="0">
                        <a:buNone/>
                      </a:pPr>
                      <a:r>
                        <a:rPr lang="en-US" sz="1700" b="1" dirty="0">
                          <a:solidFill>
                            <a:srgbClr val="FFFFFF"/>
                          </a:solidFill>
                          <a:latin typeface="Arial" pitchFamily="34" charset="0"/>
                          <a:ea typeface="Arial" pitchFamily="34" charset="-122"/>
                          <a:cs typeface="Arial" pitchFamily="34" charset="-120"/>
                        </a:rPr>
                        <a:t>Status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extLst>
                  <a:ext uri="{0D108BD9-81ED-4DB2-BD59-A6C34878D82A}">
                    <a16:rowId xmlns:a16="http://schemas.microsoft.com/office/drawing/2014/main" val="10000"/>
                  </a:ext>
                </a:extLst>
              </a:tr>
              <a:tr h="640080">
                <a:tc>
                  <a:txBody>
                    <a:bodyPr/>
                    <a:lstStyle/>
                    <a:p>
                      <a:pPr marL="0" indent="0">
                        <a:buNone/>
                      </a:pPr>
                      <a:r>
                        <a:rPr lang="en-US" sz="1700" dirty="0">
                          <a:solidFill>
                            <a:srgbClr val="183B31"/>
                          </a:solidFill>
                          <a:latin typeface="Arial" pitchFamily="34" charset="0"/>
                          <a:ea typeface="Arial" pitchFamily="34" charset="-122"/>
                          <a:cs typeface="Arial" pitchFamily="34" charset="-120"/>
                        </a:rPr>
                        <a:t>JavaScript domain tests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124 passed</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Passed</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buNone/>
                      </a:pPr>
                      <a:r>
                        <a:rPr lang="en-US" sz="1700" dirty="0">
                          <a:solidFill>
                            <a:srgbClr val="183B31"/>
                          </a:solidFill>
                          <a:latin typeface="Arial" pitchFamily="34" charset="0"/>
                          <a:ea typeface="Arial" pitchFamily="34" charset="-122"/>
                          <a:cs typeface="Arial" pitchFamily="34" charset="-120"/>
                        </a:rPr>
                        <a:t>Python tests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38 passed</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Passed</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2"/>
                  </a:ext>
                </a:extLst>
              </a:tr>
              <a:tr h="640080">
                <a:tc>
                  <a:txBody>
                    <a:bodyPr/>
                    <a:lstStyle/>
                    <a:p>
                      <a:pPr marL="0" indent="0">
                        <a:buNone/>
                      </a:pPr>
                      <a:r>
                        <a:rPr lang="en-US" sz="1700" dirty="0">
                          <a:solidFill>
                            <a:srgbClr val="183B31"/>
                          </a:solidFill>
                          <a:latin typeface="Arial" pitchFamily="34" charset="0"/>
                          <a:ea typeface="Arial" pitchFamily="34" charset="-122"/>
                          <a:cs typeface="Arial" pitchFamily="34" charset="-120"/>
                        </a:rPr>
                        <a:t>Strict TypeScript</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SiteInspector / RadioField signature mismatches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Failed</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0080">
                <a:tc>
                  <a:txBody>
                    <a:bodyPr/>
                    <a:lstStyle/>
                    <a:p>
                      <a:pPr marL="0" indent="0">
                        <a:buNone/>
                      </a:pPr>
                      <a:r>
                        <a:rPr lang="en-US" sz="1700" dirty="0">
                          <a:solidFill>
                            <a:srgbClr val="183B31"/>
                          </a:solidFill>
                          <a:latin typeface="Arial" pitchFamily="34" charset="0"/>
                          <a:ea typeface="Arial" pitchFamily="34" charset="-122"/>
                          <a:cs typeface="Arial" pitchFamily="34" charset="-120"/>
                        </a:rPr>
                        <a:t>Component tests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Sequential gate stopped before this stage</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Not run</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4"/>
                  </a:ext>
                </a:extLst>
              </a:tr>
              <a:tr h="640080">
                <a:tc>
                  <a:txBody>
                    <a:bodyPr/>
                    <a:lstStyle/>
                    <a:p>
                      <a:pPr marL="0" indent="0">
                        <a:buNone/>
                      </a:pPr>
                      <a:r>
                        <a:rPr lang="en-US" sz="1700" dirty="0">
                          <a:solidFill>
                            <a:srgbClr val="183B31"/>
                          </a:solidFill>
                          <a:latin typeface="Arial" pitchFamily="34" charset="0"/>
                          <a:ea typeface="Arial" pitchFamily="34" charset="-122"/>
                          <a:cs typeface="Arial" pitchFamily="34" charset="-120"/>
                        </a:rPr>
                        <a:t>Production integration / build</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Sequential gate stopped before this stage</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Not run</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40080">
                <a:tc>
                  <a:txBody>
                    <a:bodyPr/>
                    <a:lstStyle/>
                    <a:p>
                      <a:pPr marL="0" indent="0">
                        <a:buNone/>
                      </a:pPr>
                      <a:r>
                        <a:rPr lang="en-US" sz="1700" dirty="0">
                          <a:solidFill>
                            <a:srgbClr val="183B31"/>
                          </a:solidFill>
                          <a:latin typeface="Arial" pitchFamily="34" charset="0"/>
                          <a:ea typeface="Arial" pitchFamily="34" charset="-122"/>
                          <a:cs typeface="Arial" pitchFamily="34" charset="-120"/>
                        </a:rPr>
                        <a:t>Browser suite / real RT</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Separate commands, outside this validation run</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Not run</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6"/>
                  </a:ext>
                </a:extLst>
              </a:tr>
            </a:tbl>
          </a:graphicData>
        </a:graphic>
      </p:graphicFrame>
      <p:sp>
        <p:nvSpPr>
          <p:cNvPr id="5" name="Text 2"/>
          <p:cNvSpPr/>
          <p:nvPr/>
        </p:nvSpPr>
        <p:spPr>
          <a:xfrm>
            <a:off x="521208" y="6099048"/>
            <a:ext cx="11018520" cy="457200"/>
          </a:xfrm>
          <a:prstGeom prst="rect">
            <a:avLst/>
          </a:prstGeom>
          <a:noFill/>
          <a:ln/>
        </p:spPr>
        <p:txBody>
          <a:bodyPr wrap="square" lIns="0" tIns="0" rIns="0" bIns="0" rtlCol="0" anchor="t"/>
          <a:lstStyle/>
          <a:p>
            <a:pPr marL="0" indent="0">
              <a:buNone/>
            </a:pPr>
            <a:r>
              <a:rPr lang="en-US" sz="1900" dirty="0">
                <a:solidFill>
                  <a:srgbClr val="9E5A22"/>
                </a:solidFill>
                <a:latin typeface="Arial" pitchFamily="34" charset="0"/>
                <a:ea typeface="Arial" pitchFamily="34" charset="-122"/>
                <a:cs typeface="Arial" pitchFamily="34" charset="-120"/>
              </a:rPr>
              <a:t>Resolve the reported call/type mismatch and repeat the gate before treating this snapshot as ready.</a:t>
            </a:r>
            <a:endParaRPr lang="en-US" sz="1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CFA"/>
        </a:solidFill>
        <a:effectLst/>
      </p:bgPr>
    </p:bg>
    <p:spTree>
      <p:nvGrpSpPr>
        <p:cNvPr id="1" name=""/>
        <p:cNvGrpSpPr/>
        <p:nvPr/>
      </p:nvGrpSpPr>
      <p:grpSpPr>
        <a:xfrm>
          <a:off x="0" y="0"/>
          <a:ext cx="0" cy="0"/>
          <a:chOff x="0" y="0"/>
          <a:chExt cx="0" cy="0"/>
        </a:xfrm>
      </p:grpSpPr>
      <p:sp>
        <p:nvSpPr>
          <p:cNvPr id="2" name="Text 0"/>
          <p:cNvSpPr/>
          <p:nvPr/>
        </p:nvSpPr>
        <p:spPr>
          <a:xfrm>
            <a:off x="502920" y="393192"/>
            <a:ext cx="11109960" cy="768096"/>
          </a:xfrm>
          <a:prstGeom prst="rect">
            <a:avLst/>
          </a:prstGeom>
          <a:noFill/>
          <a:ln/>
        </p:spPr>
        <p:txBody>
          <a:bodyPr wrap="square" lIns="0" tIns="0" rIns="0" bIns="0" rtlCol="0" anchor="t"/>
          <a:lstStyle/>
          <a:p>
            <a:pPr marL="0" indent="0">
              <a:buNone/>
            </a:pPr>
            <a:r>
              <a:rPr lang="en-US" sz="3400" b="1" dirty="0">
                <a:solidFill>
                  <a:srgbClr val="183B31"/>
                </a:solidFill>
                <a:latin typeface="Arial" pitchFamily="34" charset="0"/>
                <a:ea typeface="Arial" pitchFamily="34" charset="-122"/>
                <a:cs typeface="Arial" pitchFamily="34" charset="-120"/>
              </a:rPr>
              <a:t>Cross-platform CI configuration</a:t>
            </a:r>
            <a:endParaRPr lang="en-US" sz="3400" dirty="0"/>
          </a:p>
        </p:txBody>
      </p:sp>
      <p:sp>
        <p:nvSpPr>
          <p:cNvPr id="3" name="Text 1"/>
          <p:cNvSpPr/>
          <p:nvPr/>
        </p:nvSpPr>
        <p:spPr>
          <a:xfrm>
            <a:off x="11265408" y="6519672"/>
            <a:ext cx="411480" cy="164592"/>
          </a:xfrm>
          <a:prstGeom prst="rect">
            <a:avLst/>
          </a:prstGeom>
          <a:noFill/>
          <a:ln/>
        </p:spPr>
        <p:txBody>
          <a:bodyPr wrap="square" lIns="0" tIns="0" rIns="0" bIns="0" rtlCol="0" anchor="t"/>
          <a:lstStyle/>
          <a:p>
            <a:pPr marL="0" indent="0" algn="r">
              <a:buNone/>
            </a:pPr>
            <a:r>
              <a:rPr lang="en-US" sz="1100" dirty="0">
                <a:solidFill>
                  <a:srgbClr val="64766B"/>
                </a:solidFill>
                <a:latin typeface="Arial" pitchFamily="34" charset="0"/>
                <a:ea typeface="Arial" pitchFamily="34" charset="-122"/>
                <a:cs typeface="Arial" pitchFamily="34" charset="-120"/>
              </a:rPr>
              <a:t>28</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21208" y="1508760"/>
          <a:ext cx="11128248" cy="4608576"/>
        </p:xfrm>
        <a:graphic>
          <a:graphicData uri="http://schemas.openxmlformats.org/drawingml/2006/table">
            <a:tbl>
              <a:tblPr/>
              <a:tblGrid>
                <a:gridCol w="3429000">
                  <a:extLst>
                    <a:ext uri="{9D8B030D-6E8A-4147-A177-3AD203B41FA5}">
                      <a16:colId xmlns:a16="http://schemas.microsoft.com/office/drawing/2014/main" val="20000"/>
                    </a:ext>
                  </a:extLst>
                </a:gridCol>
                <a:gridCol w="7699248">
                  <a:extLst>
                    <a:ext uri="{9D8B030D-6E8A-4147-A177-3AD203B41FA5}">
                      <a16:colId xmlns:a16="http://schemas.microsoft.com/office/drawing/2014/main" val="20001"/>
                    </a:ext>
                  </a:extLst>
                </a:gridCol>
              </a:tblGrid>
              <a:tr h="658368">
                <a:tc>
                  <a:txBody>
                    <a:bodyPr/>
                    <a:lstStyle/>
                    <a:p>
                      <a:pPr marL="0" indent="0">
                        <a:buNone/>
                      </a:pPr>
                      <a:r>
                        <a:rPr lang="en-US" sz="1700" b="1" dirty="0">
                          <a:solidFill>
                            <a:srgbClr val="FFFFFF"/>
                          </a:solidFill>
                          <a:latin typeface="Arial" pitchFamily="34" charset="0"/>
                          <a:ea typeface="Arial" pitchFamily="34" charset="-122"/>
                          <a:cs typeface="Arial" pitchFamily="34" charset="-120"/>
                        </a:rPr>
                        <a:t>Configuration</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tc>
                  <a:txBody>
                    <a:bodyPr/>
                    <a:lstStyle/>
                    <a:p>
                      <a:pPr marL="0" indent="0">
                        <a:buNone/>
                      </a:pPr>
                      <a:r>
                        <a:rPr lang="en-US" sz="1700" b="1" dirty="0">
                          <a:solidFill>
                            <a:srgbClr val="FFFFFF"/>
                          </a:solidFill>
                          <a:latin typeface="Arial" pitchFamily="34" charset="0"/>
                          <a:ea typeface="Arial" pitchFamily="34" charset="-122"/>
                          <a:cs typeface="Arial" pitchFamily="34" charset="-120"/>
                        </a:rPr>
                        <a:t>Current workflow</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extLst>
                  <a:ext uri="{0D108BD9-81ED-4DB2-BD59-A6C34878D82A}">
                    <a16:rowId xmlns:a16="http://schemas.microsoft.com/office/drawing/2014/main" val="10000"/>
                  </a:ext>
                </a:extLst>
              </a:tr>
              <a:tr h="658368">
                <a:tc>
                  <a:txBody>
                    <a:bodyPr/>
                    <a:lstStyle/>
                    <a:p>
                      <a:pPr marL="0" indent="0">
                        <a:buNone/>
                      </a:pPr>
                      <a:r>
                        <a:rPr lang="en-US" sz="1700" dirty="0">
                          <a:solidFill>
                            <a:srgbClr val="183B31"/>
                          </a:solidFill>
                          <a:latin typeface="Arial" pitchFamily="34" charset="0"/>
                          <a:ea typeface="Arial" pitchFamily="34" charset="-122"/>
                          <a:cs typeface="Arial" pitchFamily="34" charset="-120"/>
                        </a:rPr>
                        <a:t>Operating systems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windows-latest and ubuntu-latest</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1700" dirty="0">
                          <a:solidFill>
                            <a:srgbClr val="183B31"/>
                          </a:solidFill>
                          <a:latin typeface="Arial" pitchFamily="34" charset="0"/>
                          <a:ea typeface="Arial" pitchFamily="34" charset="-122"/>
                          <a:cs typeface="Arial" pitchFamily="34" charset="-120"/>
                        </a:rPr>
                        <a:t>Toolchain</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Node 24 and Python 3.13</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2"/>
                  </a:ext>
                </a:extLst>
              </a:tr>
              <a:tr h="658368">
                <a:tc>
                  <a:txBody>
                    <a:bodyPr/>
                    <a:lstStyle/>
                    <a:p>
                      <a:pPr marL="0" indent="0">
                        <a:buNone/>
                      </a:pPr>
                      <a:r>
                        <a:rPr lang="en-US" sz="1700" dirty="0">
                          <a:solidFill>
                            <a:srgbClr val="183B31"/>
                          </a:solidFill>
                          <a:latin typeface="Arial" pitchFamily="34" charset="0"/>
                          <a:ea typeface="Arial" pitchFamily="34" charset="-122"/>
                          <a:cs typeface="Arial" pitchFamily="34" charset="-120"/>
                        </a:rPr>
                        <a:t>Path compatibility</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Checkout directory: atlas workspace</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8368">
                <a:tc>
                  <a:txBody>
                    <a:bodyPr/>
                    <a:lstStyle/>
                    <a:p>
                      <a:pPr marL="0" indent="0">
                        <a:buNone/>
                      </a:pPr>
                      <a:r>
                        <a:rPr lang="en-US" sz="1700" dirty="0">
                          <a:solidFill>
                            <a:srgbClr val="183B31"/>
                          </a:solidFill>
                          <a:latin typeface="Arial" pitchFamily="34" charset="0"/>
                          <a:ea typeface="Arial" pitchFamily="34" charset="-122"/>
                          <a:cs typeface="Arial" pitchFamily="34" charset="-120"/>
                        </a:rPr>
                        <a:t>Install</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npm run setup</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4"/>
                  </a:ext>
                </a:extLst>
              </a:tr>
              <a:tr h="658368">
                <a:tc>
                  <a:txBody>
                    <a:bodyPr/>
                    <a:lstStyle/>
                    <a:p>
                      <a:pPr marL="0" indent="0">
                        <a:buNone/>
                      </a:pPr>
                      <a:r>
                        <a:rPr lang="en-US" sz="1700" dirty="0">
                          <a:solidFill>
                            <a:srgbClr val="183B31"/>
                          </a:solidFill>
                          <a:latin typeface="Arial" pitchFamily="34" charset="0"/>
                          <a:ea typeface="Arial" pitchFamily="34" charset="-122"/>
                          <a:cs typeface="Arial" pitchFamily="34" charset="-120"/>
                        </a:rPr>
                        <a:t>Main gate</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npm run check</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58368">
                <a:tc>
                  <a:txBody>
                    <a:bodyPr/>
                    <a:lstStyle/>
                    <a:p>
                      <a:pPr marL="0" indent="0">
                        <a:buNone/>
                      </a:pPr>
                      <a:r>
                        <a:rPr lang="en-US" sz="1700" dirty="0">
                          <a:solidFill>
                            <a:srgbClr val="183B31"/>
                          </a:solidFill>
                          <a:latin typeface="Arial" pitchFamily="34" charset="0"/>
                          <a:ea typeface="Arial" pitchFamily="34" charset="-122"/>
                          <a:cs typeface="Arial" pitchFamily="34" charset="-120"/>
                        </a:rPr>
                        <a:t>Browser gate</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Install Chromium with OS dependencies, then test:e2e</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6"/>
                  </a:ext>
                </a:extLst>
              </a:tr>
            </a:tbl>
          </a:graphicData>
        </a:graphic>
      </p:graphicFrame>
      <p:sp>
        <p:nvSpPr>
          <p:cNvPr id="5" name="Text 2"/>
          <p:cNvSpPr/>
          <p:nvPr/>
        </p:nvSpPr>
        <p:spPr>
          <a:xfrm>
            <a:off x="521208" y="6355080"/>
            <a:ext cx="11018520" cy="228600"/>
          </a:xfrm>
          <a:prstGeom prst="rect">
            <a:avLst/>
          </a:prstGeom>
          <a:noFill/>
          <a:ln/>
        </p:spPr>
        <p:txBody>
          <a:bodyPr wrap="square" lIns="0" tIns="0" rIns="0" bIns="0" rtlCol="0" anchor="t"/>
          <a:lstStyle/>
          <a:p>
            <a:pPr marL="0" indent="0">
              <a:buNone/>
            </a:pPr>
            <a:r>
              <a:rPr lang="en-US" sz="1700" dirty="0">
                <a:solidFill>
                  <a:srgbClr val="64766B"/>
                </a:solidFill>
                <a:latin typeface="Arial" pitchFamily="34" charset="0"/>
                <a:ea typeface="Arial" pitchFamily="34" charset="-122"/>
                <a:cs typeface="Arial" pitchFamily="34" charset="-120"/>
              </a:rPr>
              <a:t>These are workflow settings. Confirm the actual run result in CI for each change.</a:t>
            </a:r>
            <a:endParaRPr lang="en-US" sz="1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CFA"/>
        </a:solidFill>
        <a:effectLst/>
      </p:bgPr>
    </p:bg>
    <p:spTree>
      <p:nvGrpSpPr>
        <p:cNvPr id="1" name=""/>
        <p:cNvGrpSpPr/>
        <p:nvPr/>
      </p:nvGrpSpPr>
      <p:grpSpPr>
        <a:xfrm>
          <a:off x="0" y="0"/>
          <a:ext cx="0" cy="0"/>
          <a:chOff x="0" y="0"/>
          <a:chExt cx="0" cy="0"/>
        </a:xfrm>
      </p:grpSpPr>
      <p:sp>
        <p:nvSpPr>
          <p:cNvPr id="2" name="Text 0"/>
          <p:cNvSpPr/>
          <p:nvPr/>
        </p:nvSpPr>
        <p:spPr>
          <a:xfrm>
            <a:off x="502920" y="393192"/>
            <a:ext cx="11109960" cy="768096"/>
          </a:xfrm>
          <a:prstGeom prst="rect">
            <a:avLst/>
          </a:prstGeom>
          <a:noFill/>
          <a:ln/>
        </p:spPr>
        <p:txBody>
          <a:bodyPr wrap="square" lIns="0" tIns="0" rIns="0" bIns="0" rtlCol="0" anchor="t"/>
          <a:lstStyle/>
          <a:p>
            <a:pPr marL="0" indent="0">
              <a:buNone/>
            </a:pPr>
            <a:r>
              <a:rPr lang="en-US" sz="3400" b="1" dirty="0">
                <a:solidFill>
                  <a:srgbClr val="183B31"/>
                </a:solidFill>
                <a:latin typeface="Arial" pitchFamily="34" charset="0"/>
                <a:ea typeface="Arial" pitchFamily="34" charset="-122"/>
                <a:cs typeface="Arial" pitchFamily="34" charset="-120"/>
              </a:rPr>
              <a:t>Troubleshooting</a:t>
            </a:r>
            <a:endParaRPr lang="en-US" sz="3400" dirty="0"/>
          </a:p>
        </p:txBody>
      </p:sp>
      <p:sp>
        <p:nvSpPr>
          <p:cNvPr id="3" name="Text 1"/>
          <p:cNvSpPr/>
          <p:nvPr/>
        </p:nvSpPr>
        <p:spPr>
          <a:xfrm>
            <a:off x="11265408" y="6519672"/>
            <a:ext cx="411480" cy="164592"/>
          </a:xfrm>
          <a:prstGeom prst="rect">
            <a:avLst/>
          </a:prstGeom>
          <a:noFill/>
          <a:ln/>
        </p:spPr>
        <p:txBody>
          <a:bodyPr wrap="square" lIns="0" tIns="0" rIns="0" bIns="0" rtlCol="0" anchor="t"/>
          <a:lstStyle/>
          <a:p>
            <a:pPr marL="0" indent="0" algn="r">
              <a:buNone/>
            </a:pPr>
            <a:r>
              <a:rPr lang="en-US" sz="1100" dirty="0">
                <a:solidFill>
                  <a:srgbClr val="64766B"/>
                </a:solidFill>
                <a:latin typeface="Arial" pitchFamily="34" charset="0"/>
                <a:ea typeface="Arial" pitchFamily="34" charset="-122"/>
                <a:cs typeface="Arial" pitchFamily="34" charset="-120"/>
              </a:rPr>
              <a:t>29</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21208" y="1463040"/>
          <a:ext cx="11128248" cy="4709160"/>
        </p:xfrm>
        <a:graphic>
          <a:graphicData uri="http://schemas.openxmlformats.org/drawingml/2006/table">
            <a:tbl>
              <a:tblPr/>
              <a:tblGrid>
                <a:gridCol w="2743200">
                  <a:extLst>
                    <a:ext uri="{9D8B030D-6E8A-4147-A177-3AD203B41FA5}">
                      <a16:colId xmlns:a16="http://schemas.microsoft.com/office/drawing/2014/main" val="20000"/>
                    </a:ext>
                  </a:extLst>
                </a:gridCol>
                <a:gridCol w="4069080">
                  <a:extLst>
                    <a:ext uri="{9D8B030D-6E8A-4147-A177-3AD203B41FA5}">
                      <a16:colId xmlns:a16="http://schemas.microsoft.com/office/drawing/2014/main" val="20001"/>
                    </a:ext>
                  </a:extLst>
                </a:gridCol>
                <a:gridCol w="4315968">
                  <a:extLst>
                    <a:ext uri="{9D8B030D-6E8A-4147-A177-3AD203B41FA5}">
                      <a16:colId xmlns:a16="http://schemas.microsoft.com/office/drawing/2014/main" val="20002"/>
                    </a:ext>
                  </a:extLst>
                </a:gridCol>
              </a:tblGrid>
              <a:tr h="672737">
                <a:tc>
                  <a:txBody>
                    <a:bodyPr/>
                    <a:lstStyle/>
                    <a:p>
                      <a:pPr marL="0" indent="0">
                        <a:buNone/>
                      </a:pPr>
                      <a:r>
                        <a:rPr lang="en-US" sz="1700" b="1" dirty="0">
                          <a:solidFill>
                            <a:srgbClr val="FFFFFF"/>
                          </a:solidFill>
                          <a:latin typeface="Arial" pitchFamily="34" charset="0"/>
                          <a:ea typeface="Arial" pitchFamily="34" charset="-122"/>
                          <a:cs typeface="Arial" pitchFamily="34" charset="-120"/>
                        </a:rPr>
                        <a:t>Symptom</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tc>
                  <a:txBody>
                    <a:bodyPr/>
                    <a:lstStyle/>
                    <a:p>
                      <a:pPr marL="0" indent="0">
                        <a:buNone/>
                      </a:pPr>
                      <a:r>
                        <a:rPr lang="en-US" sz="1700" b="1" dirty="0">
                          <a:solidFill>
                            <a:srgbClr val="FFFFFF"/>
                          </a:solidFill>
                          <a:latin typeface="Arial" pitchFamily="34" charset="0"/>
                          <a:ea typeface="Arial" pitchFamily="34" charset="-122"/>
                          <a:cs typeface="Arial" pitchFamily="34" charset="-120"/>
                        </a:rPr>
                        <a:t>Check</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tc>
                  <a:txBody>
                    <a:bodyPr/>
                    <a:lstStyle/>
                    <a:p>
                      <a:pPr marL="0" indent="0">
                        <a:buNone/>
                      </a:pPr>
                      <a:r>
                        <a:rPr lang="en-US" sz="1700" b="1" dirty="0">
                          <a:solidFill>
                            <a:srgbClr val="FFFFFF"/>
                          </a:solidFill>
                          <a:latin typeface="Arial" pitchFamily="34" charset="0"/>
                          <a:ea typeface="Arial" pitchFamily="34" charset="-122"/>
                          <a:cs typeface="Arial" pitchFamily="34" charset="-120"/>
                        </a:rPr>
                        <a:t>Repair direction</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extLst>
                  <a:ext uri="{0D108BD9-81ED-4DB2-BD59-A6C34878D82A}">
                    <a16:rowId xmlns:a16="http://schemas.microsoft.com/office/drawing/2014/main" val="10000"/>
                  </a:ext>
                </a:extLst>
              </a:tr>
              <a:tr h="672737">
                <a:tc>
                  <a:txBody>
                    <a:bodyPr/>
                    <a:lstStyle/>
                    <a:p>
                      <a:pPr marL="0" indent="0">
                        <a:buNone/>
                      </a:pPr>
                      <a:r>
                        <a:rPr lang="en-US" sz="1700" dirty="0">
                          <a:solidFill>
                            <a:srgbClr val="183B31"/>
                          </a:solidFill>
                          <a:latin typeface="Arial" pitchFamily="34" charset="0"/>
                          <a:ea typeface="Arial" pitchFamily="34" charset="-122"/>
                          <a:cs typeface="Arial" pitchFamily="34" charset="-120"/>
                        </a:rPr>
                        <a:t>Connection refused</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Printed URL and server process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Start the correct server or use its selected port</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72737">
                <a:tc>
                  <a:txBody>
                    <a:bodyPr/>
                    <a:lstStyle/>
                    <a:p>
                      <a:pPr marL="0" indent="0">
                        <a:buNone/>
                      </a:pPr>
                      <a:r>
                        <a:rPr lang="en-US" sz="1700" dirty="0">
                          <a:solidFill>
                            <a:srgbClr val="183B31"/>
                          </a:solidFill>
                          <a:latin typeface="Arial" pitchFamily="34" charset="0"/>
                          <a:ea typeface="Arial" pitchFamily="34" charset="-122"/>
                          <a:cs typeface="Arial" pitchFamily="34" charset="-120"/>
                        </a:rPr>
                        <a:t>Vite API request fails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ATLAS_API_ORIGIN matches Python port</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Restart Vite with the correct local target</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2"/>
                  </a:ext>
                </a:extLst>
              </a:tr>
              <a:tr h="672737">
                <a:tc>
                  <a:txBody>
                    <a:bodyPr/>
                    <a:lstStyle/>
                    <a:p>
                      <a:pPr marL="0" indent="0">
                        <a:buNone/>
                      </a:pPr>
                      <a:r>
                        <a:rPr lang="en-US" sz="1700" dirty="0">
                          <a:solidFill>
                            <a:srgbClr val="183B31"/>
                          </a:solidFill>
                          <a:latin typeface="Arial" pitchFamily="34" charset="0"/>
                          <a:ea typeface="Arial" pitchFamily="34" charset="-122"/>
                          <a:cs typeface="Arial" pitchFamily="34" charset="-120"/>
                        </a:rPr>
                        <a:t>SQLite cannot open</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ATLAS_DB_PATH and parent directory access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Use an accessible intended database location</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72737">
                <a:tc>
                  <a:txBody>
                    <a:bodyPr/>
                    <a:lstStyle/>
                    <a:p>
                      <a:pPr marL="0" indent="0">
                        <a:buNone/>
                      </a:pPr>
                      <a:r>
                        <a:rPr lang="en-US" sz="1700" dirty="0">
                          <a:solidFill>
                            <a:srgbClr val="183B31"/>
                          </a:solidFill>
                          <a:latin typeface="Arial" pitchFamily="34" charset="0"/>
                          <a:ea typeface="Arial" pitchFamily="34" charset="-122"/>
                          <a:cs typeface="Arial" pitchFamily="34" charset="-120"/>
                        </a:rPr>
                        <a:t>Save conflict / dirty draft</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Server revision and comparison view</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Reconcile the draft through the controller</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4"/>
                  </a:ext>
                </a:extLst>
              </a:tr>
              <a:tr h="672737">
                <a:tc>
                  <a:txBody>
                    <a:bodyPr/>
                    <a:lstStyle/>
                    <a:p>
                      <a:pPr marL="0" indent="0">
                        <a:buNone/>
                      </a:pPr>
                      <a:r>
                        <a:rPr lang="en-US" sz="1700" dirty="0">
                          <a:solidFill>
                            <a:srgbClr val="183B31"/>
                          </a:solidFill>
                          <a:latin typeface="Arial" pitchFamily="34" charset="0"/>
                          <a:ea typeface="Arial" pitchFamily="34" charset="-122"/>
                          <a:cs typeface="Arial" pitchFamily="34" charset="-120"/>
                        </a:rPr>
                        <a:t>Missing native binding</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Node architecture and lockfile binding</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Install platform-specific optional dependencies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72737">
                <a:tc>
                  <a:txBody>
                    <a:bodyPr/>
                    <a:lstStyle/>
                    <a:p>
                      <a:pPr marL="0" indent="0">
                        <a:buNone/>
                      </a:pPr>
                      <a:r>
                        <a:rPr lang="en-US" sz="1700" dirty="0">
                          <a:solidFill>
                            <a:srgbClr val="183B31"/>
                          </a:solidFill>
                          <a:latin typeface="Arial" pitchFamily="34" charset="0"/>
                          <a:ea typeface="Arial" pitchFamily="34" charset="-122"/>
                          <a:cs typeface="Arial" pitchFamily="34" charset="-120"/>
                        </a:rPr>
                        <a:t>UI change absent</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Source checkout, dist build and browser cache</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Rebuild the production bundle and reload</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CFA"/>
        </a:solidFill>
        <a:effectLst/>
      </p:bgPr>
    </p:bg>
    <p:spTree>
      <p:nvGrpSpPr>
        <p:cNvPr id="1" name=""/>
        <p:cNvGrpSpPr/>
        <p:nvPr/>
      </p:nvGrpSpPr>
      <p:grpSpPr>
        <a:xfrm>
          <a:off x="0" y="0"/>
          <a:ext cx="0" cy="0"/>
          <a:chOff x="0" y="0"/>
          <a:chExt cx="0" cy="0"/>
        </a:xfrm>
      </p:grpSpPr>
      <p:sp>
        <p:nvSpPr>
          <p:cNvPr id="2" name="Text 0"/>
          <p:cNvSpPr/>
          <p:nvPr/>
        </p:nvSpPr>
        <p:spPr>
          <a:xfrm>
            <a:off x="502920" y="393192"/>
            <a:ext cx="11109960" cy="768096"/>
          </a:xfrm>
          <a:prstGeom prst="rect">
            <a:avLst/>
          </a:prstGeom>
          <a:noFill/>
          <a:ln/>
        </p:spPr>
        <p:txBody>
          <a:bodyPr wrap="square" lIns="0" tIns="0" rIns="0" bIns="0" rtlCol="0" anchor="t"/>
          <a:lstStyle/>
          <a:p>
            <a:pPr marL="0" indent="0">
              <a:buNone/>
            </a:pPr>
            <a:r>
              <a:rPr lang="en-US" sz="3400" b="1" dirty="0">
                <a:solidFill>
                  <a:srgbClr val="183B31"/>
                </a:solidFill>
                <a:latin typeface="Arial" pitchFamily="34" charset="0"/>
                <a:ea typeface="Arial" pitchFamily="34" charset="-122"/>
                <a:cs typeface="Arial" pitchFamily="34" charset="-120"/>
              </a:rPr>
              <a:t>Additional development guide</a:t>
            </a:r>
            <a:endParaRPr lang="en-US" sz="3400" dirty="0"/>
          </a:p>
        </p:txBody>
      </p:sp>
      <p:sp>
        <p:nvSpPr>
          <p:cNvPr id="3" name="Text 1"/>
          <p:cNvSpPr/>
          <p:nvPr/>
        </p:nvSpPr>
        <p:spPr>
          <a:xfrm>
            <a:off x="11265408" y="6519672"/>
            <a:ext cx="411480" cy="164592"/>
          </a:xfrm>
          <a:prstGeom prst="rect">
            <a:avLst/>
          </a:prstGeom>
          <a:noFill/>
          <a:ln/>
        </p:spPr>
        <p:txBody>
          <a:bodyPr wrap="square" lIns="0" tIns="0" rIns="0" bIns="0" rtlCol="0" anchor="t"/>
          <a:lstStyle/>
          <a:p>
            <a:pPr marL="0" indent="0" algn="r">
              <a:buNone/>
            </a:pPr>
            <a:r>
              <a:rPr lang="en-US" sz="1100" dirty="0">
                <a:solidFill>
                  <a:srgbClr val="64766B"/>
                </a:solidFill>
                <a:latin typeface="Arial" pitchFamily="34" charset="0"/>
                <a:ea typeface="Arial" pitchFamily="34" charset="-122"/>
                <a:cs typeface="Arial" pitchFamily="34" charset="-120"/>
              </a:rPr>
              <a:t>30</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21208" y="1508760"/>
          <a:ext cx="11128248" cy="4663440"/>
        </p:xfrm>
        <a:graphic>
          <a:graphicData uri="http://schemas.openxmlformats.org/drawingml/2006/table">
            <a:tbl>
              <a:tblPr/>
              <a:tblGrid>
                <a:gridCol w="4114800">
                  <a:extLst>
                    <a:ext uri="{9D8B030D-6E8A-4147-A177-3AD203B41FA5}">
                      <a16:colId xmlns:a16="http://schemas.microsoft.com/office/drawing/2014/main" val="20000"/>
                    </a:ext>
                  </a:extLst>
                </a:gridCol>
                <a:gridCol w="7013448">
                  <a:extLst>
                    <a:ext uri="{9D8B030D-6E8A-4147-A177-3AD203B41FA5}">
                      <a16:colId xmlns:a16="http://schemas.microsoft.com/office/drawing/2014/main" val="20001"/>
                    </a:ext>
                  </a:extLst>
                </a:gridCol>
              </a:tblGrid>
              <a:tr h="777240">
                <a:tc>
                  <a:txBody>
                    <a:bodyPr/>
                    <a:lstStyle/>
                    <a:p>
                      <a:pPr marL="0" indent="0">
                        <a:buNone/>
                      </a:pPr>
                      <a:r>
                        <a:rPr lang="en-US" sz="1700" b="1" dirty="0">
                          <a:solidFill>
                            <a:srgbClr val="FFFFFF"/>
                          </a:solidFill>
                          <a:latin typeface="Arial" pitchFamily="34" charset="0"/>
                          <a:ea typeface="Arial" pitchFamily="34" charset="-122"/>
                          <a:cs typeface="Arial" pitchFamily="34" charset="-120"/>
                        </a:rPr>
                        <a:t>Next development area</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tc>
                  <a:txBody>
                    <a:bodyPr/>
                    <a:lstStyle/>
                    <a:p>
                      <a:pPr marL="0" indent="0">
                        <a:buNone/>
                      </a:pPr>
                      <a:r>
                        <a:rPr lang="en-US" sz="1700" b="1" dirty="0">
                          <a:solidFill>
                            <a:srgbClr val="FFFFFF"/>
                          </a:solidFill>
                          <a:latin typeface="Arial" pitchFamily="34" charset="0"/>
                          <a:ea typeface="Arial" pitchFamily="34" charset="-122"/>
                          <a:cs typeface="Arial" pitchFamily="34" charset="-120"/>
                        </a:rPr>
                        <a:t>Required code / evidence work</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087E68"/>
                    </a:solidFill>
                  </a:tcPr>
                </a:tc>
                <a:extLst>
                  <a:ext uri="{0D108BD9-81ED-4DB2-BD59-A6C34878D82A}">
                    <a16:rowId xmlns:a16="http://schemas.microsoft.com/office/drawing/2014/main" val="10000"/>
                  </a:ext>
                </a:extLst>
              </a:tr>
              <a:tr h="777240">
                <a:tc>
                  <a:txBody>
                    <a:bodyPr/>
                    <a:lstStyle/>
                    <a:p>
                      <a:pPr marL="0" indent="0">
                        <a:buNone/>
                      </a:pPr>
                      <a:r>
                        <a:rPr lang="en-US" sz="1700" dirty="0">
                          <a:solidFill>
                            <a:srgbClr val="183B31"/>
                          </a:solidFill>
                          <a:latin typeface="Arial" pitchFamily="34" charset="0"/>
                          <a:ea typeface="Arial" pitchFamily="34" charset="-122"/>
                          <a:cs typeface="Arial" pitchFamily="34" charset="-120"/>
                        </a:rPr>
                        <a:t>Stabilize the current branch</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Resolve type errors, complete local and browser gates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700" dirty="0">
                          <a:solidFill>
                            <a:srgbClr val="183B31"/>
                          </a:solidFill>
                          <a:latin typeface="Arial" pitchFamily="34" charset="0"/>
                          <a:ea typeface="Arial" pitchFamily="34" charset="-122"/>
                          <a:cs typeface="Arial" pitchFamily="34" charset="-120"/>
                        </a:rPr>
                        <a:t>Broader radio-model support</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Represent antenna/cell settings in the solver and test captures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2"/>
                  </a:ext>
                </a:extLst>
              </a:tr>
              <a:tr h="777240">
                <a:tc>
                  <a:txBody>
                    <a:bodyPr/>
                    <a:lstStyle/>
                    <a:p>
                      <a:pPr marL="0" indent="0">
                        <a:buNone/>
                      </a:pPr>
                      <a:r>
                        <a:rPr lang="en-US" sz="1700" dirty="0">
                          <a:solidFill>
                            <a:srgbClr val="183B31"/>
                          </a:solidFill>
                          <a:latin typeface="Arial" pitchFamily="34" charset="0"/>
                          <a:ea typeface="Arial" pitchFamily="34" charset="-122"/>
                          <a:cs typeface="Arial" pitchFamily="34" charset="-120"/>
                        </a:rPr>
                        <a:t>Calibration and comparison</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Align nonsynthetic evidence and retain comparable completed runs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7240">
                <a:tc>
                  <a:txBody>
                    <a:bodyPr/>
                    <a:lstStyle/>
                    <a:p>
                      <a:pPr marL="0" indent="0">
                        <a:buNone/>
                      </a:pPr>
                      <a:r>
                        <a:rPr lang="en-US" sz="1700" dirty="0">
                          <a:solidFill>
                            <a:srgbClr val="183B31"/>
                          </a:solidFill>
                          <a:latin typeface="Arial" pitchFamily="34" charset="0"/>
                          <a:ea typeface="Arial" pitchFamily="34" charset="-122"/>
                          <a:cs typeface="Arial" pitchFamily="34" charset="-120"/>
                        </a:rPr>
                        <a:t>Connected observation</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Add authenticated adapters with timestamped source status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EDF4EF"/>
                    </a:solidFill>
                  </a:tcPr>
                </a:tc>
                <a:extLst>
                  <a:ext uri="{0D108BD9-81ED-4DB2-BD59-A6C34878D82A}">
                    <a16:rowId xmlns:a16="http://schemas.microsoft.com/office/drawing/2014/main" val="10004"/>
                  </a:ext>
                </a:extLst>
              </a:tr>
              <a:tr h="777240">
                <a:tc>
                  <a:txBody>
                    <a:bodyPr/>
                    <a:lstStyle/>
                    <a:p>
                      <a:pPr marL="0" indent="0">
                        <a:buNone/>
                      </a:pPr>
                      <a:r>
                        <a:rPr lang="en-US" sz="1700" dirty="0">
                          <a:solidFill>
                            <a:srgbClr val="183B31"/>
                          </a:solidFill>
                          <a:latin typeface="Arial" pitchFamily="34" charset="0"/>
                          <a:ea typeface="Arial" pitchFamily="34" charset="-122"/>
                          <a:cs typeface="Arial" pitchFamily="34" charset="-120"/>
                        </a:rPr>
                        <a:t>Controlled changes</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tc>
                  <a:txBody>
                    <a:bodyPr/>
                    <a:lstStyle/>
                    <a:p>
                      <a:pPr marL="0" indent="0">
                        <a:buNone/>
                      </a:pPr>
                      <a:r>
                        <a:rPr lang="en-US" sz="1700" dirty="0">
                          <a:solidFill>
                            <a:srgbClr val="183B31"/>
                          </a:solidFill>
                          <a:latin typeface="Arial" pitchFamily="34" charset="0"/>
                          <a:ea typeface="Arial" pitchFamily="34" charset="-122"/>
                          <a:cs typeface="Arial" pitchFamily="34" charset="-120"/>
                        </a:rPr>
                        <a:t>Implement a reviewed change adapter and rollback contract</a:t>
                      </a:r>
                      <a:endParaRPr lang="en-US" sz="1700" dirty="0">
                        <a:latin typeface="Arial" charset="0"/>
                        <a:ea typeface="Arial" charset="0"/>
                        <a:cs typeface="Arial" charset="0"/>
                      </a:endParaRPr>
                    </a:p>
                  </a:txBody>
                  <a:tcPr marL="63500" marR="63500" marT="38100" marB="38100">
                    <a:lnL w="6350" cap="flat" cmpd="sng" algn="ctr">
                      <a:solidFill>
                        <a:srgbClr val="D4E1D8"/>
                      </a:solidFill>
                      <a:prstDash val="solid"/>
                      <a:round/>
                      <a:headEnd type="none" w="med" len="med"/>
                      <a:tailEnd type="none" w="med" len="med"/>
                    </a:lnL>
                    <a:lnR w="6350" cap="flat" cmpd="sng" algn="ctr">
                      <a:solidFill>
                        <a:srgbClr val="D4E1D8"/>
                      </a:solidFill>
                      <a:prstDash val="solid"/>
                      <a:round/>
                      <a:headEnd type="none" w="med" len="med"/>
                      <a:tailEnd type="none" w="med" len="med"/>
                    </a:lnR>
                    <a:lnT w="6350" cap="flat" cmpd="sng" algn="ctr">
                      <a:solidFill>
                        <a:srgbClr val="D4E1D8"/>
                      </a:solidFill>
                      <a:prstDash val="solid"/>
                      <a:round/>
                      <a:headEnd type="none" w="med" len="med"/>
                      <a:tailEnd type="none" w="med" len="med"/>
                    </a:lnT>
                    <a:lnB w="6350" cap="flat" cmpd="sng" algn="ctr">
                      <a:solidFill>
                        <a:srgbClr val="D4E1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p:nvPr/>
        </p:nvSpPr>
        <p:spPr>
          <a:xfrm>
            <a:off x="521208" y="6382512"/>
            <a:ext cx="11018520" cy="237744"/>
          </a:xfrm>
          <a:prstGeom prst="rect">
            <a:avLst/>
          </a:prstGeom>
          <a:noFill/>
          <a:ln/>
        </p:spPr>
        <p:txBody>
          <a:bodyPr wrap="square" lIns="0" tIns="0" rIns="0" bIns="0" rtlCol="0" anchor="t"/>
          <a:lstStyle/>
          <a:p>
            <a:pPr marL="0" indent="0">
              <a:buNone/>
            </a:pPr>
            <a:r>
              <a:rPr lang="en-US" sz="1700" dirty="0">
                <a:solidFill>
                  <a:srgbClr val="64766B"/>
                </a:solidFill>
                <a:latin typeface="Arial" pitchFamily="34" charset="0"/>
                <a:ea typeface="Arial" pitchFamily="34" charset="-122"/>
                <a:cs typeface="Arial" pitchFamily="34" charset="-120"/>
              </a:rPr>
              <a:t>For each feature: identify its state owner, trace dependencies, preserve evidence, validate the result and refresh Graft.</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6680</Words>
  <Application>Microsoft Macintosh PowerPoint</Application>
  <PresentationFormat>Widescreen</PresentationFormat>
  <Paragraphs>602</Paragraphs>
  <Slides>30</Slides>
  <Notes>30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30</vt:i4>
      </vt:variant>
    </vt:vector>
  </HeadingPairs>
  <TitlesOfParts>
    <vt:vector size="32"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Atlas RAN Twin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Atlas RAN Twin Development Guide</dc:title>
  <dc:subject>Project architecture, code dependencies, Graft, SQLite, testing and developer environment</dc:subject>
  <dc:creator>Atlas RAN Twin development</dc:creator>
  <cp:lastModifiedBy>장원 박</cp:lastModifiedBy>
  <cp:revision>2</cp:revision>
  <dcterms:created xsi:type="dcterms:W3CDTF">2026-10-02T00:12:59Z</dcterms:created>
  <dcterms:modified xsi:type="dcterms:W3CDTF">2026-10-02T00:14:31Z</dcterms:modified>
</cp:coreProperties>
</file>